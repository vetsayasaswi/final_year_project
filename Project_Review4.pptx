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56" r:id="rId2"/>
    <p:sldId id="257" r:id="rId3"/>
    <p:sldId id="258" r:id="rId4"/>
    <p:sldId id="272" r:id="rId5"/>
    <p:sldId id="293" r:id="rId6"/>
    <p:sldId id="273" r:id="rId7"/>
    <p:sldId id="262" r:id="rId8"/>
    <p:sldId id="263" r:id="rId9"/>
    <p:sldId id="264" r:id="rId10"/>
    <p:sldId id="265" r:id="rId11"/>
    <p:sldId id="266" r:id="rId12"/>
    <p:sldId id="267" r:id="rId13"/>
    <p:sldId id="294" r:id="rId14"/>
    <p:sldId id="287" r:id="rId15"/>
    <p:sldId id="288" r:id="rId16"/>
    <p:sldId id="296" r:id="rId17"/>
    <p:sldId id="289" r:id="rId18"/>
    <p:sldId id="297" r:id="rId19"/>
    <p:sldId id="290" r:id="rId20"/>
    <p:sldId id="291" r:id="rId21"/>
    <p:sldId id="298" r:id="rId22"/>
    <p:sldId id="299" r:id="rId23"/>
    <p:sldId id="295" r:id="rId24"/>
    <p:sldId id="283" r:id="rId25"/>
    <p:sldId id="280" r:id="rId26"/>
    <p:sldId id="284" r:id="rId27"/>
    <p:sldId id="286" r:id="rId28"/>
    <p:sldId id="268" r:id="rId29"/>
    <p:sldId id="285" r:id="rId30"/>
    <p:sldId id="300" r:id="rId31"/>
    <p:sldId id="301" r:id="rId32"/>
    <p:sldId id="269" r:id="rId33"/>
    <p:sldId id="302" r:id="rId34"/>
    <p:sldId id="292" r:id="rId3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iJAmxAhNcNQYSICnzMJOkx+I4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 name="Google Shape;6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E0481B71-510C-0ADF-435A-F00FF088E1FD}"/>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88A42BD0-7412-CE90-B965-D5645809F1D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B08E79CD-92B1-C117-9CE7-B67E773B2FD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0715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39A47AA4-A57D-A8A3-C9A5-ADEB4D593B0F}"/>
            </a:ext>
          </a:extLst>
        </p:cNvPr>
        <p:cNvGrpSpPr/>
        <p:nvPr/>
      </p:nvGrpSpPr>
      <p:grpSpPr>
        <a:xfrm>
          <a:off x="0" y="0"/>
          <a:ext cx="0" cy="0"/>
          <a:chOff x="0" y="0"/>
          <a:chExt cx="0" cy="0"/>
        </a:xfrm>
      </p:grpSpPr>
      <p:sp>
        <p:nvSpPr>
          <p:cNvPr id="92" name="Google Shape;92;p4:notes">
            <a:extLst>
              <a:ext uri="{FF2B5EF4-FFF2-40B4-BE49-F238E27FC236}">
                <a16:creationId xmlns:a16="http://schemas.microsoft.com/office/drawing/2014/main" id="{7CE29A7F-127E-D42E-499B-5464D686529F}"/>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4:notes">
            <a:extLst>
              <a:ext uri="{FF2B5EF4-FFF2-40B4-BE49-F238E27FC236}">
                <a16:creationId xmlns:a16="http://schemas.microsoft.com/office/drawing/2014/main" id="{E38025CC-68FA-5D43-C5EA-B80C9A27F02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2860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dbed186ce_0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3adbed186ce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adbed186ce_0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g3adbed186ce_0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adbed186ce_0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adbed186ce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4E5808EF-DF4B-C925-171B-1794923E0466}"/>
            </a:ext>
          </a:extLst>
        </p:cNvPr>
        <p:cNvGrpSpPr/>
        <p:nvPr/>
      </p:nvGrpSpPr>
      <p:grpSpPr>
        <a:xfrm>
          <a:off x="0" y="0"/>
          <a:ext cx="0" cy="0"/>
          <a:chOff x="0" y="0"/>
          <a:chExt cx="0" cy="0"/>
        </a:xfrm>
      </p:grpSpPr>
      <p:sp>
        <p:nvSpPr>
          <p:cNvPr id="164" name="Google Shape;164;g3adbed186ce_0_21:notes">
            <a:extLst>
              <a:ext uri="{FF2B5EF4-FFF2-40B4-BE49-F238E27FC236}">
                <a16:creationId xmlns:a16="http://schemas.microsoft.com/office/drawing/2014/main" id="{56CCCF0D-0E56-6DF9-4781-1A4953B4114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g3adbed186ce_0_21:notes">
            <a:extLst>
              <a:ext uri="{FF2B5EF4-FFF2-40B4-BE49-F238E27FC236}">
                <a16:creationId xmlns:a16="http://schemas.microsoft.com/office/drawing/2014/main" id="{3947372C-C513-667E-CEE1-D1A350986F0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2423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40767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3" name="Google Shape;18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3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C00000"/>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440"/>
              </a:spcBef>
              <a:spcAft>
                <a:spcPts val="0"/>
              </a:spcAft>
              <a:buSzPts val="2200"/>
              <a:buNone/>
              <a:defRPr>
                <a:solidFill>
                  <a:srgbClr val="888888"/>
                </a:solidFill>
              </a:defRPr>
            </a:lvl1pPr>
            <a:lvl2pPr lvl="1" algn="ctr">
              <a:spcBef>
                <a:spcPts val="440"/>
              </a:spcBef>
              <a:spcAft>
                <a:spcPts val="0"/>
              </a:spcAft>
              <a:buSzPts val="2200"/>
              <a:buNone/>
              <a:defRPr>
                <a:solidFill>
                  <a:srgbClr val="888888"/>
                </a:solidFill>
              </a:defRPr>
            </a:lvl2pPr>
            <a:lvl3pPr lvl="2" algn="ctr">
              <a:spcBef>
                <a:spcPts val="440"/>
              </a:spcBef>
              <a:spcAft>
                <a:spcPts val="0"/>
              </a:spcAft>
              <a:buSzPts val="2200"/>
              <a:buNone/>
              <a:defRPr>
                <a:solidFill>
                  <a:srgbClr val="888888"/>
                </a:solidFill>
              </a:defRPr>
            </a:lvl3pPr>
            <a:lvl4pPr lvl="3" algn="ctr">
              <a:spcBef>
                <a:spcPts val="440"/>
              </a:spcBef>
              <a:spcAft>
                <a:spcPts val="0"/>
              </a:spcAft>
              <a:buSzPts val="2200"/>
              <a:buNone/>
              <a:defRPr>
                <a:solidFill>
                  <a:srgbClr val="888888"/>
                </a:solidFill>
              </a:defRPr>
            </a:lvl4pPr>
            <a:lvl5pPr lvl="4" algn="ctr">
              <a:spcBef>
                <a:spcPts val="440"/>
              </a:spcBef>
              <a:spcAft>
                <a:spcPts val="0"/>
              </a:spcAft>
              <a:buClr>
                <a:srgbClr val="888888"/>
              </a:buClr>
              <a:buSzPts val="2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34"/>
          <p:cNvSpPr txBox="1">
            <a:spLocks noGrp="1"/>
          </p:cNvSpPr>
          <p:nvPr>
            <p:ph type="dt" idx="10"/>
          </p:nvPr>
        </p:nvSpPr>
        <p:spPr>
          <a:xfrm>
            <a:off x="457200" y="6356350"/>
            <a:ext cx="9464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13/12/2025</a:t>
            </a:r>
            <a:endParaRPr/>
          </a:p>
        </p:txBody>
      </p:sp>
      <p:sp>
        <p:nvSpPr>
          <p:cNvPr id="21" name="Google Shape;21;p34"/>
          <p:cNvSpPr txBox="1">
            <a:spLocks noGrp="1"/>
          </p:cNvSpPr>
          <p:nvPr>
            <p:ph type="ftr" idx="11"/>
          </p:nvPr>
        </p:nvSpPr>
        <p:spPr>
          <a:xfrm>
            <a:off x="2627784" y="6381328"/>
            <a:ext cx="44001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SVECW | Department of Artificial Intelligence| Project Review-1</a:t>
            </a:r>
            <a:endParaRPr/>
          </a:p>
        </p:txBody>
      </p:sp>
      <p:sp>
        <p:nvSpPr>
          <p:cNvPr id="22" name="Google Shape;22;p34"/>
          <p:cNvSpPr txBox="1">
            <a:spLocks noGrp="1"/>
          </p:cNvSpPr>
          <p:nvPr>
            <p:ph type="sldNum" idx="12"/>
          </p:nvPr>
        </p:nvSpPr>
        <p:spPr>
          <a:xfrm>
            <a:off x="8172400" y="6356350"/>
            <a:ext cx="514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5"/>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5"/>
          <p:cNvSpPr txBox="1">
            <a:spLocks noGrp="1"/>
          </p:cNvSpPr>
          <p:nvPr>
            <p:ph type="body" idx="1"/>
          </p:nvPr>
        </p:nvSpPr>
        <p:spPr>
          <a:xfrm>
            <a:off x="475129" y="1037227"/>
            <a:ext cx="8229600" cy="519958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 name="Google Shape;26;p35"/>
          <p:cNvSpPr txBox="1">
            <a:spLocks noGrp="1"/>
          </p:cNvSpPr>
          <p:nvPr>
            <p:ph type="dt" idx="10"/>
          </p:nvPr>
        </p:nvSpPr>
        <p:spPr>
          <a:xfrm>
            <a:off x="457200" y="6356350"/>
            <a:ext cx="109046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13/12/2025</a:t>
            </a:r>
            <a:endParaRPr/>
          </a:p>
        </p:txBody>
      </p:sp>
      <p:sp>
        <p:nvSpPr>
          <p:cNvPr id="27" name="Google Shape;27;p35"/>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35"/>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SVECW | Department of Artificial Intelligence| Project Review-1</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36"/>
          <p:cNvSpPr txBox="1">
            <a:spLocks noGrp="1"/>
          </p:cNvSpPr>
          <p:nvPr>
            <p:ph type="dt" idx="10"/>
          </p:nvPr>
        </p:nvSpPr>
        <p:spPr>
          <a:xfrm>
            <a:off x="457200" y="6356350"/>
            <a:ext cx="946448"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13/12/2025</a:t>
            </a:r>
            <a:endParaRPr/>
          </a:p>
        </p:txBody>
      </p:sp>
      <p:sp>
        <p:nvSpPr>
          <p:cNvPr id="31" name="Google Shape;31;p36"/>
          <p:cNvSpPr txBox="1">
            <a:spLocks noGrp="1"/>
          </p:cNvSpPr>
          <p:nvPr>
            <p:ph type="sldNum" idx="12"/>
          </p:nvPr>
        </p:nvSpPr>
        <p:spPr>
          <a:xfrm>
            <a:off x="8172400" y="6356350"/>
            <a:ext cx="514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36"/>
          <p:cNvSpPr txBox="1">
            <a:spLocks noGrp="1"/>
          </p:cNvSpPr>
          <p:nvPr>
            <p:ph type="ftr" idx="11"/>
          </p:nvPr>
        </p:nvSpPr>
        <p:spPr>
          <a:xfrm>
            <a:off x="2483768" y="6356350"/>
            <a:ext cx="44001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SVECW | Department of Artificial Intelligence| Project Review-1</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37"/>
          <p:cNvSpPr txBox="1">
            <a:spLocks noGrp="1"/>
          </p:cNvSpPr>
          <p:nvPr>
            <p:ph type="title"/>
          </p:nvPr>
        </p:nvSpPr>
        <p:spPr>
          <a:xfrm>
            <a:off x="251520" y="155099"/>
            <a:ext cx="8100311" cy="490066"/>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7"/>
          <p:cNvSpPr txBox="1">
            <a:spLocks noGrp="1"/>
          </p:cNvSpPr>
          <p:nvPr>
            <p:ph type="dt" idx="10"/>
          </p:nvPr>
        </p:nvSpPr>
        <p:spPr>
          <a:xfrm>
            <a:off x="457200" y="6356350"/>
            <a:ext cx="109046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13/12/2025</a:t>
            </a:r>
            <a:endParaRPr/>
          </a:p>
        </p:txBody>
      </p:sp>
      <p:sp>
        <p:nvSpPr>
          <p:cNvPr id="36" name="Google Shape;36;p37"/>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7" name="Google Shape;37;p37"/>
          <p:cNvSpPr txBox="1">
            <a:spLocks noGrp="1"/>
          </p:cNvSpPr>
          <p:nvPr>
            <p:ph type="ftr" idx="11"/>
          </p:nvPr>
        </p:nvSpPr>
        <p:spPr>
          <a:xfrm>
            <a:off x="2371936" y="6356350"/>
            <a:ext cx="44001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SVECW | Department of Artificial Intelligence| Project Review-1</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38"/>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8"/>
          <p:cNvSpPr txBox="1">
            <a:spLocks noGrp="1"/>
          </p:cNvSpPr>
          <p:nvPr>
            <p:ph type="body" idx="1"/>
          </p:nvPr>
        </p:nvSpPr>
        <p:spPr>
          <a:xfrm>
            <a:off x="457200" y="90872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8"/>
          <p:cNvSpPr txBox="1">
            <a:spLocks noGrp="1"/>
          </p:cNvSpPr>
          <p:nvPr>
            <p:ph type="body" idx="2"/>
          </p:nvPr>
        </p:nvSpPr>
        <p:spPr>
          <a:xfrm>
            <a:off x="4648200" y="90872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2" name="Google Shape;42;p38"/>
          <p:cNvSpPr txBox="1">
            <a:spLocks noGrp="1"/>
          </p:cNvSpPr>
          <p:nvPr>
            <p:ph type="dt" idx="10"/>
          </p:nvPr>
        </p:nvSpPr>
        <p:spPr>
          <a:xfrm>
            <a:off x="457200" y="6356350"/>
            <a:ext cx="109046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13/12/2025</a:t>
            </a:r>
            <a:endParaRPr/>
          </a:p>
        </p:txBody>
      </p:sp>
      <p:sp>
        <p:nvSpPr>
          <p:cNvPr id="43" name="Google Shape;43;p38"/>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4" name="Google Shape;44;p38"/>
          <p:cNvSpPr txBox="1">
            <a:spLocks noGrp="1"/>
          </p:cNvSpPr>
          <p:nvPr>
            <p:ph type="ftr" idx="11"/>
          </p:nvPr>
        </p:nvSpPr>
        <p:spPr>
          <a:xfrm>
            <a:off x="2371936" y="6351501"/>
            <a:ext cx="44001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SVECW | Department of Artificial Intelligence| Project Review-1</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9"/>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2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9"/>
          <p:cNvSpPr txBox="1">
            <a:spLocks noGrp="1"/>
          </p:cNvSpPr>
          <p:nvPr>
            <p:ph type="body" idx="1"/>
          </p:nvPr>
        </p:nvSpPr>
        <p:spPr>
          <a:xfrm>
            <a:off x="457200" y="908720"/>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8" name="Google Shape;48;p39"/>
          <p:cNvSpPr txBox="1">
            <a:spLocks noGrp="1"/>
          </p:cNvSpPr>
          <p:nvPr>
            <p:ph type="body" idx="2"/>
          </p:nvPr>
        </p:nvSpPr>
        <p:spPr>
          <a:xfrm>
            <a:off x="457200" y="1548482"/>
            <a:ext cx="4040188" cy="4472806"/>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9" name="Google Shape;49;p39"/>
          <p:cNvSpPr txBox="1">
            <a:spLocks noGrp="1"/>
          </p:cNvSpPr>
          <p:nvPr>
            <p:ph type="body" idx="3"/>
          </p:nvPr>
        </p:nvSpPr>
        <p:spPr>
          <a:xfrm>
            <a:off x="4645025" y="908720"/>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0" name="Google Shape;50;p39"/>
          <p:cNvSpPr txBox="1">
            <a:spLocks noGrp="1"/>
          </p:cNvSpPr>
          <p:nvPr>
            <p:ph type="body" idx="4"/>
          </p:nvPr>
        </p:nvSpPr>
        <p:spPr>
          <a:xfrm>
            <a:off x="4645025" y="1548482"/>
            <a:ext cx="4041775" cy="4472806"/>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1" name="Google Shape;51;p39"/>
          <p:cNvSpPr txBox="1">
            <a:spLocks noGrp="1"/>
          </p:cNvSpPr>
          <p:nvPr>
            <p:ph type="dt" idx="10"/>
          </p:nvPr>
        </p:nvSpPr>
        <p:spPr>
          <a:xfrm>
            <a:off x="457200" y="6356350"/>
            <a:ext cx="109046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13/12/2025</a:t>
            </a:r>
            <a:endParaRPr/>
          </a:p>
        </p:txBody>
      </p:sp>
      <p:sp>
        <p:nvSpPr>
          <p:cNvPr id="52" name="Google Shape;52;p39"/>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39"/>
          <p:cNvSpPr txBox="1">
            <a:spLocks noGrp="1"/>
          </p:cNvSpPr>
          <p:nvPr>
            <p:ph type="ftr" idx="11"/>
          </p:nvPr>
        </p:nvSpPr>
        <p:spPr>
          <a:xfrm>
            <a:off x="2477294" y="6365875"/>
            <a:ext cx="44001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SVECW | Department of Artificial Intelligence| Project Review-1</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4"/>
        <p:cNvGrpSpPr/>
        <p:nvPr/>
      </p:nvGrpSpPr>
      <p:grpSpPr>
        <a:xfrm>
          <a:off x="0" y="0"/>
          <a:ext cx="0" cy="0"/>
          <a:chOff x="0" y="0"/>
          <a:chExt cx="0" cy="0"/>
        </a:xfrm>
      </p:grpSpPr>
      <p:sp>
        <p:nvSpPr>
          <p:cNvPr id="55" name="Google Shape;55;p40"/>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0"/>
          <p:cNvSpPr txBox="1">
            <a:spLocks noGrp="1"/>
          </p:cNvSpPr>
          <p:nvPr>
            <p:ph type="body" idx="1"/>
          </p:nvPr>
        </p:nvSpPr>
        <p:spPr>
          <a:xfrm rot="5400000">
            <a:off x="1990137" y="-477782"/>
            <a:ext cx="519958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7" name="Google Shape;57;p40"/>
          <p:cNvSpPr txBox="1">
            <a:spLocks noGrp="1"/>
          </p:cNvSpPr>
          <p:nvPr>
            <p:ph type="dt" idx="10"/>
          </p:nvPr>
        </p:nvSpPr>
        <p:spPr>
          <a:xfrm>
            <a:off x="457200" y="6356350"/>
            <a:ext cx="109046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13/12/2025</a:t>
            </a:r>
            <a:endParaRPr/>
          </a:p>
        </p:txBody>
      </p:sp>
      <p:sp>
        <p:nvSpPr>
          <p:cNvPr id="58" name="Google Shape;58;p40"/>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p40"/>
          <p:cNvSpPr txBox="1">
            <a:spLocks noGrp="1"/>
          </p:cNvSpPr>
          <p:nvPr>
            <p:ph type="ftr" idx="11"/>
          </p:nvPr>
        </p:nvSpPr>
        <p:spPr>
          <a:xfrm>
            <a:off x="2389865" y="6356350"/>
            <a:ext cx="44001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SVECW | Department of Artificial Intelligence| Project Review-1</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C00000"/>
              </a:buClr>
              <a:buSzPts val="2400"/>
              <a:buFont typeface="Calibri"/>
              <a:buNone/>
              <a:defRPr sz="2400" b="1" i="0" u="none" strike="noStrike" cap="none">
                <a:solidFill>
                  <a:srgbClr val="C0000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3"/>
          <p:cNvSpPr txBox="1">
            <a:spLocks noGrp="1"/>
          </p:cNvSpPr>
          <p:nvPr>
            <p:ph type="body" idx="1"/>
          </p:nvPr>
        </p:nvSpPr>
        <p:spPr>
          <a:xfrm>
            <a:off x="475129" y="1037227"/>
            <a:ext cx="8229600" cy="5199583"/>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rgbClr val="C00000"/>
              </a:buClr>
              <a:buSzPts val="2200"/>
              <a:buFont typeface="Noto Sans Symbols"/>
              <a:buChar char="❑"/>
              <a:defRPr sz="2200" b="0" i="0" u="none" strike="noStrike" cap="none">
                <a:solidFill>
                  <a:schemeClr val="dk1"/>
                </a:solidFill>
                <a:latin typeface="Calibri"/>
                <a:ea typeface="Calibri"/>
                <a:cs typeface="Calibri"/>
                <a:sym typeface="Calibri"/>
              </a:defRPr>
            </a:lvl1pPr>
            <a:lvl2pPr marL="914400" marR="0" lvl="1" indent="-368300" algn="l" rtl="0">
              <a:spcBef>
                <a:spcPts val="440"/>
              </a:spcBef>
              <a:spcAft>
                <a:spcPts val="0"/>
              </a:spcAft>
              <a:buClr>
                <a:srgbClr val="0070C0"/>
              </a:buClr>
              <a:buSzPts val="2200"/>
              <a:buFont typeface="Noto Sans Symbols"/>
              <a:buChar char="❑"/>
              <a:defRPr sz="2200" b="0" i="0" u="none" strike="noStrike" cap="none">
                <a:solidFill>
                  <a:schemeClr val="dk1"/>
                </a:solidFill>
                <a:latin typeface="Calibri"/>
                <a:ea typeface="Calibri"/>
                <a:cs typeface="Calibri"/>
                <a:sym typeface="Calibri"/>
              </a:defRPr>
            </a:lvl2pPr>
            <a:lvl3pPr marL="1371600" marR="0" lvl="2" indent="-368300" algn="l" rtl="0">
              <a:spcBef>
                <a:spcPts val="440"/>
              </a:spcBef>
              <a:spcAft>
                <a:spcPts val="0"/>
              </a:spcAft>
              <a:buClr>
                <a:srgbClr val="00B050"/>
              </a:buClr>
              <a:buSzPts val="2200"/>
              <a:buFont typeface="Noto Sans Symbols"/>
              <a:buChar char="❑"/>
              <a:defRPr sz="2200" b="0" i="0" u="none" strike="noStrike" cap="none">
                <a:solidFill>
                  <a:schemeClr val="dk1"/>
                </a:solidFill>
                <a:latin typeface="Calibri"/>
                <a:ea typeface="Calibri"/>
                <a:cs typeface="Calibri"/>
                <a:sym typeface="Calibri"/>
              </a:defRPr>
            </a:lvl3pPr>
            <a:lvl4pPr marL="1828800" marR="0" lvl="3" indent="-368300" algn="l" rtl="0">
              <a:spcBef>
                <a:spcPts val="440"/>
              </a:spcBef>
              <a:spcAft>
                <a:spcPts val="0"/>
              </a:spcAft>
              <a:buClr>
                <a:schemeClr val="accent6"/>
              </a:buClr>
              <a:buSzPts val="2200"/>
              <a:buFont typeface="Noto Sans Symbols"/>
              <a:buChar char="❑"/>
              <a:defRPr sz="2200" b="0" i="0" u="none" strike="noStrike" cap="none">
                <a:solidFill>
                  <a:schemeClr val="dk1"/>
                </a:solidFill>
                <a:latin typeface="Calibri"/>
                <a:ea typeface="Calibri"/>
                <a:cs typeface="Calibri"/>
                <a:sym typeface="Calibri"/>
              </a:defRPr>
            </a:lvl4pPr>
            <a:lvl5pPr marL="2286000" marR="0" lvl="4" indent="-368300" algn="l" rtl="0">
              <a:spcBef>
                <a:spcPts val="440"/>
              </a:spcBef>
              <a:spcAft>
                <a:spcPts val="0"/>
              </a:spcAft>
              <a:buClr>
                <a:schemeClr val="dk1"/>
              </a:buClr>
              <a:buSzPts val="2200"/>
              <a:buFont typeface="Noto Sans Symbols"/>
              <a:buChar char="❑"/>
              <a:defRPr sz="22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3"/>
          <p:cNvSpPr txBox="1">
            <a:spLocks noGrp="1"/>
          </p:cNvSpPr>
          <p:nvPr>
            <p:ph type="dt" idx="10"/>
          </p:nvPr>
        </p:nvSpPr>
        <p:spPr>
          <a:xfrm>
            <a:off x="457200" y="6356350"/>
            <a:ext cx="109046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13/12/2025</a:t>
            </a:r>
            <a:endParaRPr/>
          </a:p>
        </p:txBody>
      </p:sp>
      <p:sp>
        <p:nvSpPr>
          <p:cNvPr id="13" name="Google Shape;13;p33"/>
          <p:cNvSpPr txBox="1">
            <a:spLocks noGrp="1"/>
          </p:cNvSpPr>
          <p:nvPr>
            <p:ph type="ftr" idx="11"/>
          </p:nvPr>
        </p:nvSpPr>
        <p:spPr>
          <a:xfrm>
            <a:off x="1835696" y="6356350"/>
            <a:ext cx="511256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a:t>SVECW | Department of Artificial Intelligence| Project Review-1</a:t>
            </a:r>
            <a:endParaRPr/>
          </a:p>
        </p:txBody>
      </p:sp>
      <p:sp>
        <p:nvSpPr>
          <p:cNvPr id="14" name="Google Shape;14;p33"/>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33"/>
          <p:cNvPicPr preferRelativeResize="0"/>
          <p:nvPr/>
        </p:nvPicPr>
        <p:blipFill rotWithShape="1">
          <a:blip r:embed="rId9">
            <a:alphaModFix/>
          </a:blip>
          <a:srcRect/>
          <a:stretch/>
        </p:blipFill>
        <p:spPr>
          <a:xfrm>
            <a:off x="8395869" y="-27384"/>
            <a:ext cx="784643" cy="729144"/>
          </a:xfrm>
          <a:prstGeom prst="rect">
            <a:avLst/>
          </a:prstGeom>
          <a:noFill/>
          <a:ln>
            <a:noFill/>
          </a:ln>
        </p:spPr>
      </p:pic>
      <p:pic>
        <p:nvPicPr>
          <p:cNvPr id="16" name="Google Shape;16;p33"/>
          <p:cNvPicPr preferRelativeResize="0"/>
          <p:nvPr/>
        </p:nvPicPr>
        <p:blipFill rotWithShape="1">
          <a:blip r:embed="rId10">
            <a:alphaModFix/>
          </a:blip>
          <a:srcRect/>
          <a:stretch/>
        </p:blipFill>
        <p:spPr>
          <a:xfrm>
            <a:off x="7560" y="692696"/>
            <a:ext cx="9128880" cy="22499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ieeexplore.ieee.org/document/10341243" TargetMode="External"/><Relationship Id="rId2" Type="http://schemas.openxmlformats.org/officeDocument/2006/relationships/hyperlink" Target="https://peerj.com/articles/cs-920" TargetMode="External"/><Relationship Id="rId1" Type="http://schemas.openxmlformats.org/officeDocument/2006/relationships/slideLayout" Target="../slideLayouts/slideLayout2.xml"/><Relationship Id="rId5" Type="http://schemas.openxmlformats.org/officeDocument/2006/relationships/hyperlink" Target="https://par.nsf.gov/biblio/10392017" TargetMode="External"/><Relationship Id="rId4" Type="http://schemas.openxmlformats.org/officeDocument/2006/relationships/hyperlink" Target="https://www.sciencedirect.com/science/article/pii/S1110866524000185"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
          <p:cNvSpPr txBox="1">
            <a:spLocks noGrp="1"/>
          </p:cNvSpPr>
          <p:nvPr>
            <p:ph type="ctrTitle"/>
          </p:nvPr>
        </p:nvSpPr>
        <p:spPr>
          <a:xfrm>
            <a:off x="762000" y="1151575"/>
            <a:ext cx="7772400" cy="1586607"/>
          </a:xfrm>
          <a:prstGeom prst="rect">
            <a:avLst/>
          </a:prstGeom>
          <a:noFill/>
          <a:ln>
            <a:noFill/>
          </a:ln>
        </p:spPr>
        <p:txBody>
          <a:bodyPr spcFirstLastPara="1" wrap="square" lIns="91425" tIns="45700" rIns="91425" bIns="45700" anchor="ctr" anchorCtr="0">
            <a:normAutofit/>
          </a:bodyPr>
          <a:lstStyle/>
          <a:p>
            <a:pPr marL="136626" marR="838" lvl="0" indent="1828">
              <a:buClr>
                <a:schemeClr val="dk1"/>
              </a:buClr>
              <a:buSzPts val="1100"/>
            </a:pPr>
            <a:r>
              <a:rPr lang="en-US" sz="3200" dirty="0">
                <a:latin typeface="Times New Roman" panose="02020603050405020304" pitchFamily="18" charset="0"/>
                <a:ea typeface="Calibri" panose="020F0502020204030204" pitchFamily="34" charset="0"/>
                <a:cs typeface="Times New Roman" panose="02020603050405020304" pitchFamily="18" charset="0"/>
              </a:rPr>
              <a:t>Smart CCTV Violence Detection System</a:t>
            </a:r>
            <a:endParaRPr sz="3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7" name="Google Shape;67;p1"/>
          <p:cNvSpPr txBox="1">
            <a:spLocks noGrp="1"/>
          </p:cNvSpPr>
          <p:nvPr>
            <p:ph type="ftr" idx="11"/>
          </p:nvPr>
        </p:nvSpPr>
        <p:spPr>
          <a:xfrm>
            <a:off x="2485120" y="637089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latin typeface="Calibri" panose="020F0502020204030204" pitchFamily="34" charset="0"/>
                <a:ea typeface="Calibri" panose="020F0502020204030204" pitchFamily="34" charset="0"/>
                <a:cs typeface="Calibri" panose="020F0502020204030204" pitchFamily="34" charset="0"/>
              </a:rPr>
              <a:t>SVECW | Department of Artificial Intelligence| Project Review-4</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68" name="Google Shape;68;p1"/>
          <p:cNvSpPr txBox="1">
            <a:spLocks noGrp="1"/>
          </p:cNvSpPr>
          <p:nvPr>
            <p:ph type="sldNum" idx="12"/>
          </p:nvPr>
        </p:nvSpPr>
        <p:spPr>
          <a:xfrm>
            <a:off x="8172400" y="6356350"/>
            <a:ext cx="514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Calibri" panose="020F0502020204030204" pitchFamily="34" charset="0"/>
                <a:ea typeface="Calibri" panose="020F0502020204030204" pitchFamily="34" charset="0"/>
                <a:cs typeface="Calibri" panose="020F0502020204030204" pitchFamily="34" charset="0"/>
              </a:rPr>
              <a:t>1</a:t>
            </a:fld>
            <a:endParaRPr>
              <a:latin typeface="Calibri" panose="020F0502020204030204" pitchFamily="34" charset="0"/>
              <a:ea typeface="Calibri" panose="020F0502020204030204" pitchFamily="34" charset="0"/>
              <a:cs typeface="Calibri" panose="020F0502020204030204" pitchFamily="34" charset="0"/>
            </a:endParaRPr>
          </a:p>
        </p:txBody>
      </p:sp>
      <p:sp>
        <p:nvSpPr>
          <p:cNvPr id="69" name="Google Shape;69;p1"/>
          <p:cNvSpPr/>
          <p:nvPr/>
        </p:nvSpPr>
        <p:spPr>
          <a:xfrm>
            <a:off x="762000" y="3628814"/>
            <a:ext cx="3911819" cy="1323399"/>
          </a:xfrm>
          <a:prstGeom prst="rect">
            <a:avLst/>
          </a:prstGeom>
          <a:noFill/>
          <a:ln>
            <a:noFill/>
          </a:ln>
        </p:spPr>
        <p:txBody>
          <a:bodyPr spcFirstLastPara="1" wrap="square" lIns="91425" tIns="45700" rIns="91425" bIns="45700" anchor="t" anchorCtr="0">
            <a:spAutoFit/>
          </a:bodyPr>
          <a:lstStyle/>
          <a:p>
            <a:pPr lvl="0">
              <a:buSzPts val="1800"/>
            </a:pPr>
            <a:r>
              <a:rPr lang="en-IN" sz="2000" dirty="0">
                <a:solidFill>
                  <a:schemeClr val="dk1"/>
                </a:solidFill>
                <a:latin typeface="Calibri" panose="020F0502020204030204"/>
                <a:cs typeface="Calibri" panose="020F0502020204030204"/>
                <a:sym typeface="Calibri" panose="020F0502020204030204"/>
              </a:rPr>
              <a:t>1) </a:t>
            </a:r>
            <a:r>
              <a:rPr lang="en-IN" altLang="en-US" sz="2000" dirty="0" err="1">
                <a:solidFill>
                  <a:schemeClr val="dk1"/>
                </a:solidFill>
                <a:latin typeface="Calibri" panose="020F0502020204030204"/>
                <a:ea typeface="Calibri" panose="020F0502020204030204"/>
                <a:cs typeface="Calibri" panose="020F0502020204030204"/>
                <a:sym typeface="Calibri" panose="020F0502020204030204"/>
              </a:rPr>
              <a:t>Vayigandla</a:t>
            </a:r>
            <a:r>
              <a:rPr lang="en-IN" altLang="en-US" sz="2000" dirty="0">
                <a:solidFill>
                  <a:schemeClr val="dk1"/>
                </a:solidFill>
                <a:latin typeface="Calibri" panose="020F0502020204030204"/>
                <a:ea typeface="Calibri" panose="020F0502020204030204"/>
                <a:cs typeface="Calibri" panose="020F0502020204030204"/>
                <a:sym typeface="Calibri" panose="020F0502020204030204"/>
              </a:rPr>
              <a:t> Tulasi</a:t>
            </a:r>
            <a:r>
              <a:rPr lang="en-IN" sz="2000" dirty="0">
                <a:solidFill>
                  <a:schemeClr val="dk1"/>
                </a:solidFill>
                <a:latin typeface="Calibri" panose="020F0502020204030204"/>
                <a:cs typeface="Calibri" panose="020F0502020204030204"/>
                <a:sym typeface="Calibri" panose="020F0502020204030204"/>
              </a:rPr>
              <a:t>   -22B01A45B8</a:t>
            </a:r>
          </a:p>
          <a:p>
            <a:pPr lvl="0">
              <a:buSzPts val="1800"/>
            </a:pPr>
            <a:r>
              <a:rPr lang="en-IN" sz="2000" dirty="0">
                <a:solidFill>
                  <a:schemeClr val="dk1"/>
                </a:solidFill>
                <a:latin typeface="Calibri" panose="020F0502020204030204"/>
                <a:cs typeface="Calibri" panose="020F0502020204030204"/>
                <a:sym typeface="Calibri" panose="020F0502020204030204"/>
              </a:rPr>
              <a:t>2) </a:t>
            </a:r>
            <a:r>
              <a:rPr lang="en-IN" altLang="en-US" sz="2000" dirty="0">
                <a:solidFill>
                  <a:schemeClr val="dk1"/>
                </a:solidFill>
                <a:latin typeface="Calibri" panose="020F0502020204030204"/>
                <a:ea typeface="Calibri" panose="020F0502020204030204"/>
                <a:cs typeface="Calibri" panose="020F0502020204030204"/>
                <a:sym typeface="Calibri" panose="020F0502020204030204"/>
              </a:rPr>
              <a:t>Ravuri Yamini         </a:t>
            </a:r>
            <a:r>
              <a:rPr lang="en-IN" sz="2000" dirty="0">
                <a:solidFill>
                  <a:schemeClr val="dk1"/>
                </a:solidFill>
                <a:latin typeface="Calibri" panose="020F0502020204030204"/>
                <a:cs typeface="Calibri" panose="020F0502020204030204"/>
                <a:sym typeface="Calibri" panose="020F0502020204030204"/>
              </a:rPr>
              <a:t>- 22B01A4595</a:t>
            </a:r>
          </a:p>
          <a:p>
            <a:pPr lvl="0">
              <a:buSzPts val="1800"/>
            </a:pPr>
            <a:r>
              <a:rPr lang="en-IN" sz="2000" dirty="0">
                <a:solidFill>
                  <a:schemeClr val="dk1"/>
                </a:solidFill>
                <a:latin typeface="Calibri" panose="020F0502020204030204"/>
                <a:cs typeface="Calibri" panose="020F0502020204030204"/>
                <a:sym typeface="Calibri" panose="020F0502020204030204"/>
              </a:rPr>
              <a:t>3) </a:t>
            </a:r>
            <a:r>
              <a:rPr lang="en-IN" altLang="en-US" sz="2000" dirty="0" err="1">
                <a:solidFill>
                  <a:schemeClr val="dk1"/>
                </a:solidFill>
                <a:latin typeface="Calibri" panose="020F0502020204030204"/>
                <a:ea typeface="Calibri" panose="020F0502020204030204"/>
                <a:cs typeface="Calibri" panose="020F0502020204030204"/>
                <a:sym typeface="Calibri" panose="020F0502020204030204"/>
              </a:rPr>
              <a:t>Vetsa</a:t>
            </a:r>
            <a:r>
              <a:rPr lang="en-IN" altLang="en-US" sz="2000" dirty="0">
                <a:solidFill>
                  <a:schemeClr val="dk1"/>
                </a:solidFill>
                <a:latin typeface="Calibri" panose="020F0502020204030204"/>
                <a:ea typeface="Calibri" panose="020F0502020204030204"/>
                <a:cs typeface="Calibri" panose="020F0502020204030204"/>
                <a:sym typeface="Calibri" panose="020F0502020204030204"/>
              </a:rPr>
              <a:t> Yasaswi        </a:t>
            </a:r>
            <a:r>
              <a:rPr lang="en-IN" sz="2000" dirty="0">
                <a:solidFill>
                  <a:schemeClr val="dk1"/>
                </a:solidFill>
                <a:latin typeface="Calibri" panose="020F0502020204030204"/>
                <a:cs typeface="Calibri" panose="020F0502020204030204"/>
                <a:sym typeface="Calibri" panose="020F0502020204030204"/>
              </a:rPr>
              <a:t>- 22B01A45C3</a:t>
            </a:r>
          </a:p>
          <a:p>
            <a:pPr lvl="0">
              <a:buSzPts val="1800"/>
            </a:pPr>
            <a:r>
              <a:rPr lang="en-IN" sz="2000" dirty="0">
                <a:solidFill>
                  <a:schemeClr val="dk1"/>
                </a:solidFill>
                <a:latin typeface="Calibri" panose="020F0502020204030204"/>
                <a:cs typeface="Calibri" panose="020F0502020204030204"/>
                <a:sym typeface="Calibri" panose="020F0502020204030204"/>
              </a:rPr>
              <a:t>4) </a:t>
            </a:r>
            <a:r>
              <a:rPr lang="en-IN" altLang="en-US" sz="2000" dirty="0">
                <a:solidFill>
                  <a:schemeClr val="dk1"/>
                </a:solidFill>
                <a:latin typeface="Calibri" panose="020F0502020204030204"/>
                <a:ea typeface="Calibri" panose="020F0502020204030204"/>
                <a:cs typeface="Calibri" panose="020F0502020204030204"/>
                <a:sym typeface="Calibri" panose="020F0502020204030204"/>
              </a:rPr>
              <a:t>Sajja Tejaswini </a:t>
            </a:r>
            <a:r>
              <a:rPr lang="en-IN" sz="2000" dirty="0">
                <a:solidFill>
                  <a:schemeClr val="dk1"/>
                </a:solidFill>
                <a:latin typeface="Calibri" panose="020F0502020204030204"/>
                <a:cs typeface="Calibri" panose="020F0502020204030204"/>
                <a:sym typeface="Calibri" panose="020F0502020204030204"/>
              </a:rPr>
              <a:t>      - 22B01A45A0</a:t>
            </a:r>
          </a:p>
        </p:txBody>
      </p:sp>
      <p:sp>
        <p:nvSpPr>
          <p:cNvPr id="70" name="Google Shape;70;p1"/>
          <p:cNvSpPr/>
          <p:nvPr/>
        </p:nvSpPr>
        <p:spPr>
          <a:xfrm>
            <a:off x="4983505" y="3622046"/>
            <a:ext cx="4114800" cy="1631175"/>
          </a:xfrm>
          <a:prstGeom prst="rect">
            <a:avLst/>
          </a:prstGeom>
          <a:noFill/>
          <a:ln>
            <a:noFill/>
          </a:ln>
        </p:spPr>
        <p:txBody>
          <a:bodyPr spcFirstLastPara="1" wrap="square" lIns="91425" tIns="45700" rIns="91425" bIns="45700" anchor="t" anchorCtr="0">
            <a:spAutoFit/>
          </a:bodyPr>
          <a:lstStyle/>
          <a:p>
            <a:pPr lvl="0">
              <a:buSzPts val="1800"/>
            </a:pPr>
            <a:r>
              <a:rPr lang="en-IN" altLang="en-US" sz="2000" dirty="0" err="1">
                <a:solidFill>
                  <a:schemeClr val="dk1"/>
                </a:solidFill>
                <a:latin typeface="Calibri" panose="020F0502020204030204"/>
                <a:ea typeface="Calibri" panose="020F0502020204030204"/>
                <a:cs typeface="Calibri" panose="020F0502020204030204"/>
                <a:sym typeface="Calibri" panose="020F0502020204030204"/>
              </a:rPr>
              <a:t>Dr.G.Durga</a:t>
            </a:r>
            <a:r>
              <a:rPr lang="en-IN" altLang="en-US" sz="2000" dirty="0">
                <a:solidFill>
                  <a:schemeClr val="dk1"/>
                </a:solidFill>
                <a:latin typeface="Calibri" panose="020F0502020204030204"/>
                <a:ea typeface="Calibri" panose="020F0502020204030204"/>
                <a:cs typeface="Calibri" panose="020F0502020204030204"/>
                <a:sym typeface="Calibri" panose="020F0502020204030204"/>
              </a:rPr>
              <a:t> Prasad</a:t>
            </a:r>
            <a:endParaRPr lang="en-IN" sz="2000" dirty="0">
              <a:solidFill>
                <a:schemeClr val="dk1"/>
              </a:solidFill>
              <a:latin typeface="Calibri" panose="020F0502020204030204"/>
              <a:ea typeface="Calibri" panose="020F0502020204030204"/>
              <a:cs typeface="Calibri" panose="020F0502020204030204"/>
              <a:sym typeface="Calibri" panose="020F0502020204030204"/>
            </a:endParaRPr>
          </a:p>
          <a:p>
            <a:pPr lvl="0"/>
            <a:r>
              <a:rPr lang="en-IN" sz="2000" dirty="0">
                <a:solidFill>
                  <a:schemeClr val="dk1"/>
                </a:solidFill>
                <a:latin typeface="Calibri" panose="020F0502020204030204"/>
                <a:ea typeface="Calibri" panose="020F0502020204030204"/>
                <a:cs typeface="Calibri" panose="020F0502020204030204"/>
                <a:sym typeface="Calibri" panose="020F0502020204030204"/>
              </a:rPr>
              <a:t>Asst. Professor, </a:t>
            </a:r>
            <a:endParaRPr lang="en-IN" sz="2000" dirty="0"/>
          </a:p>
          <a:p>
            <a:pPr lvl="0"/>
            <a:r>
              <a:rPr lang="en-IN" sz="2000" dirty="0">
                <a:solidFill>
                  <a:schemeClr val="dk1"/>
                </a:solidFill>
                <a:latin typeface="Calibri" panose="020F0502020204030204"/>
                <a:ea typeface="Calibri" panose="020F0502020204030204"/>
                <a:cs typeface="Calibri" panose="020F0502020204030204"/>
                <a:sym typeface="Calibri" panose="020F0502020204030204"/>
              </a:rPr>
              <a:t>AI Department, </a:t>
            </a:r>
            <a:endParaRPr lang="en-IN" sz="2000" dirty="0"/>
          </a:p>
          <a:p>
            <a:pPr lvl="0"/>
            <a:r>
              <a:rPr lang="en-IN" sz="2000" dirty="0">
                <a:solidFill>
                  <a:schemeClr val="dk1"/>
                </a:solidFill>
                <a:latin typeface="Calibri" panose="020F0502020204030204"/>
                <a:ea typeface="Calibri" panose="020F0502020204030204"/>
                <a:cs typeface="Calibri" panose="020F0502020204030204"/>
                <a:sym typeface="Calibri" panose="020F0502020204030204"/>
              </a:rPr>
              <a:t>Shri Vishnu Engineering College for Women.</a:t>
            </a:r>
            <a:endParaRPr lang="en-IN" sz="2000" dirty="0"/>
          </a:p>
        </p:txBody>
      </p:sp>
      <p:sp>
        <p:nvSpPr>
          <p:cNvPr id="71" name="Google Shape;71;p1"/>
          <p:cNvSpPr txBox="1"/>
          <p:nvPr/>
        </p:nvSpPr>
        <p:spPr>
          <a:xfrm>
            <a:off x="4983505" y="3071834"/>
            <a:ext cx="33528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0070C0"/>
                </a:solidFill>
                <a:latin typeface="Calibri" panose="020F0502020204030204" pitchFamily="34" charset="0"/>
                <a:ea typeface="Calibri" panose="020F0502020204030204" pitchFamily="34" charset="0"/>
                <a:cs typeface="Calibri" panose="020F0502020204030204" pitchFamily="34" charset="0"/>
                <a:sym typeface="Calibri"/>
              </a:rPr>
              <a:t>Under the guidance of</a:t>
            </a:r>
            <a:endParaRPr sz="2400" dirty="0">
              <a:latin typeface="Calibri" panose="020F0502020204030204" pitchFamily="34" charset="0"/>
              <a:ea typeface="Calibri" panose="020F0502020204030204" pitchFamily="34" charset="0"/>
              <a:cs typeface="Calibri" panose="020F0502020204030204" pitchFamily="34" charset="0"/>
            </a:endParaRPr>
          </a:p>
        </p:txBody>
      </p:sp>
      <p:sp>
        <p:nvSpPr>
          <p:cNvPr id="72" name="Google Shape;72;p1"/>
          <p:cNvSpPr txBox="1"/>
          <p:nvPr/>
        </p:nvSpPr>
        <p:spPr>
          <a:xfrm>
            <a:off x="483205" y="3071834"/>
            <a:ext cx="45003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0070C0"/>
                </a:solidFill>
                <a:latin typeface="Calibri" panose="020F0502020204030204" pitchFamily="34" charset="0"/>
                <a:ea typeface="Calibri" panose="020F0502020204030204" pitchFamily="34" charset="0"/>
                <a:cs typeface="Calibri" panose="020F0502020204030204" pitchFamily="34" charset="0"/>
                <a:sym typeface="Calibri"/>
              </a:rPr>
              <a:t>Team members: (Batch No: 12)</a:t>
            </a:r>
            <a:endParaRPr sz="2400" b="1" dirty="0">
              <a:solidFill>
                <a:srgbClr val="0070C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 name="Date Placeholder 1">
            <a:extLst>
              <a:ext uri="{FF2B5EF4-FFF2-40B4-BE49-F238E27FC236}">
                <a16:creationId xmlns:a16="http://schemas.microsoft.com/office/drawing/2014/main" id="{741A29F4-D320-78BC-5A69-FDB3E163B869}"/>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2"/>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t>Motivation</a:t>
            </a:r>
            <a:endParaRPr/>
          </a:p>
        </p:txBody>
      </p:sp>
      <p:sp>
        <p:nvSpPr>
          <p:cNvPr id="78" name="Google Shape;78;p2"/>
          <p:cNvSpPr txBox="1">
            <a:spLocks noGrp="1"/>
          </p:cNvSpPr>
          <p:nvPr>
            <p:ph type="body" idx="1"/>
          </p:nvPr>
        </p:nvSpPr>
        <p:spPr>
          <a:xfrm>
            <a:off x="475129" y="1037227"/>
            <a:ext cx="8137929" cy="519958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2200"/>
              <a:buChar char="❑"/>
            </a:pPr>
            <a:r>
              <a:rPr lang="en-US" sz="2000" dirty="0">
                <a:solidFill>
                  <a:srgbClr val="C00000"/>
                </a:solidFill>
              </a:rPr>
              <a:t>What is the reason for taking up this project on the chosen topic?</a:t>
            </a:r>
          </a:p>
          <a:p>
            <a:pPr marL="0" lvl="0" indent="0" algn="just">
              <a:spcBef>
                <a:spcPts val="0"/>
              </a:spcBef>
              <a:buSzPts val="2200"/>
              <a:buNone/>
            </a:pPr>
            <a:r>
              <a:rPr lang="en-US" sz="2000" dirty="0"/>
              <a:t>Our team chose this project because monitoring multiple CCTV cameras manually is difficult and many violent incidents may go unnoticed. By using AI and deep learning, we can automatically detect violent activities in video footage and assist security personnel in identifying dangerous situations quickly.</a:t>
            </a:r>
            <a:endParaRPr sz="2000" dirty="0"/>
          </a:p>
          <a:p>
            <a:pPr marL="342900" lvl="0" indent="-342900" algn="l" rtl="0">
              <a:spcBef>
                <a:spcPts val="440"/>
              </a:spcBef>
              <a:spcAft>
                <a:spcPts val="0"/>
              </a:spcAft>
              <a:buSzPts val="2200"/>
              <a:buChar char="❑"/>
            </a:pPr>
            <a:r>
              <a:rPr lang="en-US" sz="2000" dirty="0">
                <a:solidFill>
                  <a:srgbClr val="C00000"/>
                </a:solidFill>
              </a:rPr>
              <a:t> Importance in a real-world scenario:</a:t>
            </a:r>
          </a:p>
          <a:p>
            <a:pPr marL="0" lvl="0" indent="0" algn="just">
              <a:spcBef>
                <a:spcPts val="440"/>
              </a:spcBef>
              <a:buSzPts val="2200"/>
              <a:buNone/>
            </a:pPr>
            <a:r>
              <a:rPr lang="en-US" sz="2000" dirty="0"/>
              <a:t>In public places like malls, railway stations, and campuses, security teams cannot continuously watch every camera feed. An automated violence detection system can analyze CCTV footage in real time and alert authorities when suspicious or violent activities occur, helping prevent serious incidents.</a:t>
            </a:r>
            <a:endParaRPr sz="2000" dirty="0"/>
          </a:p>
          <a:p>
            <a:pPr marL="342900" lvl="0" indent="-342900" algn="l" rtl="0">
              <a:spcBef>
                <a:spcPts val="440"/>
              </a:spcBef>
              <a:spcAft>
                <a:spcPts val="0"/>
              </a:spcAft>
              <a:buSzPts val="2200"/>
              <a:buChar char="❑"/>
            </a:pPr>
            <a:r>
              <a:rPr lang="en-US" sz="2000" dirty="0">
                <a:solidFill>
                  <a:srgbClr val="C00000"/>
                </a:solidFill>
              </a:rPr>
              <a:t>The impact of solution:</a:t>
            </a:r>
            <a:endParaRPr sz="2000" dirty="0">
              <a:solidFill>
                <a:srgbClr val="C00000"/>
              </a:solidFill>
            </a:endParaRPr>
          </a:p>
          <a:p>
            <a:pPr marL="0" lvl="0" indent="0" algn="just">
              <a:spcBef>
                <a:spcPts val="440"/>
              </a:spcBef>
              <a:buSzPts val="2200"/>
              <a:buNone/>
            </a:pPr>
            <a:r>
              <a:rPr lang="en-US" sz="2000" dirty="0"/>
              <a:t>This system can improve public safety by detecting violent events early and sending alerts to security teams. It reduces the burden on human monitoring, enables faster emergency response, and helps maintain safer environments in public spaces.</a:t>
            </a:r>
            <a:endParaRPr sz="2000" dirty="0"/>
          </a:p>
        </p:txBody>
      </p:sp>
      <p:sp>
        <p:nvSpPr>
          <p:cNvPr id="80" name="Google Shape;80;p2"/>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81" name="Google Shape;81;p2"/>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2" name="Date Placeholder 1">
            <a:extLst>
              <a:ext uri="{FF2B5EF4-FFF2-40B4-BE49-F238E27FC236}">
                <a16:creationId xmlns:a16="http://schemas.microsoft.com/office/drawing/2014/main" id="{C9EA5870-4910-6143-54DC-AFF64F10861B}"/>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3"/>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t>Objectives</a:t>
            </a:r>
            <a:endParaRPr/>
          </a:p>
        </p:txBody>
      </p:sp>
      <p:sp>
        <p:nvSpPr>
          <p:cNvPr id="87" name="Google Shape;87;p3"/>
          <p:cNvSpPr txBox="1">
            <a:spLocks noGrp="1"/>
          </p:cNvSpPr>
          <p:nvPr>
            <p:ph type="body" idx="1"/>
          </p:nvPr>
        </p:nvSpPr>
        <p:spPr>
          <a:xfrm>
            <a:off x="457200" y="898864"/>
            <a:ext cx="8229600" cy="5199583"/>
          </a:xfrm>
          <a:prstGeom prst="rect">
            <a:avLst/>
          </a:prstGeom>
          <a:noFill/>
          <a:ln>
            <a:noFill/>
          </a:ln>
        </p:spPr>
        <p:txBody>
          <a:bodyPr spcFirstLastPara="1" wrap="square" lIns="91425" tIns="45700" rIns="91425" bIns="45700" anchor="t" anchorCtr="0">
            <a:normAutofit/>
          </a:bodyPr>
          <a:lstStyle/>
          <a:p>
            <a:pPr marL="114300" indent="0">
              <a:buNone/>
            </a:pPr>
            <a:r>
              <a:rPr lang="en-US" sz="2000" b="1" dirty="0"/>
              <a:t>1</a:t>
            </a:r>
            <a:r>
              <a:rPr lang="en-US" sz="2000" b="1" dirty="0">
                <a:latin typeface="Times New Roman" panose="02020603050405020304" pitchFamily="18" charset="0"/>
                <a:cs typeface="Times New Roman" panose="02020603050405020304" pitchFamily="18" charset="0"/>
              </a:rPr>
              <a:t>. Automated Violence Detection</a:t>
            </a:r>
            <a:br>
              <a:rPr lang="en-US" sz="2000" dirty="0"/>
            </a:br>
            <a:r>
              <a:rPr lang="en-US" sz="2000" dirty="0"/>
              <a:t>Develop a deep learning model to classify video clips as violent or non-violent. This helps the system automatically identify suspicious or aggressive human actions in surveillance videos.</a:t>
            </a:r>
          </a:p>
          <a:p>
            <a:pPr marL="114300" indent="0">
              <a:buNone/>
            </a:pPr>
            <a:r>
              <a:rPr lang="en-US" sz="2000" b="1" dirty="0"/>
              <a:t>2. </a:t>
            </a:r>
            <a:r>
              <a:rPr lang="en-US" sz="2000" b="1" dirty="0">
                <a:latin typeface="Times New Roman" panose="02020603050405020304" pitchFamily="18" charset="0"/>
                <a:cs typeface="Times New Roman" panose="02020603050405020304" pitchFamily="18" charset="0"/>
              </a:rPr>
              <a:t>Real-Time Video Analysis</a:t>
            </a:r>
            <a:br>
              <a:rPr lang="en-US" sz="2000" dirty="0"/>
            </a:br>
            <a:r>
              <a:rPr lang="en-US" sz="2000" dirty="0"/>
              <a:t>Process CCTV video streams and analyze human activities continuously. This enables the system to monitor live camera feeds and detect violent events immediately.</a:t>
            </a:r>
          </a:p>
          <a:p>
            <a:pPr marL="114300" indent="0">
              <a:buNone/>
            </a:pPr>
            <a:r>
              <a:rPr lang="en-US" sz="2000" b="1" dirty="0"/>
              <a:t>3. </a:t>
            </a:r>
            <a:r>
              <a:rPr lang="en-US" sz="2000" b="1" dirty="0">
                <a:latin typeface="Times New Roman" panose="02020603050405020304" pitchFamily="18" charset="0"/>
                <a:cs typeface="Times New Roman" panose="02020603050405020304" pitchFamily="18" charset="0"/>
              </a:rPr>
              <a:t>Alert Generation System</a:t>
            </a:r>
            <a:br>
              <a:rPr lang="en-US" sz="2000" dirty="0"/>
            </a:br>
            <a:r>
              <a:rPr lang="en-US" sz="2000" dirty="0"/>
              <a:t>Send alerts to security teams when violent activity is detected. This allows security personnel to respond quickly and take necessary action to control the situation.</a:t>
            </a:r>
          </a:p>
          <a:p>
            <a:pPr marL="114300" indent="0">
              <a:buNone/>
            </a:pPr>
            <a:r>
              <a:rPr lang="en-US" sz="2000" b="1" dirty="0"/>
              <a:t>4. </a:t>
            </a:r>
            <a:r>
              <a:rPr lang="en-US" sz="2000" b="1" dirty="0">
                <a:latin typeface="Times New Roman" panose="02020603050405020304" pitchFamily="18" charset="0"/>
                <a:cs typeface="Times New Roman" panose="02020603050405020304" pitchFamily="18" charset="0"/>
              </a:rPr>
              <a:t>Efficient Surveillance System</a:t>
            </a:r>
            <a:br>
              <a:rPr lang="en-US" sz="2000" dirty="0"/>
            </a:br>
            <a:r>
              <a:rPr lang="en-US" sz="2000" dirty="0"/>
              <a:t>Design a system that can work with multiple CCTV cameras. This makes the solution scalable and suitable for large public places like malls, campuses, and railway stations.</a:t>
            </a:r>
          </a:p>
          <a:p>
            <a:pPr marL="0" lvl="0" indent="0">
              <a:spcBef>
                <a:spcPts val="440"/>
              </a:spcBef>
              <a:buSzPts val="2100"/>
              <a:buNone/>
            </a:pPr>
            <a:endParaRPr sz="2000" dirty="0"/>
          </a:p>
        </p:txBody>
      </p:sp>
      <p:sp>
        <p:nvSpPr>
          <p:cNvPr id="89" name="Google Shape;89;p3"/>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90" name="Google Shape;90;p3"/>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2" name="Date Placeholder 1">
            <a:extLst>
              <a:ext uri="{FF2B5EF4-FFF2-40B4-BE49-F238E27FC236}">
                <a16:creationId xmlns:a16="http://schemas.microsoft.com/office/drawing/2014/main" id="{3590CB2B-1D86-86E1-ECA7-07561AB434F0}"/>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5097BEB0-CE75-B774-7332-09A54ED1CBDD}"/>
            </a:ext>
          </a:extLst>
        </p:cNvPr>
        <p:cNvGrpSpPr/>
        <p:nvPr/>
      </p:nvGrpSpPr>
      <p:grpSpPr>
        <a:xfrm>
          <a:off x="0" y="0"/>
          <a:ext cx="0" cy="0"/>
          <a:chOff x="0" y="0"/>
          <a:chExt cx="0" cy="0"/>
        </a:xfrm>
      </p:grpSpPr>
      <p:sp>
        <p:nvSpPr>
          <p:cNvPr id="95" name="Google Shape;95;p4">
            <a:extLst>
              <a:ext uri="{FF2B5EF4-FFF2-40B4-BE49-F238E27FC236}">
                <a16:creationId xmlns:a16="http://schemas.microsoft.com/office/drawing/2014/main" id="{C0E2AAD6-3FC7-45F5-A5C4-FB609E4C49EB}"/>
              </a:ext>
            </a:extLst>
          </p:cNvPr>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t>Background</a:t>
            </a:r>
            <a:endParaRPr/>
          </a:p>
        </p:txBody>
      </p:sp>
      <p:sp>
        <p:nvSpPr>
          <p:cNvPr id="96" name="Google Shape;96;p4">
            <a:extLst>
              <a:ext uri="{FF2B5EF4-FFF2-40B4-BE49-F238E27FC236}">
                <a16:creationId xmlns:a16="http://schemas.microsoft.com/office/drawing/2014/main" id="{77D7807C-525E-C2BC-4B1A-D0CE66BEB8AA}"/>
              </a:ext>
            </a:extLst>
          </p:cNvPr>
          <p:cNvSpPr txBox="1">
            <a:spLocks noGrp="1"/>
          </p:cNvSpPr>
          <p:nvPr>
            <p:ph type="body" idx="1"/>
          </p:nvPr>
        </p:nvSpPr>
        <p:spPr>
          <a:xfrm>
            <a:off x="253999" y="924561"/>
            <a:ext cx="8545871" cy="5312250"/>
          </a:xfrm>
          <a:prstGeom prst="rect">
            <a:avLst/>
          </a:prstGeom>
          <a:noFill/>
          <a:ln>
            <a:noFill/>
          </a:ln>
        </p:spPr>
        <p:txBody>
          <a:bodyPr spcFirstLastPara="1" wrap="square" lIns="91425" tIns="45700" rIns="91425" bIns="45700" anchor="t" anchorCtr="0">
            <a:noAutofit/>
          </a:bodyPr>
          <a:lstStyle/>
          <a:p>
            <a:pPr marL="342900">
              <a:spcBef>
                <a:spcPts val="400"/>
              </a:spcBef>
              <a:buSzPts val="2000"/>
            </a:pPr>
            <a:r>
              <a:rPr lang="en-US" b="1" dirty="0">
                <a:latin typeface="Times New Roman" panose="02020603050405020304" pitchFamily="18" charset="0"/>
                <a:ea typeface="Calibri" panose="020F0502020204030204" pitchFamily="34" charset="0"/>
                <a:cs typeface="Times New Roman" panose="02020603050405020304" pitchFamily="18" charset="0"/>
              </a:rPr>
              <a:t>Important Concepts</a:t>
            </a:r>
          </a:p>
          <a:p>
            <a:pPr indent="-457200">
              <a:spcBef>
                <a:spcPts val="400"/>
              </a:spcBef>
              <a:buSzPts val="2000"/>
              <a:buFont typeface="+mj-lt"/>
              <a:buAutoNum type="arabicPeriod"/>
            </a:pPr>
            <a:r>
              <a:rPr lang="en-IN" sz="2000" b="1" dirty="0">
                <a:latin typeface="Times New Roman" panose="02020603050405020304" pitchFamily="18" charset="0"/>
                <a:cs typeface="Times New Roman" panose="02020603050405020304" pitchFamily="18" charset="0"/>
              </a:rPr>
              <a:t>Spatiotemporal Analysis: </a:t>
            </a:r>
            <a:r>
              <a:rPr lang="en-US" sz="2000" dirty="0"/>
              <a:t>Technique used in video understanding that analyzes both spatial information (objects in frames) and temporal information (motion across frames) to recognize actions.</a:t>
            </a:r>
          </a:p>
          <a:p>
            <a:pPr indent="-457200">
              <a:spcBef>
                <a:spcPts val="400"/>
              </a:spcBef>
              <a:buSzPts val="2000"/>
              <a:buFont typeface="+mj-lt"/>
              <a:buAutoNum type="arabicPeriod"/>
            </a:pPr>
            <a:r>
              <a:rPr lang="en-IN" sz="2000" b="1" dirty="0">
                <a:latin typeface="Times New Roman" panose="02020603050405020304" pitchFamily="18" charset="0"/>
                <a:cs typeface="Times New Roman" panose="02020603050405020304" pitchFamily="18" charset="0"/>
              </a:rPr>
              <a:t>Convolutional Neural Networks (CNN): </a:t>
            </a:r>
            <a:r>
              <a:rPr lang="en-US" sz="2000" dirty="0"/>
              <a:t>Deep learning models that automatically extract visual features such as shapes, textures, and human posture from video frames.</a:t>
            </a:r>
          </a:p>
          <a:p>
            <a:pPr indent="-457200">
              <a:spcBef>
                <a:spcPts val="400"/>
              </a:spcBef>
              <a:buSzPts val="2000"/>
              <a:buFont typeface="+mj-lt"/>
              <a:buAutoNum type="arabicPeriod"/>
            </a:pPr>
            <a:r>
              <a:rPr lang="en-IN" sz="2000" b="1" dirty="0">
                <a:latin typeface="Times New Roman" panose="02020603050405020304" pitchFamily="18" charset="0"/>
                <a:cs typeface="Times New Roman" panose="02020603050405020304" pitchFamily="18" charset="0"/>
              </a:rPr>
              <a:t>Long Short-Term Memory (LSTM): </a:t>
            </a:r>
            <a:r>
              <a:rPr lang="en-US" sz="2000" dirty="0"/>
              <a:t>A type of recurrent neural network used to capture motion patterns and temporal dependencies across consecutive video frames.</a:t>
            </a:r>
            <a:endParaRPr lang="en-US" sz="2000" b="1" dirty="0">
              <a:latin typeface="Times New Roman" panose="02020603050405020304" pitchFamily="18" charset="0"/>
              <a:ea typeface="Calibri" panose="020F0502020204030204" pitchFamily="34" charset="0"/>
              <a:cs typeface="Times New Roman" panose="02020603050405020304" pitchFamily="18" charset="0"/>
            </a:endParaRPr>
          </a:p>
          <a:p>
            <a:pPr indent="-457200">
              <a:spcBef>
                <a:spcPts val="400"/>
              </a:spcBef>
              <a:buSzPts val="2000"/>
              <a:buFont typeface="+mj-lt"/>
              <a:buAutoNum type="arabicPeriod"/>
            </a:pPr>
            <a:r>
              <a:rPr lang="en-IN" sz="2000" b="1" dirty="0">
                <a:latin typeface="Times New Roman" panose="02020603050405020304" pitchFamily="18" charset="0"/>
                <a:cs typeface="Times New Roman" panose="02020603050405020304" pitchFamily="18" charset="0"/>
              </a:rPr>
              <a:t>Person Detection: </a:t>
            </a:r>
            <a:r>
              <a:rPr lang="en-US" sz="2000" dirty="0"/>
              <a:t>Technique used to identify humans in video frames using models like YOLO, helping the system focus on human actions rather than background movements.</a:t>
            </a:r>
          </a:p>
          <a:p>
            <a:pPr indent="-457200">
              <a:spcBef>
                <a:spcPts val="400"/>
              </a:spcBef>
              <a:buSzPts val="2000"/>
              <a:buFont typeface="+mj-lt"/>
              <a:buAutoNum type="arabicPeriod"/>
            </a:pPr>
            <a:r>
              <a:rPr lang="en-US" sz="2000" b="1" dirty="0"/>
              <a:t>Real-Time Video Analytics: </a:t>
            </a:r>
            <a:r>
              <a:rPr lang="en-US" sz="2000" dirty="0"/>
              <a:t>Continuous processing of live CCTV streams to detect events instantly with minimal delay.</a:t>
            </a:r>
            <a:endParaRPr lang="en-US" sz="2000" b="1" dirty="0">
              <a:latin typeface="Times New Roman" panose="02020603050405020304" pitchFamily="18" charset="0"/>
              <a:cs typeface="Times New Roman" panose="02020603050405020304" pitchFamily="18" charset="0"/>
            </a:endParaRPr>
          </a:p>
        </p:txBody>
      </p:sp>
      <p:sp>
        <p:nvSpPr>
          <p:cNvPr id="98" name="Google Shape;98;p4">
            <a:extLst>
              <a:ext uri="{FF2B5EF4-FFF2-40B4-BE49-F238E27FC236}">
                <a16:creationId xmlns:a16="http://schemas.microsoft.com/office/drawing/2014/main" id="{39D60DE0-7DF8-C491-7CAA-90026F702758}"/>
              </a:ext>
            </a:extLst>
          </p:cNvPr>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99" name="Google Shape;99;p4">
            <a:extLst>
              <a:ext uri="{FF2B5EF4-FFF2-40B4-BE49-F238E27FC236}">
                <a16:creationId xmlns:a16="http://schemas.microsoft.com/office/drawing/2014/main" id="{03B69EA4-898C-AF0A-EAD1-ECDD505E0397}"/>
              </a:ext>
            </a:extLst>
          </p:cNvPr>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2" name="Date Placeholder 1">
            <a:extLst>
              <a:ext uri="{FF2B5EF4-FFF2-40B4-BE49-F238E27FC236}">
                <a16:creationId xmlns:a16="http://schemas.microsoft.com/office/drawing/2014/main" id="{87B02AA1-1427-59CD-5CE5-778AC1AA4EDF}"/>
              </a:ext>
            </a:extLst>
          </p:cNvPr>
          <p:cNvSpPr>
            <a:spLocks noGrp="1"/>
          </p:cNvSpPr>
          <p:nvPr>
            <p:ph type="dt" idx="10"/>
          </p:nvPr>
        </p:nvSpPr>
        <p:spPr/>
        <p:txBody>
          <a:bodyPr/>
          <a:lstStyle/>
          <a:p>
            <a:r>
              <a:rPr lang="en-US" dirty="0"/>
              <a:t>14/03/2026</a:t>
            </a:r>
            <a:endParaRPr lang="en-IN" dirty="0"/>
          </a:p>
        </p:txBody>
      </p:sp>
    </p:spTree>
    <p:extLst>
      <p:ext uri="{BB962C8B-B14F-4D97-AF65-F5344CB8AC3E}">
        <p14:creationId xmlns:p14="http://schemas.microsoft.com/office/powerpoint/2010/main" val="4210543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850A84D3-8834-0E60-1630-AA696FD26549}"/>
            </a:ext>
          </a:extLst>
        </p:cNvPr>
        <p:cNvGrpSpPr/>
        <p:nvPr/>
      </p:nvGrpSpPr>
      <p:grpSpPr>
        <a:xfrm>
          <a:off x="0" y="0"/>
          <a:ext cx="0" cy="0"/>
          <a:chOff x="0" y="0"/>
          <a:chExt cx="0" cy="0"/>
        </a:xfrm>
      </p:grpSpPr>
      <p:sp>
        <p:nvSpPr>
          <p:cNvPr id="95" name="Google Shape;95;p4">
            <a:extLst>
              <a:ext uri="{FF2B5EF4-FFF2-40B4-BE49-F238E27FC236}">
                <a16:creationId xmlns:a16="http://schemas.microsoft.com/office/drawing/2014/main" id="{A09C6B5F-96DB-F854-3493-83F8F18207D2}"/>
              </a:ext>
            </a:extLst>
          </p:cNvPr>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t>Background</a:t>
            </a:r>
            <a:endParaRPr/>
          </a:p>
        </p:txBody>
      </p:sp>
      <p:sp>
        <p:nvSpPr>
          <p:cNvPr id="96" name="Google Shape;96;p4">
            <a:extLst>
              <a:ext uri="{FF2B5EF4-FFF2-40B4-BE49-F238E27FC236}">
                <a16:creationId xmlns:a16="http://schemas.microsoft.com/office/drawing/2014/main" id="{3D10FC47-6AF0-7E4D-A203-FB4331D4AB92}"/>
              </a:ext>
            </a:extLst>
          </p:cNvPr>
          <p:cNvSpPr txBox="1">
            <a:spLocks noGrp="1"/>
          </p:cNvSpPr>
          <p:nvPr>
            <p:ph type="body" idx="1"/>
          </p:nvPr>
        </p:nvSpPr>
        <p:spPr>
          <a:xfrm>
            <a:off x="355600" y="979493"/>
            <a:ext cx="8432800" cy="5038326"/>
          </a:xfrm>
          <a:prstGeom prst="rect">
            <a:avLst/>
          </a:prstGeom>
          <a:noFill/>
          <a:ln>
            <a:noFill/>
          </a:ln>
        </p:spPr>
        <p:txBody>
          <a:bodyPr spcFirstLastPara="1" wrap="square" lIns="91425" tIns="45700" rIns="91425" bIns="45700" anchor="t" anchorCtr="0">
            <a:noAutofit/>
          </a:bodyPr>
          <a:lstStyle/>
          <a:p>
            <a:pPr marL="342900" algn="just">
              <a:spcBef>
                <a:spcPts val="400"/>
              </a:spcBef>
              <a:buSzPts val="2000"/>
            </a:pPr>
            <a:r>
              <a:rPr lang="en-IN" b="1" dirty="0">
                <a:latin typeface="Times New Roman" panose="02020603050405020304" pitchFamily="18" charset="0"/>
                <a:cs typeface="Times New Roman" panose="02020603050405020304" pitchFamily="18" charset="0"/>
              </a:rPr>
              <a:t>Definitions and Explanations</a:t>
            </a:r>
            <a:r>
              <a:rPr lang="en-US" b="1" dirty="0">
                <a:latin typeface="Times New Roman" panose="02020603050405020304" pitchFamily="18" charset="0"/>
                <a:ea typeface="Calibri" panose="020F0502020204030204" pitchFamily="34" charset="0"/>
                <a:cs typeface="Times New Roman" panose="02020603050405020304" pitchFamily="18" charset="0"/>
              </a:rPr>
              <a:t> </a:t>
            </a:r>
          </a:p>
          <a:p>
            <a:pPr marL="342900" algn="just">
              <a:spcBef>
                <a:spcPts val="400"/>
              </a:spcBef>
              <a:buSzPts val="2000"/>
              <a:buFont typeface="Arial" panose="020B0604020202020204" pitchFamily="34" charset="0"/>
              <a:buChar char="•"/>
            </a:pPr>
            <a:r>
              <a:rPr lang="en-US" sz="1950" b="1" dirty="0">
                <a:latin typeface="Calibri" panose="020F0502020204030204" pitchFamily="34" charset="0"/>
                <a:ea typeface="Calibri" panose="020F0502020204030204" pitchFamily="34" charset="0"/>
                <a:cs typeface="Calibri" panose="020F0502020204030204" pitchFamily="34" charset="0"/>
              </a:rPr>
              <a:t> </a:t>
            </a:r>
            <a:r>
              <a:rPr lang="en-IN" sz="2000" b="1" dirty="0">
                <a:latin typeface="Times New Roman" panose="02020603050405020304" pitchFamily="18" charset="0"/>
                <a:cs typeface="Times New Roman" panose="02020603050405020304" pitchFamily="18" charset="0"/>
              </a:rPr>
              <a:t>Frame Extraction: </a:t>
            </a:r>
            <a:r>
              <a:rPr lang="en-US" sz="2000" dirty="0"/>
              <a:t>The process of converting video streams into individual image frames so that deep learning models can analyze them.</a:t>
            </a:r>
            <a:endParaRPr lang="en-US" sz="2000" b="1" dirty="0">
              <a:latin typeface="Times New Roman" panose="02020603050405020304" pitchFamily="18" charset="0"/>
              <a:ea typeface="Calibri" panose="020F0502020204030204" pitchFamily="34" charset="0"/>
              <a:cs typeface="Times New Roman" panose="02020603050405020304" pitchFamily="18" charset="0"/>
            </a:endParaRPr>
          </a:p>
          <a:p>
            <a:pPr marL="342900" algn="just">
              <a:spcBef>
                <a:spcPts val="400"/>
              </a:spcBef>
              <a:buSzPts val="20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Violence Detection:</a:t>
            </a:r>
            <a:r>
              <a:rPr lang="en-US" sz="2000" b="1"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t>The process of automatically identifying violent activities such as fights or physical aggression in surveillance videos.</a:t>
            </a:r>
          </a:p>
          <a:p>
            <a:pPr marL="342900" algn="just">
              <a:spcBef>
                <a:spcPts val="400"/>
              </a:spcBef>
              <a:buSzPts val="20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Temporal </a:t>
            </a:r>
            <a:r>
              <a:rPr lang="en-IN" sz="2000" b="1" dirty="0" err="1">
                <a:latin typeface="Times New Roman" panose="02020603050405020304" pitchFamily="18" charset="0"/>
                <a:cs typeface="Times New Roman" panose="02020603050405020304" pitchFamily="18" charset="0"/>
              </a:rPr>
              <a:t>Modeling</a:t>
            </a:r>
            <a:r>
              <a:rPr lang="en-IN" sz="2000" b="1" dirty="0">
                <a:latin typeface="Times New Roman" panose="02020603050405020304" pitchFamily="18" charset="0"/>
                <a:cs typeface="Times New Roman" panose="02020603050405020304" pitchFamily="18" charset="0"/>
              </a:rPr>
              <a:t>:</a:t>
            </a:r>
            <a:r>
              <a:rPr lang="en-US" sz="2000" dirty="0"/>
              <a:t>Learning motion patterns across multiple frames to understand actions that occur over time.</a:t>
            </a:r>
          </a:p>
          <a:p>
            <a:pPr marL="342900" algn="just">
              <a:spcBef>
                <a:spcPts val="400"/>
              </a:spcBef>
              <a:buSzPts val="20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Alert Generation System: </a:t>
            </a:r>
            <a:r>
              <a:rPr lang="en-US" sz="2000" dirty="0"/>
              <a:t>A mechanism that automatically sends notifications when violent activity is detected in the video stream.</a:t>
            </a:r>
          </a:p>
          <a:p>
            <a:r>
              <a:rPr lang="en-US" sz="2000" b="1" dirty="0">
                <a:latin typeface="Times New Roman" panose="02020603050405020304" pitchFamily="18" charset="0"/>
                <a:cs typeface="Times New Roman" panose="02020603050405020304" pitchFamily="18" charset="0"/>
              </a:rPr>
              <a:t>Keywords</a:t>
            </a:r>
          </a:p>
          <a:p>
            <a:pPr>
              <a:buFont typeface="Arial" panose="020B0604020202020204" pitchFamily="34" charset="0"/>
              <a:buChar char="•"/>
            </a:pPr>
            <a:r>
              <a:rPr lang="en-US" sz="2000" dirty="0"/>
              <a:t>Smart Surveillance, Deep Learning, CNN-LSTM Architecture, Video Action Recognition, Real-Time Violence Detection</a:t>
            </a:r>
          </a:p>
          <a:p>
            <a:pPr marL="0" indent="0" algn="just">
              <a:spcBef>
                <a:spcPts val="400"/>
              </a:spcBef>
              <a:buSzPts val="2000"/>
              <a:buNone/>
            </a:pPr>
            <a:endParaRPr lang="en-IN" sz="2000" b="1" dirty="0">
              <a:latin typeface="Times New Roman" panose="02020603050405020304" pitchFamily="18" charset="0"/>
              <a:cs typeface="Times New Roman" panose="02020603050405020304" pitchFamily="18" charset="0"/>
            </a:endParaRPr>
          </a:p>
        </p:txBody>
      </p:sp>
      <p:sp>
        <p:nvSpPr>
          <p:cNvPr id="98" name="Google Shape;98;p4">
            <a:extLst>
              <a:ext uri="{FF2B5EF4-FFF2-40B4-BE49-F238E27FC236}">
                <a16:creationId xmlns:a16="http://schemas.microsoft.com/office/drawing/2014/main" id="{13956AB0-C62F-2265-0D69-0AE6E889932A}"/>
              </a:ext>
            </a:extLst>
          </p:cNvPr>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99" name="Google Shape;99;p4">
            <a:extLst>
              <a:ext uri="{FF2B5EF4-FFF2-40B4-BE49-F238E27FC236}">
                <a16:creationId xmlns:a16="http://schemas.microsoft.com/office/drawing/2014/main" id="{98EA81E5-E485-9A46-EACB-183A0D296DB8}"/>
              </a:ext>
            </a:extLst>
          </p:cNvPr>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2" name="Date Placeholder 1">
            <a:extLst>
              <a:ext uri="{FF2B5EF4-FFF2-40B4-BE49-F238E27FC236}">
                <a16:creationId xmlns:a16="http://schemas.microsoft.com/office/drawing/2014/main" id="{BF0FD8CF-7410-044E-BAD5-D10DD5C3E841}"/>
              </a:ext>
            </a:extLst>
          </p:cNvPr>
          <p:cNvSpPr>
            <a:spLocks noGrp="1"/>
          </p:cNvSpPr>
          <p:nvPr>
            <p:ph type="dt" idx="10"/>
          </p:nvPr>
        </p:nvSpPr>
        <p:spPr/>
        <p:txBody>
          <a:bodyPr/>
          <a:lstStyle/>
          <a:p>
            <a:r>
              <a:rPr lang="en-US" dirty="0"/>
              <a:t>14/03/2026</a:t>
            </a:r>
            <a:endParaRPr lang="en-IN" dirty="0"/>
          </a:p>
        </p:txBody>
      </p:sp>
    </p:spTree>
    <p:extLst>
      <p:ext uri="{BB962C8B-B14F-4D97-AF65-F5344CB8AC3E}">
        <p14:creationId xmlns:p14="http://schemas.microsoft.com/office/powerpoint/2010/main" val="378525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73902-71BE-CCFC-2D5F-E4658B0826F9}"/>
              </a:ext>
            </a:extLst>
          </p:cNvPr>
          <p:cNvSpPr>
            <a:spLocks noGrp="1"/>
          </p:cNvSpPr>
          <p:nvPr>
            <p:ph type="title"/>
          </p:nvPr>
        </p:nvSpPr>
        <p:spPr/>
        <p:txBody>
          <a:bodyPr/>
          <a:lstStyle/>
          <a:p>
            <a:r>
              <a:rPr lang="en-IN" dirty="0"/>
              <a:t>Literature Survey</a:t>
            </a:r>
          </a:p>
        </p:txBody>
      </p:sp>
      <p:sp>
        <p:nvSpPr>
          <p:cNvPr id="3" name="Text Placeholder 2">
            <a:extLst>
              <a:ext uri="{FF2B5EF4-FFF2-40B4-BE49-F238E27FC236}">
                <a16:creationId xmlns:a16="http://schemas.microsoft.com/office/drawing/2014/main" id="{41E092B2-94F7-4A8C-7C70-FD4E2B44F027}"/>
              </a:ext>
            </a:extLst>
          </p:cNvPr>
          <p:cNvSpPr>
            <a:spLocks noGrp="1"/>
          </p:cNvSpPr>
          <p:nvPr>
            <p:ph type="body" idx="1"/>
          </p:nvPr>
        </p:nvSpPr>
        <p:spPr>
          <a:xfrm>
            <a:off x="193039" y="1037227"/>
            <a:ext cx="8606831" cy="4977493"/>
          </a:xfrm>
        </p:spPr>
        <p:txBody>
          <a:bodyPr>
            <a:normAutofit fontScale="85000" lnSpcReduction="20000"/>
          </a:bodyPr>
          <a:lstStyle/>
          <a:p>
            <a:pPr lvl="0" indent="-335280">
              <a:spcBef>
                <a:spcPts val="0"/>
              </a:spcBef>
              <a:buSzPct val="100000"/>
              <a:buFont typeface="Times New Roman" panose="02020603050405020304"/>
              <a:buChar char="❑"/>
            </a:pP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Ullah, F. U. M., Ullah, A., Muhammad, K., Haq, I. U., &amp; Baik, S. W. (2019). Violence Detection Using Spatiotemporal Features with 3D Convolutional Neural Network. Sensors, 19(11), 2472.</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Focus: </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Presents an end-to-end deep learning framework combining </a:t>
            </a:r>
            <a:r>
              <a:rPr lang="en-US" sz="20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MobileNet</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for person detection with 3D CNN (C3D) for spatiotemporal feature extraction. The three-staged architecture reduces computational overhead by processing only frames containing persons, achieving 99.9% accuracy on the Movie Violence dataset..</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Contribution:</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Proposes intelligent alert system with real-time deployment on edge devices using Intel OPENVINO toolkit optimization. Demonstrates superior performance on benchmark datasets and addresses practical deployment constraints for surveillance systems..</a:t>
            </a:r>
            <a:endParaRPr lang="en-US" sz="2000" dirty="0">
              <a:latin typeface="Times New Roman" panose="02020603050405020304" pitchFamily="18" charset="0"/>
              <a:cs typeface="Times New Roman" panose="02020603050405020304" pitchFamily="18" charset="0"/>
            </a:endParaRPr>
          </a:p>
          <a:p>
            <a:pPr lvl="0" indent="-335280">
              <a:spcBef>
                <a:spcPts val="355"/>
              </a:spcBef>
              <a:buSzPct val="100000"/>
              <a:buFont typeface="Times New Roman" panose="02020603050405020304"/>
              <a:buChar char="❑"/>
            </a:pP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Jahlan, H. M. B., &amp; </a:t>
            </a:r>
            <a:r>
              <a:rPr lang="en-US" sz="20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Elrefaei</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L. A. (2022). Detecting Violence in Video Based on Deep Features Fusion Technique. Presented at RFMI 2019, International Workshop on Representation, Analysis and Recognition of Shape and Motion From Imaging Data.</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Focus:</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Proposes novel dual-stream feature fusion approach combining </a:t>
            </a:r>
            <a:r>
              <a:rPr lang="en-US" sz="20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AlexNet</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and </a:t>
            </a:r>
            <a:r>
              <a:rPr lang="en-US" sz="20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SqueezeNet</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architectures with separate </a:t>
            </a:r>
            <a:r>
              <a:rPr lang="en-US" sz="20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ConvLSTM</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layers. Demonstrates that fusion of features from diverse CNN architectures improves detection robustness, achieving 100% accuracy on Movie Violence dataset.</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Contribution: </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Shows that combining complementary features from different CNN architectures enhances detection robustness. Achieves exceptional performance metrics (Hockey: 97%, Movies: 100%, Violent Flow: 96%) through intelligent feature fusion before classification.</a:t>
            </a:r>
            <a:endParaRPr lang="en-US" sz="2000" dirty="0">
              <a:latin typeface="Times New Roman" panose="02020603050405020304" pitchFamily="18" charset="0"/>
              <a:cs typeface="Times New Roman" panose="02020603050405020304" pitchFamily="18" charset="0"/>
            </a:endParaRPr>
          </a:p>
          <a:p>
            <a:pPr marL="114300" indent="0" algn="just">
              <a:buNone/>
            </a:pPr>
            <a:endParaRPr lang="en-IN" sz="2000" dirty="0">
              <a:effectLst/>
            </a:endParaRPr>
          </a:p>
        </p:txBody>
      </p:sp>
      <p:sp>
        <p:nvSpPr>
          <p:cNvPr id="4" name="Slide Number Placeholder 3">
            <a:extLst>
              <a:ext uri="{FF2B5EF4-FFF2-40B4-BE49-F238E27FC236}">
                <a16:creationId xmlns:a16="http://schemas.microsoft.com/office/drawing/2014/main" id="{26D6C776-CE82-E872-41F7-C5D03FD92A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Footer Placeholder 4">
            <a:extLst>
              <a:ext uri="{FF2B5EF4-FFF2-40B4-BE49-F238E27FC236}">
                <a16:creationId xmlns:a16="http://schemas.microsoft.com/office/drawing/2014/main" id="{69AC21EF-A155-0FFA-52EE-B31DE1899CA4}"/>
              </a:ext>
            </a:extLst>
          </p:cNvPr>
          <p:cNvSpPr>
            <a:spLocks noGrp="1"/>
          </p:cNvSpPr>
          <p:nvPr>
            <p:ph type="ftr" idx="11"/>
          </p:nvPr>
        </p:nvSpPr>
        <p:spPr/>
        <p:txBody>
          <a:bodyPr/>
          <a:lstStyle/>
          <a:p>
            <a:r>
              <a:rPr lang="en-IN" dirty="0"/>
              <a:t>SVECW | Department of Artificial Intelligence| Project Review-4</a:t>
            </a:r>
          </a:p>
        </p:txBody>
      </p:sp>
      <p:sp>
        <p:nvSpPr>
          <p:cNvPr id="6" name="Date Placeholder 5">
            <a:extLst>
              <a:ext uri="{FF2B5EF4-FFF2-40B4-BE49-F238E27FC236}">
                <a16:creationId xmlns:a16="http://schemas.microsoft.com/office/drawing/2014/main" id="{EBABB921-65B8-1B66-015E-ED5A29D4512A}"/>
              </a:ext>
            </a:extLst>
          </p:cNvPr>
          <p:cNvSpPr>
            <a:spLocks noGrp="1"/>
          </p:cNvSpPr>
          <p:nvPr>
            <p:ph type="dt" idx="10"/>
          </p:nvPr>
        </p:nvSpPr>
        <p:spPr/>
        <p:txBody>
          <a:bodyPr/>
          <a:lstStyle/>
          <a:p>
            <a:r>
              <a:rPr lang="en-US" dirty="0"/>
              <a:t>14/03/2026</a:t>
            </a:r>
            <a:endParaRPr lang="en-IN" dirty="0"/>
          </a:p>
        </p:txBody>
      </p:sp>
    </p:spTree>
    <p:extLst>
      <p:ext uri="{BB962C8B-B14F-4D97-AF65-F5344CB8AC3E}">
        <p14:creationId xmlns:p14="http://schemas.microsoft.com/office/powerpoint/2010/main" val="2769454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adbed186ce_0_2"/>
          <p:cNvSpPr txBox="1">
            <a:spLocks noGrp="1"/>
          </p:cNvSpPr>
          <p:nvPr>
            <p:ph type="title"/>
          </p:nvPr>
        </p:nvSpPr>
        <p:spPr>
          <a:xfrm>
            <a:off x="432128" y="155099"/>
            <a:ext cx="7919700" cy="490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t>Literature Survey</a:t>
            </a:r>
            <a:endParaRPr/>
          </a:p>
        </p:txBody>
      </p:sp>
      <p:sp>
        <p:nvSpPr>
          <p:cNvPr id="124" name="Google Shape;124;g3adbed186ce_0_2"/>
          <p:cNvSpPr txBox="1">
            <a:spLocks noGrp="1"/>
          </p:cNvSpPr>
          <p:nvPr>
            <p:ph type="sldNum" idx="12"/>
          </p:nvPr>
        </p:nvSpPr>
        <p:spPr>
          <a:xfrm>
            <a:off x="7812360" y="6356350"/>
            <a:ext cx="8745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125" name="Google Shape;125;g3adbed186ce_0_2"/>
          <p:cNvSpPr txBox="1">
            <a:spLocks noGrp="1"/>
          </p:cNvSpPr>
          <p:nvPr>
            <p:ph type="ftr" idx="11"/>
          </p:nvPr>
        </p:nvSpPr>
        <p:spPr>
          <a:xfrm>
            <a:off x="2371936" y="6360554"/>
            <a:ext cx="4400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126" name="Google Shape;126;g3adbed186ce_0_2"/>
          <p:cNvSpPr txBox="1">
            <a:spLocks noGrp="1"/>
          </p:cNvSpPr>
          <p:nvPr>
            <p:ph type="body" idx="1"/>
          </p:nvPr>
        </p:nvSpPr>
        <p:spPr>
          <a:xfrm>
            <a:off x="219354" y="997898"/>
            <a:ext cx="8629678" cy="5199600"/>
          </a:xfrm>
          <a:prstGeom prst="rect">
            <a:avLst/>
          </a:prstGeom>
          <a:noFill/>
          <a:ln>
            <a:noFill/>
          </a:ln>
        </p:spPr>
        <p:txBody>
          <a:bodyPr spcFirstLastPara="1" wrap="square" lIns="91425" tIns="45700" rIns="91425" bIns="45700" anchor="t" anchorCtr="0">
            <a:noAutofit/>
          </a:bodyPr>
          <a:lstStyle/>
          <a:p>
            <a:pPr lvl="0" indent="-335280">
              <a:spcBef>
                <a:spcPts val="0"/>
              </a:spcBef>
              <a:buSzPct val="100000"/>
              <a:buFont typeface="Times New Roman" panose="02020603050405020304"/>
              <a:buChar char="❑"/>
            </a:pP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Omarov, B., </a:t>
            </a: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Narynov</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S., </a:t>
            </a: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Zhumanov</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Z., </a:t>
            </a: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Gumar</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 &amp; </a:t>
            </a: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Khassanova</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M. (2022). State-of-the-art violence detection techniques in video surveillance security systems: A systematic review. </a:t>
            </a: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PeerJ</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Computer Science, 8, e920.</a:t>
            </a:r>
            <a:endParaRPr lang="en-US" sz="1600" dirty="0">
              <a:latin typeface="Times New Roman" panose="02020603050405020304" pitchFamily="18" charset="0"/>
              <a:cs typeface="Times New Roman" panose="02020603050405020304" pitchFamily="18" charset="0"/>
            </a:endParaRPr>
          </a:p>
          <a:p>
            <a:pPr lvl="0" indent="0">
              <a:spcBef>
                <a:spcPts val="355"/>
              </a:spcBef>
              <a:buNone/>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Focus: </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Comprehensive systematic review analyzing 80 research papers from 2015-2021. Categorizes violence detection methods into conventional approaches, end-to-end deep learning-based methods, and machine learning techniques. Discusses benchmark datasets, evaluation metrics, and open research challenges.</a:t>
            </a:r>
            <a:endParaRPr lang="en-US" sz="1600" dirty="0">
              <a:latin typeface="Times New Roman" panose="02020603050405020304" pitchFamily="18" charset="0"/>
              <a:cs typeface="Times New Roman" panose="02020603050405020304" pitchFamily="18" charset="0"/>
            </a:endParaRPr>
          </a:p>
          <a:p>
            <a:pPr lvl="0" indent="0">
              <a:spcBef>
                <a:spcPts val="355"/>
              </a:spcBef>
              <a:buNone/>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Contribution:</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Provides comprehensive taxonomy of violence detection methods. Identifies gaps in existing approaches and suggests future research directions including multi-modal analysis, adaptive learning, and edge computing integration for real-time performance.</a:t>
            </a:r>
            <a:endParaRPr lang="en-US" sz="1600" dirty="0">
              <a:latin typeface="Times New Roman" panose="02020603050405020304" pitchFamily="18" charset="0"/>
              <a:cs typeface="Times New Roman" panose="02020603050405020304" pitchFamily="18" charset="0"/>
            </a:endParaRPr>
          </a:p>
          <a:p>
            <a:pPr lvl="0" indent="-335280">
              <a:spcBef>
                <a:spcPts val="355"/>
              </a:spcBef>
              <a:buSzPct val="100000"/>
              <a:buFont typeface="Times New Roman" panose="02020603050405020304"/>
              <a:buChar char="❑"/>
            </a:pP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Vosta</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S., &amp; Yow, K. C. (2023). </a:t>
            </a: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KianNet</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 Violence Detection Model Using an Attention-Based CNN-LSTM Structure. IEEE Access, 11, 120998-121009.</a:t>
            </a:r>
            <a:endParaRPr lang="en-US" sz="1600" dirty="0">
              <a:latin typeface="Times New Roman" panose="02020603050405020304" pitchFamily="18" charset="0"/>
              <a:cs typeface="Times New Roman" panose="02020603050405020304" pitchFamily="18" charset="0"/>
            </a:endParaRPr>
          </a:p>
          <a:p>
            <a:pPr lvl="0" indent="0">
              <a:spcBef>
                <a:spcPts val="355"/>
              </a:spcBef>
              <a:buNone/>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Focus:</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Proposes attention-based CNN-LSTM architecture combining ResNet50 with </a:t>
            </a:r>
            <a:r>
              <a:rPr lang="en-US" sz="16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ConvLSTM</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for enhanced temporal and spatial feature learning. Attention mechanisms selectively focus on important regions and patterns, improving detection accuracy on multiple benchmark datasets.</a:t>
            </a:r>
            <a:endParaRPr lang="en-US" sz="1600" dirty="0">
              <a:latin typeface="Times New Roman" panose="02020603050405020304" pitchFamily="18" charset="0"/>
              <a:cs typeface="Times New Roman" panose="02020603050405020304" pitchFamily="18" charset="0"/>
            </a:endParaRPr>
          </a:p>
          <a:p>
            <a:pPr lvl="0" indent="0">
              <a:spcBef>
                <a:spcPts val="355"/>
              </a:spcBef>
              <a:buNone/>
            </a:pPr>
            <a:r>
              <a:rPr lang="en-US" sz="16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Contribution: </a:t>
            </a:r>
            <a:r>
              <a:rPr lang="en-US" sz="16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Demonstrates that attention mechanisms significantly improve temporal feature learning compared to traditional CNN+LSTM approaches. Achieves state-of-the-art results through selective feature refinement, addressing the limitation of treating all features equally.</a:t>
            </a:r>
            <a:endParaRPr lang="en-US" sz="1600" dirty="0">
              <a:latin typeface="Times New Roman" panose="02020603050405020304" pitchFamily="18" charset="0"/>
              <a:cs typeface="Times New Roman" panose="02020603050405020304" pitchFamily="18" charset="0"/>
            </a:endParaRPr>
          </a:p>
          <a:p>
            <a:pPr lvl="0" indent="-335121" algn="just">
              <a:spcBef>
                <a:spcPts val="0"/>
              </a:spcBef>
              <a:buSzPct val="100000"/>
              <a:buFont typeface="Times New Roman"/>
              <a:buChar char="❑"/>
            </a:pPr>
            <a:endParaRPr lang="en-US" sz="1700" dirty="0">
              <a:latin typeface="Calibri" panose="020F0502020204030204" pitchFamily="34" charset="0"/>
              <a:ea typeface="Calibri" panose="020F0502020204030204" pitchFamily="34" charset="0"/>
              <a:cs typeface="Calibri" panose="020F0502020204030204" pitchFamily="34" charset="0"/>
            </a:endParaRPr>
          </a:p>
        </p:txBody>
      </p:sp>
      <p:sp>
        <p:nvSpPr>
          <p:cNvPr id="2" name="Date Placeholder 1">
            <a:extLst>
              <a:ext uri="{FF2B5EF4-FFF2-40B4-BE49-F238E27FC236}">
                <a16:creationId xmlns:a16="http://schemas.microsoft.com/office/drawing/2014/main" id="{B0E58464-5D6D-8DBA-94C2-D7B072A05B4B}"/>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g3adbed186ce_0_10"/>
          <p:cNvSpPr txBox="1">
            <a:spLocks noGrp="1"/>
          </p:cNvSpPr>
          <p:nvPr>
            <p:ph type="title"/>
          </p:nvPr>
        </p:nvSpPr>
        <p:spPr>
          <a:xfrm>
            <a:off x="432128" y="155099"/>
            <a:ext cx="7919700" cy="490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t>Literature Survey</a:t>
            </a:r>
            <a:endParaRPr/>
          </a:p>
        </p:txBody>
      </p:sp>
      <p:sp>
        <p:nvSpPr>
          <p:cNvPr id="133" name="Google Shape;133;g3adbed186ce_0_10"/>
          <p:cNvSpPr txBox="1">
            <a:spLocks noGrp="1"/>
          </p:cNvSpPr>
          <p:nvPr>
            <p:ph type="sldNum" idx="12"/>
          </p:nvPr>
        </p:nvSpPr>
        <p:spPr>
          <a:xfrm>
            <a:off x="7812360" y="6356350"/>
            <a:ext cx="8745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34" name="Google Shape;134;g3adbed186ce_0_10"/>
          <p:cNvSpPr txBox="1">
            <a:spLocks noGrp="1"/>
          </p:cNvSpPr>
          <p:nvPr>
            <p:ph type="ftr" idx="11"/>
          </p:nvPr>
        </p:nvSpPr>
        <p:spPr>
          <a:xfrm>
            <a:off x="2371936" y="6360554"/>
            <a:ext cx="4400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135" name="Google Shape;135;g3adbed186ce_0_10"/>
          <p:cNvSpPr txBox="1">
            <a:spLocks noGrp="1"/>
          </p:cNvSpPr>
          <p:nvPr>
            <p:ph type="body" idx="1"/>
          </p:nvPr>
        </p:nvSpPr>
        <p:spPr>
          <a:xfrm>
            <a:off x="286111" y="1037227"/>
            <a:ext cx="8533423" cy="5199600"/>
          </a:xfrm>
          <a:prstGeom prst="rect">
            <a:avLst/>
          </a:prstGeom>
          <a:noFill/>
          <a:ln>
            <a:noFill/>
          </a:ln>
        </p:spPr>
        <p:txBody>
          <a:bodyPr spcFirstLastPara="1" wrap="square" lIns="91425" tIns="45700" rIns="91425" bIns="45700" anchor="t" anchorCtr="0">
            <a:normAutofit fontScale="85000" lnSpcReduction="10000"/>
          </a:bodyPr>
          <a:lstStyle/>
          <a:p>
            <a:pPr lvl="0" indent="-335280">
              <a:spcBef>
                <a:spcPts val="0"/>
              </a:spcBef>
              <a:buSzPct val="100000"/>
              <a:buFont typeface="Times New Roman" panose="02020603050405020304"/>
              <a:buChar char="❑"/>
            </a:pP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Dündar, N., &amp; </a:t>
            </a:r>
            <a:r>
              <a:rPr lang="en-US" sz="2000" dirty="0" err="1">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Keceli</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 S. (2024). A shallow 3D convolutional neural network for violence detection in videos. Egyptian Informatics Journal, 25(3), 100432..</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Focus: </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Addresses practical deployment challenges by developing a lightweight 3D CNN model with only 54,634 parameters suitable for edge devices and mobile systems. Balances accuracy with computational efficiency for real-world surveillance deployment.</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Contribution:</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Provides trade-off analysis between detection accuracy and model complexity. Demonstrates that lightweight architectures can achieve satisfactory performance while enabling deployment on resource-constrained devices, critical for distributed surveillance systems.</a:t>
            </a:r>
            <a:endParaRPr lang="en-US" sz="2000" dirty="0">
              <a:latin typeface="Times New Roman" panose="02020603050405020304" pitchFamily="18" charset="0"/>
              <a:cs typeface="Times New Roman" panose="02020603050405020304" pitchFamily="18" charset="0"/>
            </a:endParaRPr>
          </a:p>
          <a:p>
            <a:pPr lvl="0" indent="-335280">
              <a:spcBef>
                <a:spcPts val="355"/>
              </a:spcBef>
              <a:buSzPct val="100000"/>
              <a:buFont typeface="Times New Roman" panose="02020603050405020304"/>
              <a:buChar char="❑"/>
            </a:pP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Su, J., Her, P., Clemens, E., Yaz, E., Schneider, S., &amp; Medeiros, H. (2022). Violence Detection using 3D Convolutional Neural Networks. IEEE International Conference on Advanced Video and Signal Based Surveillance (AVSS), 1-7.</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Focus:</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Conducts comprehensive hyperparameter tuning study for 3D CNN violence detection. Demonstrates that proper parameter adjustment in general action recognition networks can effectively detect violence without architectural modifications, achieving 94% accuracy on RWF-2000 dataset.</a:t>
            </a:r>
            <a:endParaRPr lang="en-US" sz="2000" dirty="0">
              <a:latin typeface="Times New Roman" panose="02020603050405020304" pitchFamily="18" charset="0"/>
              <a:cs typeface="Times New Roman" panose="02020603050405020304" pitchFamily="18" charset="0"/>
            </a:endParaRPr>
          </a:p>
          <a:p>
            <a:pPr lvl="0" indent="0">
              <a:spcBef>
                <a:spcPts val="355"/>
              </a:spcBef>
              <a:buNone/>
            </a:pP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Contribution: </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Provides insights into optimal hyperparameter selection for deep learning-based violence detection. Shows that reasonable network parameter adjustments are effective mechanisms for improving model generalization across different surveillance scenarios.</a:t>
            </a:r>
            <a:endParaRPr lang="en-US" sz="2000" dirty="0">
              <a:latin typeface="Times New Roman" panose="02020603050405020304" pitchFamily="18" charset="0"/>
              <a:cs typeface="Times New Roman" panose="02020603050405020304" pitchFamily="18" charset="0"/>
            </a:endParaRPr>
          </a:p>
          <a:p>
            <a:pPr lvl="0" indent="-335121" algn="just">
              <a:spcBef>
                <a:spcPts val="0"/>
              </a:spcBef>
              <a:buSzPct val="100000"/>
              <a:buFont typeface="Times New Roman"/>
              <a:buChar char="❑"/>
            </a:pPr>
            <a:endParaRPr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2EDE9442-4A3B-1713-0130-50E94FB258E1}"/>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9"/>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t>Problem Identification</a:t>
            </a:r>
            <a:endParaRPr/>
          </a:p>
        </p:txBody>
      </p:sp>
      <p:sp>
        <p:nvSpPr>
          <p:cNvPr id="141" name="Google Shape;141;p9"/>
          <p:cNvSpPr txBox="1">
            <a:spLocks noGrp="1"/>
          </p:cNvSpPr>
          <p:nvPr>
            <p:ph type="body" idx="1"/>
          </p:nvPr>
        </p:nvSpPr>
        <p:spPr>
          <a:xfrm>
            <a:off x="457200" y="1184465"/>
            <a:ext cx="8391832" cy="4628382"/>
          </a:xfrm>
          <a:prstGeom prst="rect">
            <a:avLst/>
          </a:prstGeom>
          <a:noFill/>
          <a:ln>
            <a:noFill/>
          </a:ln>
        </p:spPr>
        <p:txBody>
          <a:bodyPr spcFirstLastPara="1" wrap="square" lIns="91425" tIns="45700" rIns="91425" bIns="45700" anchor="t" anchorCtr="0">
            <a:normAutofit fontScale="92500" lnSpcReduction="20000"/>
          </a:bodyPr>
          <a:lstStyle/>
          <a:p>
            <a:pPr marL="571500" indent="-457200">
              <a:buFont typeface="+mj-lt"/>
              <a:buAutoNum type="arabicPeriod"/>
            </a:pPr>
            <a:r>
              <a:rPr lang="en-US" sz="2000" b="1" dirty="0"/>
              <a:t>Manual Monitoring Limitations:</a:t>
            </a:r>
            <a:br>
              <a:rPr lang="en-US" sz="2000" dirty="0"/>
            </a:br>
            <a:r>
              <a:rPr lang="en-US" sz="2000" dirty="0"/>
              <a:t>Security personnel cannot continuously monitor multiple CCTV camera feeds at the same time.</a:t>
            </a:r>
            <a:br>
              <a:rPr lang="en-US" sz="2000" dirty="0"/>
            </a:br>
            <a:r>
              <a:rPr lang="en-US" sz="2000" dirty="0"/>
              <a:t>This often leads to important incidents being missed.</a:t>
            </a:r>
          </a:p>
          <a:p>
            <a:pPr marL="571500" indent="-457200">
              <a:buFont typeface="+mj-lt"/>
              <a:buAutoNum type="arabicPeriod"/>
            </a:pPr>
            <a:r>
              <a:rPr lang="en-US" sz="2000" b="1" dirty="0"/>
              <a:t>Delayed Response to Violent Events:</a:t>
            </a:r>
            <a:br>
              <a:rPr lang="en-US" sz="2000" dirty="0"/>
            </a:br>
            <a:r>
              <a:rPr lang="en-US" sz="2000" dirty="0"/>
              <a:t>Violent activities may escalate quickly before authorities become aware of them.</a:t>
            </a:r>
            <a:br>
              <a:rPr lang="en-US" sz="2000" dirty="0"/>
            </a:br>
            <a:r>
              <a:rPr lang="en-US" sz="2000" dirty="0"/>
              <a:t>Delayed detection can result in serious consequences and safety risks.</a:t>
            </a:r>
          </a:p>
          <a:p>
            <a:pPr marL="571500" indent="-457200">
              <a:buFont typeface="+mj-lt"/>
              <a:buAutoNum type="arabicPeriod"/>
            </a:pPr>
            <a:r>
              <a:rPr lang="en-US" sz="2000" b="1" dirty="0"/>
              <a:t>High False Alarms in Traditional Systems:</a:t>
            </a:r>
            <a:br>
              <a:rPr lang="en-US" sz="2000" dirty="0"/>
            </a:br>
            <a:r>
              <a:rPr lang="en-US" sz="2000" dirty="0"/>
              <a:t>Conventional surveillance systems may confuse normal fast movements with violence.</a:t>
            </a:r>
            <a:br>
              <a:rPr lang="en-US" sz="2000" dirty="0"/>
            </a:br>
            <a:r>
              <a:rPr lang="en-US" sz="2000" dirty="0"/>
              <a:t>This reduces reliability and increases unnecessary alerts.</a:t>
            </a:r>
          </a:p>
          <a:p>
            <a:pPr marL="571500" indent="-457200">
              <a:buFont typeface="+mj-lt"/>
              <a:buAutoNum type="arabicPeriod"/>
            </a:pPr>
            <a:r>
              <a:rPr lang="en-US" sz="2000" b="1" dirty="0"/>
              <a:t>Lack of Intelligent Automation:</a:t>
            </a:r>
            <a:br>
              <a:rPr lang="en-US" sz="2000" dirty="0"/>
            </a:br>
            <a:r>
              <a:rPr lang="en-US" sz="2000" dirty="0"/>
              <a:t>Most existing CCTV systems only record footage without analyzing it automatically.</a:t>
            </a:r>
            <a:br>
              <a:rPr lang="en-US" sz="2000" dirty="0"/>
            </a:br>
            <a:r>
              <a:rPr lang="en-US" sz="2000" dirty="0"/>
              <a:t>There is a need for AI-based systems that can detect and report violent events in real time.</a:t>
            </a:r>
          </a:p>
        </p:txBody>
      </p:sp>
      <p:sp>
        <p:nvSpPr>
          <p:cNvPr id="143" name="Google Shape;143;p9"/>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144" name="Google Shape;144;p9"/>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2" name="Date Placeholder 1">
            <a:extLst>
              <a:ext uri="{FF2B5EF4-FFF2-40B4-BE49-F238E27FC236}">
                <a16:creationId xmlns:a16="http://schemas.microsoft.com/office/drawing/2014/main" id="{B4DD0BFD-C4CC-6D67-E29A-616A02D9B1CB}"/>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latin typeface="Calibri" panose="020F0502020204030204" pitchFamily="34" charset="0"/>
                <a:ea typeface="Calibri" panose="020F0502020204030204" pitchFamily="34" charset="0"/>
                <a:cs typeface="Calibri" panose="020F0502020204030204" pitchFamily="34" charset="0"/>
              </a:rPr>
              <a:t>Proposed Solution</a:t>
            </a:r>
            <a:endParaRPr>
              <a:latin typeface="Calibri" panose="020F0502020204030204" pitchFamily="34" charset="0"/>
              <a:ea typeface="Calibri" panose="020F0502020204030204" pitchFamily="34" charset="0"/>
              <a:cs typeface="Calibri" panose="020F0502020204030204" pitchFamily="34" charset="0"/>
            </a:endParaRPr>
          </a:p>
        </p:txBody>
      </p:sp>
      <p:sp>
        <p:nvSpPr>
          <p:cNvPr id="150" name="Google Shape;150;p10"/>
          <p:cNvSpPr txBox="1">
            <a:spLocks noGrp="1"/>
          </p:cNvSpPr>
          <p:nvPr>
            <p:ph type="body" idx="1"/>
          </p:nvPr>
        </p:nvSpPr>
        <p:spPr>
          <a:xfrm>
            <a:off x="335812" y="985684"/>
            <a:ext cx="8472376" cy="5031657"/>
          </a:xfrm>
          <a:prstGeom prst="rect">
            <a:avLst/>
          </a:prstGeom>
          <a:noFill/>
          <a:ln>
            <a:noFill/>
          </a:ln>
        </p:spPr>
        <p:txBody>
          <a:bodyPr spcFirstLastPara="1" wrap="square" lIns="91425" tIns="45700" rIns="91425" bIns="45700" anchor="t" anchorCtr="0">
            <a:noAutofit/>
          </a:bodyPr>
          <a:lstStyle/>
          <a:p>
            <a:r>
              <a:rPr lang="en-US" sz="1800" b="1" dirty="0"/>
              <a:t>AI-Based Violence Detection System:</a:t>
            </a:r>
            <a:br>
              <a:rPr lang="en-US" sz="1800" dirty="0"/>
            </a:br>
            <a:r>
              <a:rPr lang="en-US" sz="1800" dirty="0"/>
              <a:t>Develop a deep learning–based system that can automatically detect violent activities from CCTV video footage.</a:t>
            </a:r>
            <a:br>
              <a:rPr lang="en-US" sz="1800" dirty="0"/>
            </a:br>
            <a:r>
              <a:rPr lang="en-US" sz="1800" dirty="0"/>
              <a:t>The model analyzes human actions and classifies them as violent or non-violent.</a:t>
            </a:r>
          </a:p>
          <a:p>
            <a:r>
              <a:rPr lang="en-US" sz="1800" b="1" dirty="0"/>
              <a:t>Real-Time Video Stream Analysis:</a:t>
            </a:r>
            <a:br>
              <a:rPr lang="en-US" sz="1800" dirty="0"/>
            </a:br>
            <a:r>
              <a:rPr lang="en-US" sz="1800" dirty="0"/>
              <a:t>The system processes live CCTV streams by extracting frames and analyzing them continuously.</a:t>
            </a:r>
            <a:br>
              <a:rPr lang="en-US" sz="1800" dirty="0"/>
            </a:br>
            <a:r>
              <a:rPr lang="en-US" sz="1800" dirty="0"/>
              <a:t>This enables quick identification of suspicious activities.</a:t>
            </a:r>
          </a:p>
          <a:p>
            <a:r>
              <a:rPr lang="en-US" sz="1800" b="1" dirty="0"/>
              <a:t>CNN–LSTM Deep Learning Model:</a:t>
            </a:r>
            <a:br>
              <a:rPr lang="en-US" sz="1800" dirty="0"/>
            </a:br>
            <a:r>
              <a:rPr lang="en-US" sz="1800" dirty="0"/>
              <a:t>CNN is used to extract spatial features from video frames, while LSTM captures motion patterns across multiple frames.</a:t>
            </a:r>
            <a:br>
              <a:rPr lang="en-US" sz="1800" dirty="0"/>
            </a:br>
            <a:r>
              <a:rPr lang="en-US" sz="1800" dirty="0"/>
              <a:t>This combination helps accurately recognize violent actions over time.</a:t>
            </a:r>
          </a:p>
          <a:p>
            <a:r>
              <a:rPr lang="en-US" sz="1800" b="1" dirty="0"/>
              <a:t>Automated Alert Generation:</a:t>
            </a:r>
            <a:br>
              <a:rPr lang="en-US" sz="1800" dirty="0"/>
            </a:br>
            <a:r>
              <a:rPr lang="en-US" sz="1800" dirty="0"/>
              <a:t>When violence is detected, the system generates alerts with event details and timestamps.</a:t>
            </a:r>
            <a:br>
              <a:rPr lang="en-US" sz="1800" dirty="0"/>
            </a:br>
            <a:r>
              <a:rPr lang="en-US" sz="1800" dirty="0"/>
              <a:t>This allows security personnel to respond quickly and take necessary action.</a:t>
            </a:r>
          </a:p>
        </p:txBody>
      </p:sp>
      <p:sp>
        <p:nvSpPr>
          <p:cNvPr id="152" name="Google Shape;152;p10"/>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Calibri" panose="020F0502020204030204" pitchFamily="34" charset="0"/>
                <a:ea typeface="Calibri" panose="020F0502020204030204" pitchFamily="34" charset="0"/>
                <a:cs typeface="Calibri" panose="020F0502020204030204" pitchFamily="34" charset="0"/>
              </a:rPr>
              <a:t>10</a:t>
            </a:fld>
            <a:endParaRPr>
              <a:latin typeface="Calibri" panose="020F0502020204030204" pitchFamily="34" charset="0"/>
              <a:ea typeface="Calibri" panose="020F0502020204030204" pitchFamily="34" charset="0"/>
              <a:cs typeface="Calibri" panose="020F0502020204030204" pitchFamily="34" charset="0"/>
            </a:endParaRPr>
          </a:p>
        </p:txBody>
      </p:sp>
      <p:sp>
        <p:nvSpPr>
          <p:cNvPr id="153" name="Google Shape;153;p10"/>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latin typeface="Calibri" panose="020F0502020204030204" pitchFamily="34" charset="0"/>
                <a:ea typeface="Calibri" panose="020F0502020204030204" pitchFamily="34" charset="0"/>
                <a:cs typeface="Calibri" panose="020F0502020204030204" pitchFamily="34" charset="0"/>
              </a:rPr>
              <a:t>SVECW | Department of Artificial Intelligence| Project Review-4</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 name="Date Placeholder 1">
            <a:extLst>
              <a:ext uri="{FF2B5EF4-FFF2-40B4-BE49-F238E27FC236}">
                <a16:creationId xmlns:a16="http://schemas.microsoft.com/office/drawing/2014/main" id="{1CE3822E-E5E4-1A29-231D-EA31E00D92E5}"/>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dirty="0">
                <a:latin typeface="Calibri" panose="020F0502020204030204" pitchFamily="34" charset="0"/>
                <a:ea typeface="Calibri" panose="020F0502020204030204" pitchFamily="34" charset="0"/>
                <a:cs typeface="Calibri" panose="020F0502020204030204" pitchFamily="34" charset="0"/>
              </a:rPr>
              <a:t>Project Implementation Details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60" name="Google Shape;160;p11"/>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Calibri" panose="020F0502020204030204" pitchFamily="34" charset="0"/>
                <a:ea typeface="Calibri" panose="020F0502020204030204" pitchFamily="34" charset="0"/>
                <a:cs typeface="Calibri" panose="020F0502020204030204" pitchFamily="34" charset="0"/>
              </a:rPr>
              <a:t>11</a:t>
            </a:fld>
            <a:endParaRPr>
              <a:latin typeface="Calibri" panose="020F0502020204030204" pitchFamily="34" charset="0"/>
              <a:ea typeface="Calibri" panose="020F0502020204030204" pitchFamily="34" charset="0"/>
              <a:cs typeface="Calibri" panose="020F0502020204030204" pitchFamily="34" charset="0"/>
            </a:endParaRPr>
          </a:p>
        </p:txBody>
      </p:sp>
      <p:sp>
        <p:nvSpPr>
          <p:cNvPr id="161" name="Google Shape;161;p11"/>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latin typeface="Calibri" panose="020F0502020204030204" pitchFamily="34" charset="0"/>
                <a:ea typeface="Calibri" panose="020F0502020204030204" pitchFamily="34" charset="0"/>
                <a:cs typeface="Calibri" panose="020F0502020204030204" pitchFamily="34" charset="0"/>
              </a:rPr>
              <a:t>SVECW | Department of Artificial Intelligence| Project Review-4</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 name="Date Placeholder 1">
            <a:extLst>
              <a:ext uri="{FF2B5EF4-FFF2-40B4-BE49-F238E27FC236}">
                <a16:creationId xmlns:a16="http://schemas.microsoft.com/office/drawing/2014/main" id="{596BB1E6-C354-9B65-ADF4-55DC2D552CC3}"/>
              </a:ext>
            </a:extLst>
          </p:cNvPr>
          <p:cNvSpPr>
            <a:spLocks noGrp="1"/>
          </p:cNvSpPr>
          <p:nvPr>
            <p:ph type="dt" idx="10"/>
          </p:nvPr>
        </p:nvSpPr>
        <p:spPr/>
        <p:txBody>
          <a:bodyPr/>
          <a:lstStyle/>
          <a:p>
            <a:r>
              <a:rPr lang="en-US" dirty="0"/>
              <a:t>14/03/2026</a:t>
            </a:r>
            <a:endParaRPr lang="en-IN" dirty="0"/>
          </a:p>
        </p:txBody>
      </p:sp>
      <p:sp>
        <p:nvSpPr>
          <p:cNvPr id="6" name="TextBox 5">
            <a:extLst>
              <a:ext uri="{FF2B5EF4-FFF2-40B4-BE49-F238E27FC236}">
                <a16:creationId xmlns:a16="http://schemas.microsoft.com/office/drawing/2014/main" id="{82A76F17-3DBB-486D-325E-86359BFB41A8}"/>
              </a:ext>
            </a:extLst>
          </p:cNvPr>
          <p:cNvSpPr txBox="1"/>
          <p:nvPr/>
        </p:nvSpPr>
        <p:spPr>
          <a:xfrm>
            <a:off x="1617952" y="4787449"/>
            <a:ext cx="8534151" cy="1015663"/>
          </a:xfrm>
          <a:prstGeom prst="rect">
            <a:avLst/>
          </a:prstGeom>
          <a:noFill/>
        </p:spPr>
        <p:txBody>
          <a:bodyPr wrap="square">
            <a:spAutoFit/>
          </a:bodyPr>
          <a:lstStyle/>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a:p>
            <a:r>
              <a:rPr lang="en-IN" sz="1800" b="1" dirty="0">
                <a:latin typeface="Times New Roman" panose="02020603050405020304" pitchFamily="18" charset="0"/>
                <a:ea typeface="Calibri" panose="020F0502020204030204" pitchFamily="34" charset="0"/>
                <a:cs typeface="Times New Roman" panose="02020603050405020304" pitchFamily="18" charset="0"/>
              </a:rPr>
              <a:t>Fig: Flow Chart for CCTV Violence Detection System</a:t>
            </a:r>
          </a:p>
        </p:txBody>
      </p:sp>
      <p:pic>
        <p:nvPicPr>
          <p:cNvPr id="1026" name="Picture 2" descr="Workflow of Computer Vision: From Data Acquisition to Decision Making">
            <a:extLst>
              <a:ext uri="{FF2B5EF4-FFF2-40B4-BE49-F238E27FC236}">
                <a16:creationId xmlns:a16="http://schemas.microsoft.com/office/drawing/2014/main" id="{EF6A1C30-1EFB-C065-5F26-FBA4BA0BB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720" y="1059391"/>
            <a:ext cx="7457222" cy="419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adbed186ce_0_21"/>
          <p:cNvSpPr txBox="1">
            <a:spLocks noGrp="1"/>
          </p:cNvSpPr>
          <p:nvPr>
            <p:ph type="title"/>
          </p:nvPr>
        </p:nvSpPr>
        <p:spPr>
          <a:xfrm>
            <a:off x="432128" y="155099"/>
            <a:ext cx="7919700" cy="490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latin typeface="Calibri" panose="020F0502020204030204" pitchFamily="34" charset="0"/>
                <a:ea typeface="Calibri" panose="020F0502020204030204" pitchFamily="34" charset="0"/>
                <a:cs typeface="Calibri" panose="020F0502020204030204" pitchFamily="34" charset="0"/>
              </a:rPr>
              <a:t>Project Implementation Details</a:t>
            </a:r>
            <a:endParaRPr>
              <a:latin typeface="Calibri" panose="020F0502020204030204" pitchFamily="34" charset="0"/>
              <a:ea typeface="Calibri" panose="020F0502020204030204" pitchFamily="34" charset="0"/>
              <a:cs typeface="Calibri" panose="020F0502020204030204" pitchFamily="34" charset="0"/>
            </a:endParaRPr>
          </a:p>
        </p:txBody>
      </p:sp>
      <p:sp>
        <p:nvSpPr>
          <p:cNvPr id="169" name="Google Shape;169;g3adbed186ce_0_21"/>
          <p:cNvSpPr txBox="1">
            <a:spLocks noGrp="1"/>
          </p:cNvSpPr>
          <p:nvPr>
            <p:ph type="sldNum" idx="12"/>
          </p:nvPr>
        </p:nvSpPr>
        <p:spPr>
          <a:xfrm>
            <a:off x="7812360" y="6356350"/>
            <a:ext cx="8745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Calibri" panose="020F0502020204030204" pitchFamily="34" charset="0"/>
                <a:ea typeface="Calibri" panose="020F0502020204030204" pitchFamily="34" charset="0"/>
                <a:cs typeface="Calibri" panose="020F0502020204030204" pitchFamily="34" charset="0"/>
              </a:rPr>
              <a:t>12</a:t>
            </a:fld>
            <a:endParaRPr>
              <a:latin typeface="Calibri" panose="020F0502020204030204" pitchFamily="34" charset="0"/>
              <a:ea typeface="Calibri" panose="020F0502020204030204" pitchFamily="34" charset="0"/>
              <a:cs typeface="Calibri" panose="020F0502020204030204" pitchFamily="34" charset="0"/>
            </a:endParaRPr>
          </a:p>
        </p:txBody>
      </p:sp>
      <p:sp>
        <p:nvSpPr>
          <p:cNvPr id="170" name="Google Shape;170;g3adbed186ce_0_21"/>
          <p:cNvSpPr txBox="1">
            <a:spLocks noGrp="1"/>
          </p:cNvSpPr>
          <p:nvPr>
            <p:ph type="ftr" idx="11"/>
          </p:nvPr>
        </p:nvSpPr>
        <p:spPr>
          <a:xfrm>
            <a:off x="2371936" y="6360554"/>
            <a:ext cx="4400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latin typeface="Calibri" panose="020F0502020204030204" pitchFamily="34" charset="0"/>
                <a:ea typeface="Calibri" panose="020F0502020204030204" pitchFamily="34" charset="0"/>
                <a:cs typeface="Calibri" panose="020F0502020204030204" pitchFamily="34" charset="0"/>
              </a:rPr>
              <a:t>SVECW | Department of Artificial Intelligence| Project Review-4</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71" name="Google Shape;171;g3adbed186ce_0_21"/>
          <p:cNvSpPr txBox="1"/>
          <p:nvPr/>
        </p:nvSpPr>
        <p:spPr>
          <a:xfrm>
            <a:off x="302297" y="825610"/>
            <a:ext cx="8495473" cy="5186005"/>
          </a:xfrm>
          <a:prstGeom prst="rect">
            <a:avLst/>
          </a:prstGeom>
          <a:noFill/>
          <a:ln>
            <a:noFill/>
          </a:ln>
        </p:spPr>
        <p:txBody>
          <a:bodyPr spcFirstLastPara="1" wrap="square" lIns="91425" tIns="91425" rIns="91425" bIns="91425" anchor="t" anchorCtr="0">
            <a:spAutoFit/>
          </a:bodyPr>
          <a:lstStyle/>
          <a:p>
            <a:pPr marL="134493" marR="4038" lvl="0" indent="1676"/>
            <a:r>
              <a:rPr lang="en-IN" sz="2000" b="1" dirty="0">
                <a:latin typeface="Calibri" panose="020F0502020204030204" pitchFamily="34" charset="0"/>
                <a:ea typeface="Calibri" panose="020F0502020204030204" pitchFamily="34" charset="0"/>
                <a:cs typeface="Calibri" panose="020F0502020204030204" pitchFamily="34" charset="0"/>
              </a:rPr>
              <a:t>Concept Diagram Explanation:</a:t>
            </a:r>
          </a:p>
          <a:p>
            <a:pPr marL="134493" marR="4038" lvl="0" indent="1676"/>
            <a:endParaRPr lang="en-IN" sz="2000" b="1" dirty="0">
              <a:latin typeface="Calibri" panose="020F0502020204030204" pitchFamily="34" charset="0"/>
              <a:ea typeface="Calibri" panose="020F0502020204030204" pitchFamily="34" charset="0"/>
              <a:cs typeface="Calibri" panose="020F0502020204030204" pitchFamily="34" charset="0"/>
            </a:endParaRPr>
          </a:p>
          <a:p>
            <a:pPr marL="591693" marR="4038" lvl="0" indent="-457200" algn="just">
              <a:buFont typeface="+mj-lt"/>
              <a:buAutoNum type="arabicPeriod"/>
            </a:pPr>
            <a:r>
              <a:rPr lang="en-US" sz="1900" dirty="0">
                <a:latin typeface="Times New Roman" panose="02020603050405020304" pitchFamily="18" charset="0"/>
                <a:cs typeface="Times New Roman" panose="02020603050405020304" pitchFamily="18" charset="0"/>
              </a:rPr>
              <a:t>The system begins with capturing video data from CCTV cameras or surveillance datasets. These videos contain different human activities that may include both violent and non-violent actions. The captured video is then provided as input for further analysis.</a:t>
            </a:r>
            <a:endParaRPr lang="en-IN" sz="1900" dirty="0">
              <a:latin typeface="Times New Roman" panose="02020603050405020304" pitchFamily="18" charset="0"/>
              <a:ea typeface="Calibri" panose="020F0502020204030204" pitchFamily="34" charset="0"/>
              <a:cs typeface="Times New Roman" panose="02020603050405020304" pitchFamily="18" charset="0"/>
            </a:endParaRPr>
          </a:p>
          <a:p>
            <a:pPr marL="591693" marR="4038" indent="-457200" algn="just">
              <a:buFont typeface="+mj-lt"/>
              <a:buAutoNum type="arabicPeriod"/>
            </a:pPr>
            <a:r>
              <a:rPr lang="en-US" sz="1900" dirty="0">
                <a:latin typeface="Times New Roman" panose="02020603050405020304" pitchFamily="18" charset="0"/>
                <a:cs typeface="Times New Roman" panose="02020603050405020304" pitchFamily="18" charset="0"/>
              </a:rPr>
              <a:t>The video stream is converted into individual frames and preprocessed to improve quality. Steps such as resizing frames, normalization, and noise removal are applied to ensure consistent input for the deep learning model.</a:t>
            </a: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591693" marR="4038" indent="-457200" algn="just">
              <a:buFont typeface="+mj-lt"/>
              <a:buAutoNum type="arabicPeriod"/>
            </a:pPr>
            <a:r>
              <a:rPr lang="en-US" sz="1900" dirty="0">
                <a:latin typeface="Times New Roman" panose="02020603050405020304" pitchFamily="18" charset="0"/>
                <a:cs typeface="Times New Roman" panose="02020603050405020304" pitchFamily="18" charset="0"/>
              </a:rPr>
              <a:t>Important visual features are extracted from the video frames using deep learning techniques. A CNN model identifies spatial features such as human posture and interactions, while an LSTM network captures motion patterns across multiple frames.</a:t>
            </a:r>
            <a:endParaRPr lang="en-US" sz="1900" dirty="0">
              <a:latin typeface="Times New Roman" panose="02020603050405020304" pitchFamily="18" charset="0"/>
              <a:ea typeface="Calibri" panose="020F0502020204030204" pitchFamily="34" charset="0"/>
              <a:cs typeface="Times New Roman" panose="02020603050405020304" pitchFamily="18" charset="0"/>
            </a:endParaRPr>
          </a:p>
          <a:p>
            <a:pPr marL="591693" marR="4038" indent="-457200" algn="just">
              <a:buFont typeface="+mj-lt"/>
              <a:buAutoNum type="arabicPeriod"/>
            </a:pPr>
            <a:r>
              <a:rPr lang="en-US" sz="1900" dirty="0">
                <a:latin typeface="Times New Roman" panose="02020603050405020304" pitchFamily="18" charset="0"/>
                <a:cs typeface="Times New Roman" panose="02020603050405020304" pitchFamily="18" charset="0"/>
              </a:rPr>
              <a:t>The extracted features are analyzed by the trained CNN–LSTM model to classify activities as violent or non-violent. Based on the prediction results, the system generates alerts and displays the final output for monitoring and security response.</a:t>
            </a:r>
          </a:p>
        </p:txBody>
      </p:sp>
      <p:sp>
        <p:nvSpPr>
          <p:cNvPr id="2" name="Date Placeholder 1">
            <a:extLst>
              <a:ext uri="{FF2B5EF4-FFF2-40B4-BE49-F238E27FC236}">
                <a16:creationId xmlns:a16="http://schemas.microsoft.com/office/drawing/2014/main" id="{7436AC49-8CB0-3E76-D9D6-3200A00942AD}"/>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D25EA49A-5CC3-FCE6-3833-029A764C65AE}"/>
            </a:ext>
          </a:extLst>
        </p:cNvPr>
        <p:cNvGrpSpPr/>
        <p:nvPr/>
      </p:nvGrpSpPr>
      <p:grpSpPr>
        <a:xfrm>
          <a:off x="0" y="0"/>
          <a:ext cx="0" cy="0"/>
          <a:chOff x="0" y="0"/>
          <a:chExt cx="0" cy="0"/>
        </a:xfrm>
      </p:grpSpPr>
      <p:sp>
        <p:nvSpPr>
          <p:cNvPr id="167" name="Google Shape;167;g3adbed186ce_0_21">
            <a:extLst>
              <a:ext uri="{FF2B5EF4-FFF2-40B4-BE49-F238E27FC236}">
                <a16:creationId xmlns:a16="http://schemas.microsoft.com/office/drawing/2014/main" id="{47D6AE75-89FA-8DE8-713F-936D6BD556E0}"/>
              </a:ext>
            </a:extLst>
          </p:cNvPr>
          <p:cNvSpPr txBox="1">
            <a:spLocks noGrp="1"/>
          </p:cNvSpPr>
          <p:nvPr>
            <p:ph type="title"/>
          </p:nvPr>
        </p:nvSpPr>
        <p:spPr>
          <a:xfrm>
            <a:off x="432128" y="155099"/>
            <a:ext cx="7919700" cy="4902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latin typeface="Calibri" panose="020F0502020204030204" pitchFamily="34" charset="0"/>
                <a:ea typeface="Calibri" panose="020F0502020204030204" pitchFamily="34" charset="0"/>
                <a:cs typeface="Calibri" panose="020F0502020204030204" pitchFamily="34" charset="0"/>
              </a:rPr>
              <a:t>Project Implementation Details</a:t>
            </a:r>
            <a:endParaRPr>
              <a:latin typeface="Calibri" panose="020F0502020204030204" pitchFamily="34" charset="0"/>
              <a:ea typeface="Calibri" panose="020F0502020204030204" pitchFamily="34" charset="0"/>
              <a:cs typeface="Calibri" panose="020F0502020204030204" pitchFamily="34" charset="0"/>
            </a:endParaRPr>
          </a:p>
        </p:txBody>
      </p:sp>
      <p:sp>
        <p:nvSpPr>
          <p:cNvPr id="169" name="Google Shape;169;g3adbed186ce_0_21">
            <a:extLst>
              <a:ext uri="{FF2B5EF4-FFF2-40B4-BE49-F238E27FC236}">
                <a16:creationId xmlns:a16="http://schemas.microsoft.com/office/drawing/2014/main" id="{D8555BB6-03E6-55C2-A254-188EE752D61C}"/>
              </a:ext>
            </a:extLst>
          </p:cNvPr>
          <p:cNvSpPr txBox="1">
            <a:spLocks noGrp="1"/>
          </p:cNvSpPr>
          <p:nvPr>
            <p:ph type="sldNum" idx="12"/>
          </p:nvPr>
        </p:nvSpPr>
        <p:spPr>
          <a:xfrm>
            <a:off x="7812360" y="6356350"/>
            <a:ext cx="8745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Calibri" panose="020F0502020204030204" pitchFamily="34" charset="0"/>
                <a:ea typeface="Calibri" panose="020F0502020204030204" pitchFamily="34" charset="0"/>
                <a:cs typeface="Calibri" panose="020F0502020204030204" pitchFamily="34" charset="0"/>
              </a:rPr>
              <a:t>13</a:t>
            </a:fld>
            <a:endParaRPr>
              <a:latin typeface="Calibri" panose="020F0502020204030204" pitchFamily="34" charset="0"/>
              <a:ea typeface="Calibri" panose="020F0502020204030204" pitchFamily="34" charset="0"/>
              <a:cs typeface="Calibri" panose="020F0502020204030204" pitchFamily="34" charset="0"/>
            </a:endParaRPr>
          </a:p>
        </p:txBody>
      </p:sp>
      <p:sp>
        <p:nvSpPr>
          <p:cNvPr id="170" name="Google Shape;170;g3adbed186ce_0_21">
            <a:extLst>
              <a:ext uri="{FF2B5EF4-FFF2-40B4-BE49-F238E27FC236}">
                <a16:creationId xmlns:a16="http://schemas.microsoft.com/office/drawing/2014/main" id="{577FE0E4-4995-D4A5-6EF0-F0057A8636B4}"/>
              </a:ext>
            </a:extLst>
          </p:cNvPr>
          <p:cNvSpPr txBox="1">
            <a:spLocks noGrp="1"/>
          </p:cNvSpPr>
          <p:nvPr>
            <p:ph type="ftr" idx="11"/>
          </p:nvPr>
        </p:nvSpPr>
        <p:spPr>
          <a:xfrm>
            <a:off x="2371936" y="6360554"/>
            <a:ext cx="4400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latin typeface="Calibri" panose="020F0502020204030204" pitchFamily="34" charset="0"/>
                <a:ea typeface="Calibri" panose="020F0502020204030204" pitchFamily="34" charset="0"/>
                <a:cs typeface="Calibri" panose="020F0502020204030204" pitchFamily="34" charset="0"/>
              </a:rPr>
              <a:t>SVECW | Department of Artificial Intelligence| Project Review-4</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71" name="Google Shape;171;g3adbed186ce_0_21">
            <a:extLst>
              <a:ext uri="{FF2B5EF4-FFF2-40B4-BE49-F238E27FC236}">
                <a16:creationId xmlns:a16="http://schemas.microsoft.com/office/drawing/2014/main" id="{C2D408B8-6765-EDA0-F2E4-E9A57C84D6EC}"/>
              </a:ext>
            </a:extLst>
          </p:cNvPr>
          <p:cNvSpPr txBox="1"/>
          <p:nvPr/>
        </p:nvSpPr>
        <p:spPr>
          <a:xfrm>
            <a:off x="323199" y="1062983"/>
            <a:ext cx="8497573" cy="4185731"/>
          </a:xfrm>
          <a:prstGeom prst="rect">
            <a:avLst/>
          </a:prstGeom>
          <a:noFill/>
          <a:ln>
            <a:noFill/>
          </a:ln>
        </p:spPr>
        <p:txBody>
          <a:bodyPr spcFirstLastPara="1" wrap="square" lIns="91425" tIns="91425" rIns="91425" bIns="91425" anchor="t" anchorCtr="0">
            <a:spAutoFit/>
          </a:bodyPr>
          <a:lstStyle/>
          <a:p>
            <a:pPr marL="134493" marR="4038" lvl="0" indent="1676"/>
            <a:r>
              <a:rPr lang="en-IN" sz="2000" b="1" dirty="0">
                <a:latin typeface="Calibri" panose="020F0502020204030204" pitchFamily="34" charset="0"/>
                <a:ea typeface="Calibri" panose="020F0502020204030204" pitchFamily="34" charset="0"/>
                <a:cs typeface="Calibri" panose="020F0502020204030204" pitchFamily="34" charset="0"/>
              </a:rPr>
              <a:t>Explanation - Handwriting</a:t>
            </a:r>
            <a:r>
              <a:rPr lang="en-IN" sz="2000" dirty="0"/>
              <a:t> </a:t>
            </a:r>
            <a:r>
              <a:rPr lang="en-IN" sz="2000" b="1" dirty="0">
                <a:latin typeface="Calibri" panose="020F0502020204030204" pitchFamily="34" charset="0"/>
                <a:ea typeface="Calibri" panose="020F0502020204030204" pitchFamily="34" charset="0"/>
                <a:cs typeface="Calibri" panose="020F0502020204030204" pitchFamily="34" charset="0"/>
              </a:rPr>
              <a:t>Analysis</a:t>
            </a:r>
            <a:r>
              <a:rPr lang="en-IN" sz="2000" dirty="0"/>
              <a:t> </a:t>
            </a:r>
            <a:r>
              <a:rPr lang="en-IN" sz="2000" b="1" dirty="0">
                <a:latin typeface="Calibri" panose="020F0502020204030204" pitchFamily="34" charset="0"/>
                <a:ea typeface="Calibri" panose="020F0502020204030204" pitchFamily="34" charset="0"/>
                <a:cs typeface="Calibri" panose="020F0502020204030204" pitchFamily="34" charset="0"/>
              </a:rPr>
              <a:t>Model:</a:t>
            </a:r>
          </a:p>
          <a:p>
            <a:pPr marL="134493" marR="4038" lvl="0" indent="1676"/>
            <a:endParaRPr lang="en-IN" sz="2000" b="1" dirty="0">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The system begins with collecting video data from CCTV cameras or surveillance datasets containing both violent and non-violent activities.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During preprocessing, the video streams are converted into frames and processed by resizing, normalization, and noise reduction to improve video quality and ensure consistent input.</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Important visual features such as human posture, body movement, and interaction patterns are extracted from the frames using deep learning techniques.</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A hybrid deep learning model (CNN–LSTM) analyzes these features and classifies the video activity as </a:t>
            </a:r>
            <a:r>
              <a:rPr lang="en-US" sz="2000" b="1" dirty="0">
                <a:latin typeface="Times New Roman" panose="02020603050405020304" pitchFamily="18" charset="0"/>
                <a:cs typeface="Times New Roman" panose="02020603050405020304" pitchFamily="18" charset="0"/>
              </a:rPr>
              <a:t>Violence</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Non-Violence</a:t>
            </a:r>
            <a:r>
              <a:rPr lang="en-US" sz="2000" dirty="0">
                <a:latin typeface="Times New Roman" panose="02020603050405020304" pitchFamily="18" charset="0"/>
                <a:cs typeface="Times New Roman" panose="02020603050405020304" pitchFamily="18" charset="0"/>
              </a:rPr>
              <a:t>, enabling automatic detection and alert generation.</a:t>
            </a:r>
            <a:endParaRPr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Date Placeholder 1">
            <a:extLst>
              <a:ext uri="{FF2B5EF4-FFF2-40B4-BE49-F238E27FC236}">
                <a16:creationId xmlns:a16="http://schemas.microsoft.com/office/drawing/2014/main" id="{250DA297-8E0D-B39D-577F-B83715FAA1D6}"/>
              </a:ext>
            </a:extLst>
          </p:cNvPr>
          <p:cNvSpPr>
            <a:spLocks noGrp="1"/>
          </p:cNvSpPr>
          <p:nvPr>
            <p:ph type="dt" idx="10"/>
          </p:nvPr>
        </p:nvSpPr>
        <p:spPr/>
        <p:txBody>
          <a:bodyPr/>
          <a:lstStyle/>
          <a:p>
            <a:r>
              <a:rPr lang="en-US" dirty="0"/>
              <a:t>14/03/2026</a:t>
            </a:r>
            <a:endParaRPr lang="en-IN" dirty="0"/>
          </a:p>
        </p:txBody>
      </p:sp>
    </p:spTree>
    <p:extLst>
      <p:ext uri="{BB962C8B-B14F-4D97-AF65-F5344CB8AC3E}">
        <p14:creationId xmlns:p14="http://schemas.microsoft.com/office/powerpoint/2010/main" val="2162450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107" y="124123"/>
            <a:ext cx="7919703" cy="490066"/>
          </a:xfrm>
          <a:prstGeom prst="rect">
            <a:avLst/>
          </a:prstGeom>
        </p:spPr>
        <p:txBody>
          <a:bodyPr vert="horz" wrap="square" lIns="0" tIns="115316" rIns="0" bIns="0" rtlCol="0">
            <a:spAutoFit/>
          </a:bodyPr>
          <a:lstStyle/>
          <a:p>
            <a:pPr marL="197485">
              <a:lnSpc>
                <a:spcPct val="100000"/>
              </a:lnSpc>
              <a:spcBef>
                <a:spcPts val="125"/>
              </a:spcBef>
            </a:pPr>
            <a:r>
              <a:rPr sz="2600" dirty="0"/>
              <a:t>Dataset</a:t>
            </a:r>
            <a:r>
              <a:rPr sz="2600" spc="-105" dirty="0"/>
              <a:t> </a:t>
            </a:r>
            <a:r>
              <a:rPr sz="2600" spc="-10" dirty="0"/>
              <a:t>Description</a:t>
            </a:r>
            <a:endParaRPr sz="2600" dirty="0"/>
          </a:p>
        </p:txBody>
      </p:sp>
      <p:sp>
        <p:nvSpPr>
          <p:cNvPr id="4" name="object 4"/>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p:cNvSpPr txBox="1">
            <a:spLocks noGrp="1"/>
          </p:cNvSpPr>
          <p:nvPr>
            <p:ph type="sldNum" sz="quarter" idx="7"/>
          </p:nvPr>
        </p:nvSpPr>
        <p:spPr>
          <a:xfrm>
            <a:off x="8409305" y="6472554"/>
            <a:ext cx="380364"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14</a:t>
            </a:fld>
            <a:endParaRPr spc="-25" dirty="0"/>
          </a:p>
        </p:txBody>
      </p:sp>
      <p:sp>
        <p:nvSpPr>
          <p:cNvPr id="3" name="object 3"/>
          <p:cNvSpPr txBox="1"/>
          <p:nvPr/>
        </p:nvSpPr>
        <p:spPr>
          <a:xfrm>
            <a:off x="530942" y="937700"/>
            <a:ext cx="8613058" cy="5207454"/>
          </a:xfrm>
          <a:prstGeom prst="rect">
            <a:avLst/>
          </a:prstGeom>
        </p:spPr>
        <p:txBody>
          <a:bodyPr vert="horz" wrap="square" lIns="0" tIns="16510" rIns="0" bIns="0" rtlCol="0">
            <a:spAutoFit/>
          </a:bodyPr>
          <a:lstStyle/>
          <a:p>
            <a:pPr marL="12700">
              <a:lnSpc>
                <a:spcPct val="100000"/>
              </a:lnSpc>
              <a:spcBef>
                <a:spcPts val="130"/>
              </a:spcBef>
            </a:pPr>
            <a:r>
              <a:rPr sz="2400" b="1" dirty="0">
                <a:solidFill>
                  <a:srgbClr val="C00000"/>
                </a:solidFill>
                <a:latin typeface="Times New Roman" panose="02020603050405020304" pitchFamily="18" charset="0"/>
                <a:cs typeface="Times New Roman" panose="02020603050405020304" pitchFamily="18" charset="0"/>
              </a:rPr>
              <a:t>Dataset</a:t>
            </a:r>
            <a:r>
              <a:rPr sz="2400" b="1" spc="-85" dirty="0">
                <a:solidFill>
                  <a:srgbClr val="C00000"/>
                </a:solidFill>
                <a:latin typeface="Times New Roman" panose="02020603050405020304" pitchFamily="18" charset="0"/>
                <a:cs typeface="Times New Roman" panose="02020603050405020304" pitchFamily="18" charset="0"/>
              </a:rPr>
              <a:t> </a:t>
            </a:r>
            <a:r>
              <a:rPr sz="2400" b="1" spc="-10" dirty="0">
                <a:solidFill>
                  <a:srgbClr val="C00000"/>
                </a:solidFill>
                <a:latin typeface="Times New Roman" panose="02020603050405020304" pitchFamily="18" charset="0"/>
                <a:cs typeface="Times New Roman" panose="02020603050405020304" pitchFamily="18" charset="0"/>
              </a:rPr>
              <a:t>Overview</a:t>
            </a:r>
            <a:endParaRPr sz="2400" dirty="0">
              <a:latin typeface="Times New Roman" panose="02020603050405020304" pitchFamily="18" charset="0"/>
              <a:cs typeface="Times New Roman" panose="02020603050405020304" pitchFamily="18" charset="0"/>
            </a:endParaRPr>
          </a:p>
          <a:p>
            <a:pPr marL="551815" indent="-342900">
              <a:spcBef>
                <a:spcPts val="1795"/>
              </a:spcBef>
              <a:buFont typeface="Wingdings"/>
              <a:buChar char=""/>
              <a:tabLst>
                <a:tab pos="551815" algn="l"/>
              </a:tabLst>
            </a:pPr>
            <a:r>
              <a:rPr lang="en-US" sz="1900" dirty="0">
                <a:latin typeface="Times New Roman" panose="02020603050405020304" pitchFamily="18" charset="0"/>
                <a:cs typeface="Times New Roman" panose="02020603050405020304" pitchFamily="18" charset="0"/>
              </a:rPr>
              <a:t>The dataset used in this project is the </a:t>
            </a:r>
            <a:r>
              <a:rPr lang="en-US" sz="1900" b="1" dirty="0">
                <a:latin typeface="Times New Roman" panose="02020603050405020304" pitchFamily="18" charset="0"/>
                <a:cs typeface="Times New Roman" panose="02020603050405020304" pitchFamily="18" charset="0"/>
              </a:rPr>
              <a:t>RWF-2000 (Real-World Fight Dataset)</a:t>
            </a:r>
            <a:r>
              <a:rPr lang="en-US" sz="1900" dirty="0">
                <a:latin typeface="Times New Roman" panose="02020603050405020304" pitchFamily="18" charset="0"/>
                <a:cs typeface="Times New Roman" panose="02020603050405020304" pitchFamily="18" charset="0"/>
              </a:rPr>
              <a:t>.</a:t>
            </a:r>
          </a:p>
          <a:p>
            <a:pPr marL="551815" indent="-342900">
              <a:spcBef>
                <a:spcPts val="1795"/>
              </a:spcBef>
              <a:buFont typeface="Wingdings"/>
              <a:buChar char=""/>
              <a:tabLst>
                <a:tab pos="551815" algn="l"/>
              </a:tabLst>
            </a:pPr>
            <a:r>
              <a:rPr lang="en-US" sz="1900" dirty="0">
                <a:latin typeface="Times New Roman" panose="02020603050405020304" pitchFamily="18" charset="0"/>
                <a:cs typeface="Times New Roman" panose="02020603050405020304" pitchFamily="18" charset="0"/>
              </a:rPr>
              <a:t>It is a publicly available benchmark dataset designed for </a:t>
            </a:r>
            <a:r>
              <a:rPr lang="en-US" sz="1900" b="1" dirty="0">
                <a:latin typeface="Times New Roman" panose="02020603050405020304" pitchFamily="18" charset="0"/>
                <a:cs typeface="Times New Roman" panose="02020603050405020304" pitchFamily="18" charset="0"/>
              </a:rPr>
              <a:t>violence detection in surveillance videos</a:t>
            </a:r>
            <a:r>
              <a:rPr lang="en-US" sz="1900" dirty="0">
                <a:latin typeface="Times New Roman" panose="02020603050405020304" pitchFamily="18" charset="0"/>
                <a:cs typeface="Times New Roman" panose="02020603050405020304" pitchFamily="18" charset="0"/>
              </a:rPr>
              <a:t>.</a:t>
            </a:r>
          </a:p>
          <a:p>
            <a:pPr marL="551815" indent="-342900">
              <a:spcBef>
                <a:spcPts val="1795"/>
              </a:spcBef>
              <a:buFont typeface="Wingdings"/>
              <a:buChar char=""/>
              <a:tabLst>
                <a:tab pos="551815" algn="l"/>
              </a:tabLst>
            </a:pPr>
            <a:r>
              <a:rPr lang="en-US" sz="1900" dirty="0">
                <a:latin typeface="Times New Roman" panose="02020603050405020304" pitchFamily="18" charset="0"/>
                <a:cs typeface="Times New Roman" panose="02020603050405020304" pitchFamily="18" charset="0"/>
              </a:rPr>
              <a:t>The dataset contains real CCTV footage capturing both </a:t>
            </a:r>
            <a:r>
              <a:rPr lang="en-US" sz="1900" b="1" dirty="0">
                <a:latin typeface="Times New Roman" panose="02020603050405020304" pitchFamily="18" charset="0"/>
                <a:cs typeface="Times New Roman" panose="02020603050405020304" pitchFamily="18" charset="0"/>
              </a:rPr>
              <a:t>violent and non-violent human activities</a:t>
            </a:r>
            <a:r>
              <a:rPr lang="en-US" sz="1900" dirty="0">
                <a:latin typeface="Times New Roman" panose="02020603050405020304" pitchFamily="18" charset="0"/>
                <a:cs typeface="Times New Roman" panose="02020603050405020304" pitchFamily="18" charset="0"/>
              </a:rPr>
              <a:t>.</a:t>
            </a:r>
          </a:p>
          <a:p>
            <a:pPr marL="551815" indent="-342900">
              <a:spcBef>
                <a:spcPts val="1795"/>
              </a:spcBef>
              <a:buFont typeface="Wingdings"/>
              <a:buChar char=""/>
              <a:tabLst>
                <a:tab pos="551815" algn="l"/>
              </a:tabLst>
            </a:pPr>
            <a:r>
              <a:rPr lang="en-US" sz="1900" dirty="0">
                <a:latin typeface="Times New Roman" panose="02020603050405020304" pitchFamily="18" charset="0"/>
                <a:cs typeface="Times New Roman" panose="02020603050405020304" pitchFamily="18" charset="0"/>
              </a:rPr>
              <a:t>These videos are collected from real-world environments such as streets, public places, and crowded areas.</a:t>
            </a:r>
          </a:p>
          <a:p>
            <a:pPr marL="551815" indent="-342900">
              <a:spcBef>
                <a:spcPts val="1795"/>
              </a:spcBef>
              <a:buFont typeface="Wingdings"/>
              <a:buChar char=""/>
              <a:tabLst>
                <a:tab pos="551815" algn="l"/>
              </a:tabLst>
            </a:pPr>
            <a:r>
              <a:rPr lang="en-US" sz="1900" dirty="0">
                <a:latin typeface="Times New Roman" panose="02020603050405020304" pitchFamily="18" charset="0"/>
                <a:cs typeface="Times New Roman" panose="02020603050405020304" pitchFamily="18" charset="0"/>
              </a:rPr>
              <a:t>The dataset is specifically designed to represent </a:t>
            </a:r>
            <a:r>
              <a:rPr lang="en-US" sz="1900" b="1" dirty="0">
                <a:latin typeface="Times New Roman" panose="02020603050405020304" pitchFamily="18" charset="0"/>
                <a:cs typeface="Times New Roman" panose="02020603050405020304" pitchFamily="18" charset="0"/>
              </a:rPr>
              <a:t>real surveillance conditions</a:t>
            </a:r>
            <a:r>
              <a:rPr lang="en-US" sz="1900" dirty="0">
                <a:latin typeface="Times New Roman" panose="02020603050405020304" pitchFamily="18" charset="0"/>
                <a:cs typeface="Times New Roman" panose="02020603050405020304" pitchFamily="18" charset="0"/>
              </a:rPr>
              <a:t>, including camera motion, lighting variations, crowd movement, and occlusions.</a:t>
            </a:r>
          </a:p>
          <a:p>
            <a:pPr marL="551815" marR="459740" indent="-343535" algn="just">
              <a:lnSpc>
                <a:spcPct val="102200"/>
              </a:lnSpc>
              <a:buFont typeface="Wingdings"/>
              <a:buChar char=""/>
              <a:tabLst>
                <a:tab pos="551815" algn="l"/>
              </a:tabLst>
            </a:pPr>
            <a:r>
              <a:rPr lang="en-US" sz="1900" dirty="0">
                <a:latin typeface="Times New Roman" panose="02020603050405020304" pitchFamily="18" charset="0"/>
                <a:cs typeface="Times New Roman" panose="02020603050405020304" pitchFamily="18" charset="0"/>
              </a:rPr>
              <a:t>The video clips contain different types of human interactions that help deep learning models learn patterns of </a:t>
            </a:r>
            <a:r>
              <a:rPr lang="en-US" sz="1900" b="1" dirty="0">
                <a:latin typeface="Times New Roman" panose="02020603050405020304" pitchFamily="18" charset="0"/>
                <a:cs typeface="Times New Roman" panose="02020603050405020304" pitchFamily="18" charset="0"/>
              </a:rPr>
              <a:t>violent and normal behavior</a:t>
            </a:r>
            <a:r>
              <a:rPr lang="en-US" sz="1900" dirty="0">
                <a:latin typeface="Times New Roman" panose="02020603050405020304" pitchFamily="18" charset="0"/>
                <a:cs typeface="Times New Roman" panose="02020603050405020304" pitchFamily="18" charset="0"/>
              </a:rPr>
              <a:t>.</a:t>
            </a:r>
          </a:p>
          <a:p>
            <a:pPr marL="208280" marR="459740" algn="just">
              <a:lnSpc>
                <a:spcPct val="102200"/>
              </a:lnSpc>
              <a:tabLst>
                <a:tab pos="551815" algn="l"/>
              </a:tabLst>
            </a:pPr>
            <a:endParaRPr sz="21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6575" y="1034434"/>
            <a:ext cx="7774305" cy="4053033"/>
          </a:xfrm>
          <a:prstGeom prst="rect">
            <a:avLst/>
          </a:prstGeom>
        </p:spPr>
        <p:txBody>
          <a:bodyPr vert="horz" wrap="square" lIns="0" tIns="15875" rIns="0" bIns="0" rtlCol="0">
            <a:spAutoFit/>
          </a:bodyPr>
          <a:lstStyle/>
          <a:p>
            <a:pPr marL="12700">
              <a:lnSpc>
                <a:spcPct val="100000"/>
              </a:lnSpc>
              <a:spcBef>
                <a:spcPts val="125"/>
              </a:spcBef>
            </a:pPr>
            <a:r>
              <a:rPr sz="2150" b="1" dirty="0">
                <a:solidFill>
                  <a:srgbClr val="C00000"/>
                </a:solidFill>
                <a:latin typeface="+mj-lt"/>
                <a:cs typeface="Arial"/>
              </a:rPr>
              <a:t>Dataset</a:t>
            </a:r>
            <a:r>
              <a:rPr sz="2150" b="1" spc="90" dirty="0">
                <a:solidFill>
                  <a:srgbClr val="C00000"/>
                </a:solidFill>
                <a:latin typeface="+mj-lt"/>
                <a:cs typeface="Arial"/>
              </a:rPr>
              <a:t> </a:t>
            </a:r>
            <a:r>
              <a:rPr sz="2150" b="1" dirty="0">
                <a:solidFill>
                  <a:srgbClr val="C00000"/>
                </a:solidFill>
                <a:latin typeface="+mj-lt"/>
                <a:cs typeface="Arial"/>
              </a:rPr>
              <a:t>Statistics</a:t>
            </a:r>
            <a:r>
              <a:rPr sz="2150" b="1" spc="70" dirty="0">
                <a:solidFill>
                  <a:srgbClr val="C00000"/>
                </a:solidFill>
                <a:latin typeface="+mj-lt"/>
                <a:cs typeface="Arial"/>
              </a:rPr>
              <a:t> </a:t>
            </a:r>
            <a:r>
              <a:rPr sz="2150" b="1" dirty="0">
                <a:solidFill>
                  <a:srgbClr val="C00000"/>
                </a:solidFill>
                <a:latin typeface="+mj-lt"/>
                <a:cs typeface="Arial"/>
              </a:rPr>
              <a:t>&amp;</a:t>
            </a:r>
            <a:r>
              <a:rPr sz="2150" b="1" spc="155" dirty="0">
                <a:solidFill>
                  <a:srgbClr val="C00000"/>
                </a:solidFill>
                <a:latin typeface="+mj-lt"/>
                <a:cs typeface="Arial"/>
              </a:rPr>
              <a:t> </a:t>
            </a:r>
            <a:r>
              <a:rPr sz="2150" b="1" spc="-10" dirty="0">
                <a:solidFill>
                  <a:srgbClr val="C00000"/>
                </a:solidFill>
                <a:latin typeface="+mj-lt"/>
                <a:cs typeface="Arial"/>
              </a:rPr>
              <a:t>Examples</a:t>
            </a:r>
            <a:endParaRPr lang="en-IN" sz="2150" spc="-10" dirty="0">
              <a:solidFill>
                <a:srgbClr val="C00000"/>
              </a:solidFill>
              <a:latin typeface="+mj-lt"/>
            </a:endParaRPr>
          </a:p>
          <a:p>
            <a:pPr marL="355600" indent="-342900">
              <a:lnSpc>
                <a:spcPct val="100000"/>
              </a:lnSpc>
              <a:spcBef>
                <a:spcPts val="125"/>
              </a:spcBef>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Total videos:</a:t>
            </a:r>
            <a:r>
              <a:rPr lang="en-IN" sz="2000" dirty="0">
                <a:latin typeface="Times New Roman" panose="02020603050405020304" pitchFamily="18" charset="0"/>
                <a:cs typeface="Times New Roman" panose="02020603050405020304" pitchFamily="18" charset="0"/>
              </a:rPr>
              <a:t> 2,000 surveillance video clips</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Violent videos:</a:t>
            </a:r>
            <a:r>
              <a:rPr lang="en-IN" sz="2000" dirty="0">
                <a:latin typeface="Times New Roman" panose="02020603050405020304" pitchFamily="18" charset="0"/>
                <a:cs typeface="Times New Roman" panose="02020603050405020304" pitchFamily="18" charset="0"/>
              </a:rPr>
              <a:t> 1,000 clips containing fight scenes</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Non-violent videos:</a:t>
            </a:r>
            <a:r>
              <a:rPr lang="en-IN" sz="2000" dirty="0">
                <a:latin typeface="Times New Roman" panose="02020603050405020304" pitchFamily="18" charset="0"/>
                <a:cs typeface="Times New Roman" panose="02020603050405020304" pitchFamily="18" charset="0"/>
              </a:rPr>
              <a:t> 1,000 clips showing normal human activities</a:t>
            </a:r>
          </a:p>
          <a:p>
            <a:pPr marL="342900" indent="-342900">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Class distribution:</a:t>
            </a:r>
            <a:r>
              <a:rPr lang="en-IN" sz="2000" dirty="0">
                <a:latin typeface="Times New Roman" panose="02020603050405020304" pitchFamily="18" charset="0"/>
                <a:cs typeface="Times New Roman" panose="02020603050405020304" pitchFamily="18" charset="0"/>
              </a:rPr>
              <a:t> Balanced dataset (50% violence, 50% non-violence)</a:t>
            </a:r>
          </a:p>
          <a:p>
            <a:pPr marL="342900" indent="-342900">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Video Characteristics:</a:t>
            </a:r>
            <a:endParaRPr lang="en-IN"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Short surveillance video clips</a:t>
            </a: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Indoor and outdoor environments</a:t>
            </a: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Different lighting conditions</a:t>
            </a:r>
          </a:p>
          <a:p>
            <a:pPr marL="342900" indent="-34290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Various camera angles and crowd movements</a:t>
            </a:r>
          </a:p>
          <a:p>
            <a:pPr marL="342900" indent="-342900">
              <a:buFont typeface="Wingdings" panose="05000000000000000000" pitchFamily="2" charset="2"/>
              <a:buChar char="v"/>
            </a:pPr>
            <a:r>
              <a:rPr lang="en-IN" sz="2000" b="1" dirty="0">
                <a:latin typeface="Times New Roman" panose="02020603050405020304" pitchFamily="18" charset="0"/>
                <a:cs typeface="Times New Roman" panose="02020603050405020304" pitchFamily="18" charset="0"/>
              </a:rPr>
              <a:t>Example Activities:</a:t>
            </a:r>
          </a:p>
          <a:p>
            <a:r>
              <a:rPr lang="en-US" sz="2000" dirty="0">
                <a:latin typeface="Times New Roman" panose="02020603050405020304" pitchFamily="18" charset="0"/>
                <a:cs typeface="Times New Roman" panose="02020603050405020304" pitchFamily="18" charset="0"/>
              </a:rPr>
              <a:t>       Violent Scene → Physical fight between individuals</a:t>
            </a:r>
          </a:p>
          <a:p>
            <a:r>
              <a:rPr lang="en-US" sz="2000" dirty="0">
                <a:latin typeface="Times New Roman" panose="02020603050405020304" pitchFamily="18" charset="0"/>
                <a:cs typeface="Times New Roman" panose="02020603050405020304" pitchFamily="18" charset="0"/>
              </a:rPr>
              <a:t>        Non-Violent Scene → Normal walking, talking, or crowd movement</a:t>
            </a:r>
            <a:endParaRPr lang="en-IN" sz="2000" b="1"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p:cNvSpPr txBox="1">
            <a:spLocks noGrp="1"/>
          </p:cNvSpPr>
          <p:nvPr>
            <p:ph type="sldNum" sz="quarter" idx="7"/>
          </p:nvPr>
        </p:nvSpPr>
        <p:spPr>
          <a:xfrm>
            <a:off x="8409305" y="6472554"/>
            <a:ext cx="34140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15</a:t>
            </a:fld>
            <a:endParaRPr spc="-25" dirty="0"/>
          </a:p>
        </p:txBody>
      </p:sp>
      <p:sp>
        <p:nvSpPr>
          <p:cNvPr id="3" name="object 3"/>
          <p:cNvSpPr txBox="1">
            <a:spLocks noGrp="1"/>
          </p:cNvSpPr>
          <p:nvPr>
            <p:ph type="title"/>
          </p:nvPr>
        </p:nvSpPr>
        <p:spPr>
          <a:xfrm>
            <a:off x="536575" y="156526"/>
            <a:ext cx="8021272" cy="450059"/>
          </a:xfrm>
          <a:prstGeom prst="rect">
            <a:avLst/>
          </a:prstGeom>
        </p:spPr>
        <p:txBody>
          <a:bodyPr vert="horz" wrap="square" lIns="0" tIns="67246" rIns="0" bIns="0" rtlCol="0">
            <a:spAutoFit/>
          </a:bodyPr>
          <a:lstStyle/>
          <a:p>
            <a:pPr marL="12700">
              <a:lnSpc>
                <a:spcPct val="100000"/>
              </a:lnSpc>
              <a:spcBef>
                <a:spcPts val="105"/>
              </a:spcBef>
            </a:pPr>
            <a:r>
              <a:rPr dirty="0"/>
              <a:t>Dataset</a:t>
            </a:r>
            <a:r>
              <a:rPr spc="-90" dirty="0"/>
              <a:t> </a:t>
            </a:r>
            <a:r>
              <a:rPr spc="-10" dirty="0"/>
              <a:t>Description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49645-4227-70B0-381D-C4CF3E7C317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6DFCD48-3958-2520-0860-715192E16754}"/>
              </a:ext>
            </a:extLst>
          </p:cNvPr>
          <p:cNvSpPr txBox="1"/>
          <p:nvPr/>
        </p:nvSpPr>
        <p:spPr>
          <a:xfrm>
            <a:off x="557846" y="1037392"/>
            <a:ext cx="8028305" cy="4963538"/>
          </a:xfrm>
          <a:prstGeom prst="rect">
            <a:avLst/>
          </a:prstGeom>
        </p:spPr>
        <p:txBody>
          <a:bodyPr vert="horz" wrap="square" lIns="0" tIns="15875" rIns="0" bIns="0" rtlCol="0">
            <a:spAutoFit/>
          </a:bodyPr>
          <a:lstStyle/>
          <a:p>
            <a:pPr marL="12700">
              <a:lnSpc>
                <a:spcPct val="100000"/>
              </a:lnSpc>
              <a:spcBef>
                <a:spcPts val="125"/>
              </a:spcBef>
            </a:pPr>
            <a:r>
              <a:rPr sz="2200" b="1" dirty="0">
                <a:solidFill>
                  <a:srgbClr val="C00000"/>
                </a:solidFill>
                <a:latin typeface="Times New Roman" panose="02020603050405020304" pitchFamily="18" charset="0"/>
                <a:cs typeface="Times New Roman" panose="02020603050405020304" pitchFamily="18" charset="0"/>
              </a:rPr>
              <a:t>Dataset</a:t>
            </a:r>
            <a:r>
              <a:rPr lang="en-IN" sz="2200" b="1" dirty="0">
                <a:solidFill>
                  <a:srgbClr val="C00000"/>
                </a:solidFill>
                <a:latin typeface="Times New Roman" panose="02020603050405020304" pitchFamily="18" charset="0"/>
                <a:cs typeface="Times New Roman" panose="02020603050405020304" pitchFamily="18" charset="0"/>
              </a:rPr>
              <a:t> – Video Data Analysis</a:t>
            </a:r>
            <a:endParaRPr sz="22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Before training the deep learning model, the video data undergoes several preprocessing steps.</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Frame Extraction: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Each video is converted into multiple frames to allow frame-by-frame analysis.</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Frame Preprocessing: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Frames are resized and normalized to maintain consistent input for the model.</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Sequence Creation: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Frames are grouped into </a:t>
            </a:r>
            <a:r>
              <a:rPr lang="en-US" sz="2000" b="1" dirty="0">
                <a:latin typeface="Times New Roman" panose="02020603050405020304" pitchFamily="18" charset="0"/>
                <a:cs typeface="Times New Roman" panose="02020603050405020304" pitchFamily="18" charset="0"/>
              </a:rPr>
              <a:t>16-frame sequences</a:t>
            </a:r>
            <a:r>
              <a:rPr lang="en-US" sz="2000" dirty="0">
                <a:latin typeface="Times New Roman" panose="02020603050405020304" pitchFamily="18" charset="0"/>
                <a:cs typeface="Times New Roman" panose="02020603050405020304" pitchFamily="18" charset="0"/>
              </a:rPr>
              <a:t> to capture temporal motion patterns.</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Feature Representation: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These frame sequences are used as input to the </a:t>
            </a:r>
            <a:r>
              <a:rPr lang="en-US" sz="2000" b="1" dirty="0">
                <a:latin typeface="Times New Roman" panose="02020603050405020304" pitchFamily="18" charset="0"/>
                <a:cs typeface="Times New Roman" panose="02020603050405020304" pitchFamily="18" charset="0"/>
              </a:rPr>
              <a:t>CNN-LSTM deep learning model</a:t>
            </a:r>
            <a:r>
              <a:rPr lang="en-US" sz="2000" dirty="0">
                <a:latin typeface="Times New Roman" panose="02020603050405020304" pitchFamily="18" charset="0"/>
                <a:cs typeface="Times New Roman" panose="02020603050405020304" pitchFamily="18" charset="0"/>
              </a:rPr>
              <a:t>, which learns spatial features (from CNN) and motion patterns (from LSTM) for accurate violence detection.</a:t>
            </a:r>
          </a:p>
        </p:txBody>
      </p:sp>
      <p:sp>
        <p:nvSpPr>
          <p:cNvPr id="4" name="object 4">
            <a:extLst>
              <a:ext uri="{FF2B5EF4-FFF2-40B4-BE49-F238E27FC236}">
                <a16:creationId xmlns:a16="http://schemas.microsoft.com/office/drawing/2014/main" id="{91AEAFD4-653D-02CF-08F5-52AC5F36FF49}"/>
              </a:ext>
            </a:extLst>
          </p:cNvPr>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a:extLst>
              <a:ext uri="{FF2B5EF4-FFF2-40B4-BE49-F238E27FC236}">
                <a16:creationId xmlns:a16="http://schemas.microsoft.com/office/drawing/2014/main" id="{D40051DF-2405-5FB3-ACD8-C85FFD44013C}"/>
              </a:ext>
            </a:extLst>
          </p:cNvPr>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a:extLst>
              <a:ext uri="{FF2B5EF4-FFF2-40B4-BE49-F238E27FC236}">
                <a16:creationId xmlns:a16="http://schemas.microsoft.com/office/drawing/2014/main" id="{41FB21CE-F6B3-6C9F-CA79-F52B5CD30AB3}"/>
              </a:ext>
            </a:extLst>
          </p:cNvPr>
          <p:cNvSpPr txBox="1">
            <a:spLocks noGrp="1"/>
          </p:cNvSpPr>
          <p:nvPr>
            <p:ph type="sldNum" sz="quarter" idx="7"/>
          </p:nvPr>
        </p:nvSpPr>
        <p:spPr>
          <a:xfrm>
            <a:off x="8409305" y="6472554"/>
            <a:ext cx="34140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16</a:t>
            </a:fld>
            <a:endParaRPr spc="-25" dirty="0"/>
          </a:p>
        </p:txBody>
      </p:sp>
      <p:sp>
        <p:nvSpPr>
          <p:cNvPr id="3" name="object 3">
            <a:extLst>
              <a:ext uri="{FF2B5EF4-FFF2-40B4-BE49-F238E27FC236}">
                <a16:creationId xmlns:a16="http://schemas.microsoft.com/office/drawing/2014/main" id="{BC77F073-D357-906E-0292-600F98BCBBA7}"/>
              </a:ext>
            </a:extLst>
          </p:cNvPr>
          <p:cNvSpPr txBox="1">
            <a:spLocks noGrp="1"/>
          </p:cNvSpPr>
          <p:nvPr>
            <p:ph type="title"/>
          </p:nvPr>
        </p:nvSpPr>
        <p:spPr>
          <a:xfrm>
            <a:off x="557846" y="120881"/>
            <a:ext cx="7919703" cy="490066"/>
          </a:xfrm>
          <a:prstGeom prst="rect">
            <a:avLst/>
          </a:prstGeom>
        </p:spPr>
        <p:txBody>
          <a:bodyPr vert="horz" wrap="square" lIns="0" tIns="67246" rIns="0" bIns="0" rtlCol="0">
            <a:spAutoFit/>
          </a:bodyPr>
          <a:lstStyle/>
          <a:p>
            <a:pPr marL="12700">
              <a:lnSpc>
                <a:spcPct val="100000"/>
              </a:lnSpc>
              <a:spcBef>
                <a:spcPts val="105"/>
              </a:spcBef>
            </a:pPr>
            <a:r>
              <a:rPr dirty="0"/>
              <a:t>Dataset</a:t>
            </a:r>
            <a:r>
              <a:rPr spc="-90" dirty="0"/>
              <a:t> </a:t>
            </a:r>
            <a:r>
              <a:rPr spc="-10" dirty="0"/>
              <a:t>Description</a:t>
            </a:r>
          </a:p>
        </p:txBody>
      </p:sp>
    </p:spTree>
    <p:extLst>
      <p:ext uri="{BB962C8B-B14F-4D97-AF65-F5344CB8AC3E}">
        <p14:creationId xmlns:p14="http://schemas.microsoft.com/office/powerpoint/2010/main" val="1311915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2128" y="178886"/>
            <a:ext cx="7919703" cy="442492"/>
          </a:xfrm>
          <a:prstGeom prst="rect">
            <a:avLst/>
          </a:prstGeom>
        </p:spPr>
        <p:txBody>
          <a:bodyPr vert="horz" wrap="square" lIns="0" tIns="59753" rIns="0" bIns="0" rtlCol="0">
            <a:spAutoFit/>
          </a:bodyPr>
          <a:lstStyle/>
          <a:p>
            <a:pPr marL="99695">
              <a:lnSpc>
                <a:spcPct val="100000"/>
              </a:lnSpc>
              <a:spcBef>
                <a:spcPts val="130"/>
              </a:spcBef>
            </a:pPr>
            <a:r>
              <a:rPr dirty="0"/>
              <a:t>Data</a:t>
            </a:r>
            <a:r>
              <a:rPr spc="50" dirty="0"/>
              <a:t> </a:t>
            </a:r>
            <a:r>
              <a:rPr spc="-10" dirty="0"/>
              <a:t>Preparation</a:t>
            </a:r>
            <a:endParaRPr dirty="0"/>
          </a:p>
        </p:txBody>
      </p:sp>
      <p:sp>
        <p:nvSpPr>
          <p:cNvPr id="4" name="object 4"/>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p:cNvSpPr txBox="1">
            <a:spLocks noGrp="1"/>
          </p:cNvSpPr>
          <p:nvPr>
            <p:ph type="sldNum" sz="quarter" idx="7"/>
          </p:nvPr>
        </p:nvSpPr>
        <p:spPr>
          <a:xfrm>
            <a:off x="8409305" y="6472554"/>
            <a:ext cx="370901"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17</a:t>
            </a:fld>
            <a:endParaRPr spc="-25" dirty="0"/>
          </a:p>
        </p:txBody>
      </p:sp>
      <p:sp>
        <p:nvSpPr>
          <p:cNvPr id="3" name="object 3"/>
          <p:cNvSpPr txBox="1"/>
          <p:nvPr/>
        </p:nvSpPr>
        <p:spPr>
          <a:xfrm>
            <a:off x="577850" y="1155517"/>
            <a:ext cx="7988300" cy="4182107"/>
          </a:xfrm>
          <a:prstGeom prst="rect">
            <a:avLst/>
          </a:prstGeom>
        </p:spPr>
        <p:txBody>
          <a:bodyPr vert="horz" wrap="square" lIns="0" tIns="12700" rIns="0" bIns="0" rtlCol="0">
            <a:spAutoFit/>
          </a:bodyPr>
          <a:lstStyle/>
          <a:p>
            <a:pPr marL="12700">
              <a:lnSpc>
                <a:spcPct val="100000"/>
              </a:lnSpc>
              <a:spcBef>
                <a:spcPts val="100"/>
              </a:spcBef>
            </a:pPr>
            <a:r>
              <a:rPr lang="en-IN" sz="2400" b="1" spc="-60" dirty="0">
                <a:solidFill>
                  <a:srgbClr val="C00000"/>
                </a:solidFill>
              </a:rPr>
              <a:t>Video</a:t>
            </a:r>
            <a:r>
              <a:rPr sz="2400" b="1" spc="-60" dirty="0">
                <a:solidFill>
                  <a:srgbClr val="C00000"/>
                </a:solidFill>
                <a:latin typeface="Arial"/>
                <a:cs typeface="Arial"/>
              </a:rPr>
              <a:t> </a:t>
            </a:r>
            <a:r>
              <a:rPr sz="2400" b="1" dirty="0">
                <a:solidFill>
                  <a:srgbClr val="C00000"/>
                </a:solidFill>
                <a:latin typeface="Arial"/>
                <a:cs typeface="Arial"/>
              </a:rPr>
              <a:t>Data</a:t>
            </a:r>
            <a:r>
              <a:rPr sz="2400" b="1" spc="-70" dirty="0">
                <a:solidFill>
                  <a:srgbClr val="C00000"/>
                </a:solidFill>
                <a:latin typeface="Arial"/>
                <a:cs typeface="Arial"/>
              </a:rPr>
              <a:t> </a:t>
            </a:r>
            <a:r>
              <a:rPr sz="2400" b="1" spc="-10" dirty="0">
                <a:solidFill>
                  <a:srgbClr val="C00000"/>
                </a:solidFill>
                <a:latin typeface="Arial"/>
                <a:cs typeface="Arial"/>
              </a:rPr>
              <a:t>Preprocessing</a:t>
            </a:r>
            <a:endParaRPr lang="en-IN" sz="2400" b="1" spc="-10" dirty="0">
              <a:solidFill>
                <a:srgbClr val="C00000"/>
              </a:solidFill>
              <a:latin typeface="Arial"/>
              <a:cs typeface="Arial"/>
            </a:endParaRPr>
          </a:p>
          <a:p>
            <a:pPr marL="12700">
              <a:lnSpc>
                <a:spcPct val="100000"/>
              </a:lnSpc>
              <a:spcBef>
                <a:spcPts val="100"/>
              </a:spcBef>
            </a:pPr>
            <a:endParaRPr sz="2400" dirty="0">
              <a:latin typeface="Arial"/>
              <a:cs typeface="Arial"/>
            </a:endParaRPr>
          </a:p>
          <a:p>
            <a:pPr marL="703580" indent="-342265">
              <a:lnSpc>
                <a:spcPts val="2730"/>
              </a:lnSpc>
              <a:spcBef>
                <a:spcPts val="20"/>
              </a:spcBef>
              <a:buFont typeface="Wingdings"/>
              <a:buChar char=""/>
              <a:tabLst>
                <a:tab pos="70358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Background noise and silent segments were removed to improve signal quality</a:t>
            </a:r>
            <a:r>
              <a:rPr sz="2000" spc="-10" dirty="0">
                <a:latin typeface="Times New Roman" panose="02020603050405020304" pitchFamily="18" charset="0"/>
                <a:ea typeface="Calibri" panose="020F0502020204030204" pitchFamily="34" charset="0"/>
                <a:cs typeface="Times New Roman" panose="02020603050405020304" pitchFamily="18" charset="0"/>
              </a:rPr>
              <a:t>.</a:t>
            </a:r>
            <a:endParaRPr sz="2000" dirty="0">
              <a:latin typeface="Times New Roman" panose="02020603050405020304" pitchFamily="18" charset="0"/>
              <a:ea typeface="Calibri" panose="020F0502020204030204" pitchFamily="34" charset="0"/>
              <a:cs typeface="Times New Roman" panose="02020603050405020304" pitchFamily="18" charset="0"/>
            </a:endParaRPr>
          </a:p>
          <a:p>
            <a:pPr marL="703580" indent="-342265">
              <a:lnSpc>
                <a:spcPts val="2695"/>
              </a:lnSpc>
              <a:buFont typeface="Wingdings"/>
              <a:buChar char=""/>
              <a:tabLst>
                <a:tab pos="703580" algn="l"/>
              </a:tabLst>
            </a:pPr>
            <a:r>
              <a:rPr lang="en-US" sz="2000" dirty="0">
                <a:latin typeface="Times New Roman" panose="02020603050405020304" pitchFamily="18" charset="0"/>
                <a:cs typeface="Times New Roman" panose="02020603050405020304" pitchFamily="18" charset="0"/>
              </a:rPr>
              <a:t>The videos were divided into </a:t>
            </a:r>
            <a:r>
              <a:rPr lang="en-US" sz="2000" b="1" dirty="0">
                <a:latin typeface="Times New Roman" panose="02020603050405020304" pitchFamily="18" charset="0"/>
                <a:cs typeface="Times New Roman" panose="02020603050405020304" pitchFamily="18" charset="0"/>
              </a:rPr>
              <a:t>individual frames</a:t>
            </a:r>
            <a:r>
              <a:rPr lang="en-US" sz="2000" dirty="0">
                <a:latin typeface="Times New Roman" panose="02020603050405020304" pitchFamily="18" charset="0"/>
                <a:cs typeface="Times New Roman" panose="02020603050405020304" pitchFamily="18" charset="0"/>
              </a:rPr>
              <a:t> to enable detailed frame-by-frame analysis of human activities.</a:t>
            </a:r>
          </a:p>
          <a:p>
            <a:pPr marL="703580" indent="-342265">
              <a:lnSpc>
                <a:spcPts val="2695"/>
              </a:lnSpc>
              <a:buFont typeface="Wingdings"/>
              <a:buChar char=""/>
              <a:tabLst>
                <a:tab pos="703580" algn="l"/>
              </a:tabLst>
            </a:pPr>
            <a:r>
              <a:rPr lang="en-US" sz="2000" dirty="0">
                <a:latin typeface="Times New Roman" panose="02020603050405020304" pitchFamily="18" charset="0"/>
                <a:cs typeface="Times New Roman" panose="02020603050405020304" pitchFamily="18" charset="0"/>
              </a:rPr>
              <a:t>Each frame was </a:t>
            </a:r>
            <a:r>
              <a:rPr lang="en-US" sz="2000" b="1" dirty="0">
                <a:latin typeface="Times New Roman" panose="02020603050405020304" pitchFamily="18" charset="0"/>
                <a:cs typeface="Times New Roman" panose="02020603050405020304" pitchFamily="18" charset="0"/>
              </a:rPr>
              <a:t>resized and normalized</a:t>
            </a:r>
            <a:r>
              <a:rPr lang="en-US" sz="2000" dirty="0">
                <a:latin typeface="Times New Roman" panose="02020603050405020304" pitchFamily="18" charset="0"/>
                <a:cs typeface="Times New Roman" panose="02020603050405020304" pitchFamily="18" charset="0"/>
              </a:rPr>
              <a:t> to a fixed dimension to maintain consistency for deep learning model input</a:t>
            </a:r>
            <a:r>
              <a:rPr lang="en-US" sz="2400" dirty="0"/>
              <a:t>.</a:t>
            </a:r>
          </a:p>
          <a:p>
            <a:pPr marL="703580" indent="-342265">
              <a:lnSpc>
                <a:spcPts val="2695"/>
              </a:lnSpc>
              <a:buFont typeface="Wingdings"/>
              <a:buChar char=""/>
              <a:tabLst>
                <a:tab pos="703580" algn="l"/>
              </a:tabLst>
            </a:pPr>
            <a:r>
              <a:rPr lang="en-US" sz="2000" dirty="0">
                <a:latin typeface="Times New Roman" panose="02020603050405020304" pitchFamily="18" charset="0"/>
                <a:cs typeface="Times New Roman" panose="02020603050405020304" pitchFamily="18" charset="0"/>
              </a:rPr>
              <a:t>Unnecessary frames and noise were reduced to improve video quality and enhance important motion information.</a:t>
            </a:r>
          </a:p>
          <a:p>
            <a:pPr marL="703580" indent="-342265">
              <a:lnSpc>
                <a:spcPts val="2695"/>
              </a:lnSpc>
              <a:buFont typeface="Wingdings"/>
              <a:buChar char=""/>
              <a:tabLst>
                <a:tab pos="703580" algn="l"/>
              </a:tabLst>
            </a:pPr>
            <a:r>
              <a:rPr lang="en-US" sz="2000" dirty="0">
                <a:latin typeface="Times New Roman" panose="02020603050405020304" pitchFamily="18" charset="0"/>
                <a:cs typeface="Times New Roman" panose="02020603050405020304" pitchFamily="18" charset="0"/>
              </a:rPr>
              <a:t>The processed frames were organized into </a:t>
            </a:r>
            <a:r>
              <a:rPr lang="en-US" sz="2000" b="1" dirty="0">
                <a:latin typeface="Times New Roman" panose="02020603050405020304" pitchFamily="18" charset="0"/>
                <a:cs typeface="Times New Roman" panose="02020603050405020304" pitchFamily="18" charset="0"/>
              </a:rPr>
              <a:t>frame sequences</a:t>
            </a:r>
            <a:r>
              <a:rPr lang="en-US" sz="2000" dirty="0">
                <a:latin typeface="Times New Roman" panose="02020603050405020304" pitchFamily="18" charset="0"/>
                <a:cs typeface="Times New Roman" panose="02020603050405020304" pitchFamily="18" charset="0"/>
              </a:rPr>
              <a:t> to capture motion patterns required for violence detection.</a:t>
            </a:r>
            <a:endParaRPr sz="20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16A7F-3274-FC35-733D-C0B93CB07ED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B7DF6A-D632-F8AD-3B5B-1884CE1E5903}"/>
              </a:ext>
            </a:extLst>
          </p:cNvPr>
          <p:cNvSpPr txBox="1">
            <a:spLocks noGrp="1"/>
          </p:cNvSpPr>
          <p:nvPr>
            <p:ph type="title"/>
          </p:nvPr>
        </p:nvSpPr>
        <p:spPr>
          <a:xfrm>
            <a:off x="432128" y="178886"/>
            <a:ext cx="7919703" cy="442492"/>
          </a:xfrm>
          <a:prstGeom prst="rect">
            <a:avLst/>
          </a:prstGeom>
        </p:spPr>
        <p:txBody>
          <a:bodyPr vert="horz" wrap="square" lIns="0" tIns="59753" rIns="0" bIns="0" rtlCol="0">
            <a:spAutoFit/>
          </a:bodyPr>
          <a:lstStyle/>
          <a:p>
            <a:pPr marL="99695">
              <a:lnSpc>
                <a:spcPct val="100000"/>
              </a:lnSpc>
              <a:spcBef>
                <a:spcPts val="130"/>
              </a:spcBef>
            </a:pPr>
            <a:r>
              <a:rPr dirty="0"/>
              <a:t>Data</a:t>
            </a:r>
            <a:r>
              <a:rPr spc="50" dirty="0"/>
              <a:t> </a:t>
            </a:r>
            <a:r>
              <a:rPr spc="-10" dirty="0"/>
              <a:t>Preparation</a:t>
            </a:r>
            <a:endParaRPr dirty="0"/>
          </a:p>
        </p:txBody>
      </p:sp>
      <p:sp>
        <p:nvSpPr>
          <p:cNvPr id="4" name="object 4">
            <a:extLst>
              <a:ext uri="{FF2B5EF4-FFF2-40B4-BE49-F238E27FC236}">
                <a16:creationId xmlns:a16="http://schemas.microsoft.com/office/drawing/2014/main" id="{FB324F7B-BBF6-E7F4-D422-BAAB4CE7CDFB}"/>
              </a:ext>
            </a:extLst>
          </p:cNvPr>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a:extLst>
              <a:ext uri="{FF2B5EF4-FFF2-40B4-BE49-F238E27FC236}">
                <a16:creationId xmlns:a16="http://schemas.microsoft.com/office/drawing/2014/main" id="{AFC50C2B-D140-BF7F-78FD-FB66612503AA}"/>
              </a:ext>
            </a:extLst>
          </p:cNvPr>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a:extLst>
              <a:ext uri="{FF2B5EF4-FFF2-40B4-BE49-F238E27FC236}">
                <a16:creationId xmlns:a16="http://schemas.microsoft.com/office/drawing/2014/main" id="{82FF751A-2D37-DE59-DAF2-9AE885B7BA4B}"/>
              </a:ext>
            </a:extLst>
          </p:cNvPr>
          <p:cNvSpPr txBox="1">
            <a:spLocks noGrp="1"/>
          </p:cNvSpPr>
          <p:nvPr>
            <p:ph type="sldNum" sz="quarter" idx="7"/>
          </p:nvPr>
        </p:nvSpPr>
        <p:spPr>
          <a:xfrm>
            <a:off x="8409305" y="6472554"/>
            <a:ext cx="370901"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18</a:t>
            </a:fld>
            <a:endParaRPr spc="-25" dirty="0"/>
          </a:p>
        </p:txBody>
      </p:sp>
      <p:sp>
        <p:nvSpPr>
          <p:cNvPr id="3" name="object 3">
            <a:extLst>
              <a:ext uri="{FF2B5EF4-FFF2-40B4-BE49-F238E27FC236}">
                <a16:creationId xmlns:a16="http://schemas.microsoft.com/office/drawing/2014/main" id="{AF1782AE-6DDA-D33B-CB4C-E9B479782C78}"/>
              </a:ext>
            </a:extLst>
          </p:cNvPr>
          <p:cNvSpPr txBox="1"/>
          <p:nvPr/>
        </p:nvSpPr>
        <p:spPr>
          <a:xfrm>
            <a:off x="536575" y="1173286"/>
            <a:ext cx="7752984" cy="4242187"/>
          </a:xfrm>
          <a:prstGeom prst="rect">
            <a:avLst/>
          </a:prstGeom>
        </p:spPr>
        <p:txBody>
          <a:bodyPr vert="horz" wrap="square" lIns="0" tIns="12700" rIns="0" bIns="0" rtlCol="0">
            <a:spAutoFit/>
          </a:bodyPr>
          <a:lstStyle/>
          <a:p>
            <a:pPr marL="12700" algn="just">
              <a:spcBef>
                <a:spcPts val="100"/>
              </a:spcBef>
            </a:pPr>
            <a:r>
              <a:rPr lang="en-US" sz="2400" b="1" spc="-10" dirty="0">
                <a:solidFill>
                  <a:srgbClr val="C00000"/>
                </a:solidFill>
              </a:rPr>
              <a:t>Frame Processing &amp; Feature </a:t>
            </a:r>
            <a:r>
              <a:rPr sz="2400" b="1" spc="-10" dirty="0">
                <a:solidFill>
                  <a:srgbClr val="C00000"/>
                </a:solidFill>
              </a:rPr>
              <a:t>Preprocessing</a:t>
            </a:r>
            <a:endParaRPr lang="en-IN" sz="2400" b="1" spc="-10" dirty="0">
              <a:solidFill>
                <a:srgbClr val="C00000"/>
              </a:solidFill>
            </a:endParaRPr>
          </a:p>
          <a:p>
            <a:pPr marL="12700" algn="just">
              <a:lnSpc>
                <a:spcPct val="100000"/>
              </a:lnSpc>
              <a:spcBef>
                <a:spcPts val="100"/>
              </a:spcBef>
            </a:pPr>
            <a:endParaRPr lang="en-US" sz="2400" dirty="0"/>
          </a:p>
          <a:p>
            <a:pPr marL="703580" indent="-342265" algn="just">
              <a:buFont typeface="Wingdings"/>
              <a:buChar char=""/>
              <a:tabLst>
                <a:tab pos="703580" algn="l"/>
              </a:tabLst>
            </a:pPr>
            <a:r>
              <a:rPr lang="en-US" sz="2000" dirty="0">
                <a:latin typeface="Times New Roman" panose="02020603050405020304" pitchFamily="18" charset="0"/>
                <a:cs typeface="Times New Roman" panose="02020603050405020304" pitchFamily="18" charset="0"/>
              </a:rPr>
              <a:t>The extracted frames were grouped into </a:t>
            </a:r>
            <a:r>
              <a:rPr lang="en-US" sz="2000" b="1" dirty="0">
                <a:latin typeface="Times New Roman" panose="02020603050405020304" pitchFamily="18" charset="0"/>
                <a:cs typeface="Times New Roman" panose="02020603050405020304" pitchFamily="18" charset="0"/>
              </a:rPr>
              <a:t>short sequences (e.g., 16–30 frames)</a:t>
            </a:r>
            <a:r>
              <a:rPr lang="en-US" sz="2000" dirty="0">
                <a:latin typeface="Times New Roman" panose="02020603050405020304" pitchFamily="18" charset="0"/>
                <a:cs typeface="Times New Roman" panose="02020603050405020304" pitchFamily="18" charset="0"/>
              </a:rPr>
              <a:t> to capture temporal information in videos.</a:t>
            </a:r>
            <a:r>
              <a:rPr lang="en-US" sz="2100" dirty="0">
                <a:latin typeface="Calibri" panose="020F0502020204030204" pitchFamily="34" charset="0"/>
                <a:ea typeface="Calibri" panose="020F0502020204030204" pitchFamily="34" charset="0"/>
                <a:cs typeface="Calibri" panose="020F0502020204030204" pitchFamily="34" charset="0"/>
              </a:rPr>
              <a:t> </a:t>
            </a:r>
          </a:p>
          <a:p>
            <a:pPr marL="703580" indent="-342265" algn="just">
              <a:buFont typeface="Wingdings"/>
              <a:buChar char=""/>
              <a:tabLst>
                <a:tab pos="703580" algn="l"/>
              </a:tabLst>
            </a:pPr>
            <a:r>
              <a:rPr lang="en-US" sz="2000" dirty="0">
                <a:latin typeface="Times New Roman" panose="02020603050405020304" pitchFamily="18" charset="0"/>
                <a:cs typeface="Times New Roman" panose="02020603050405020304" pitchFamily="18" charset="0"/>
              </a:rPr>
              <a:t>Each frame sequence was labeled as </a:t>
            </a:r>
            <a:r>
              <a:rPr lang="en-US" sz="2000" b="1" dirty="0">
                <a:latin typeface="Times New Roman" panose="02020603050405020304" pitchFamily="18" charset="0"/>
                <a:cs typeface="Times New Roman" panose="02020603050405020304" pitchFamily="18" charset="0"/>
              </a:rPr>
              <a:t>violent or non-violent</a:t>
            </a:r>
            <a:r>
              <a:rPr lang="en-US" sz="2000" dirty="0">
                <a:latin typeface="Times New Roman" panose="02020603050405020304" pitchFamily="18" charset="0"/>
                <a:cs typeface="Times New Roman" panose="02020603050405020304" pitchFamily="18" charset="0"/>
              </a:rPr>
              <a:t> based on the dataset annotations.</a:t>
            </a:r>
            <a:r>
              <a:rPr lang="en-US" sz="2100" dirty="0">
                <a:latin typeface="Calibri" panose="020F0502020204030204" pitchFamily="34" charset="0"/>
                <a:ea typeface="Calibri" panose="020F0502020204030204" pitchFamily="34" charset="0"/>
                <a:cs typeface="Calibri" panose="020F0502020204030204" pitchFamily="34" charset="0"/>
              </a:rPr>
              <a:t> </a:t>
            </a:r>
          </a:p>
          <a:p>
            <a:pPr marL="703580" indent="-342265" algn="just">
              <a:buFont typeface="Wingdings"/>
              <a:buChar char=""/>
              <a:tabLst>
                <a:tab pos="703580" algn="l"/>
              </a:tabLst>
            </a:pPr>
            <a:r>
              <a:rPr lang="en-US" sz="2000" dirty="0">
                <a:latin typeface="Times New Roman" panose="02020603050405020304" pitchFamily="18" charset="0"/>
                <a:cs typeface="Times New Roman" panose="02020603050405020304" pitchFamily="18" charset="0"/>
              </a:rPr>
              <a:t>Spatial features such as </a:t>
            </a:r>
            <a:r>
              <a:rPr lang="en-US" sz="2000" b="1" dirty="0">
                <a:latin typeface="Times New Roman" panose="02020603050405020304" pitchFamily="18" charset="0"/>
                <a:cs typeface="Times New Roman" panose="02020603050405020304" pitchFamily="18" charset="0"/>
              </a:rPr>
              <a:t>human posture, movement, and interaction patterns</a:t>
            </a:r>
            <a:r>
              <a:rPr lang="en-US" sz="2000" dirty="0">
                <a:latin typeface="Times New Roman" panose="02020603050405020304" pitchFamily="18" charset="0"/>
                <a:cs typeface="Times New Roman" panose="02020603050405020304" pitchFamily="18" charset="0"/>
              </a:rPr>
              <a:t> were automatically extracted using CNN layers</a:t>
            </a:r>
            <a:r>
              <a:rPr lang="en-US" sz="2400" dirty="0">
                <a:latin typeface="Times New Roman" panose="02020603050405020304" pitchFamily="18" charset="0"/>
                <a:cs typeface="Times New Roman" panose="02020603050405020304" pitchFamily="18" charset="0"/>
              </a:rPr>
              <a:t>.</a:t>
            </a:r>
            <a:endParaRPr lang="en-US" sz="2100" dirty="0">
              <a:latin typeface="Calibri" panose="020F0502020204030204" pitchFamily="34" charset="0"/>
              <a:ea typeface="Calibri" panose="020F0502020204030204" pitchFamily="34" charset="0"/>
              <a:cs typeface="Calibri" panose="020F0502020204030204" pitchFamily="34" charset="0"/>
            </a:endParaRPr>
          </a:p>
          <a:p>
            <a:pPr marL="703580" indent="-342265" algn="just">
              <a:buFont typeface="Wingdings"/>
              <a:buChar char=""/>
              <a:tabLst>
                <a:tab pos="703580" algn="l"/>
              </a:tabLst>
            </a:pPr>
            <a:r>
              <a:rPr lang="en-US" sz="2000" dirty="0">
                <a:latin typeface="Times New Roman" panose="02020603050405020304" pitchFamily="18" charset="0"/>
                <a:cs typeface="Times New Roman" panose="02020603050405020304" pitchFamily="18" charset="0"/>
              </a:rPr>
              <a:t>Temporal motion features across frame sequences were captured using </a:t>
            </a:r>
            <a:r>
              <a:rPr lang="en-US" sz="2000" b="1" dirty="0">
                <a:latin typeface="Times New Roman" panose="02020603050405020304" pitchFamily="18" charset="0"/>
                <a:cs typeface="Times New Roman" panose="02020603050405020304" pitchFamily="18" charset="0"/>
              </a:rPr>
              <a:t>LSTM networks</a:t>
            </a:r>
            <a:r>
              <a:rPr lang="en-US" sz="2000" dirty="0">
                <a:latin typeface="Times New Roman" panose="02020603050405020304" pitchFamily="18" charset="0"/>
                <a:cs typeface="Times New Roman" panose="02020603050405020304" pitchFamily="18" charset="0"/>
              </a:rPr>
              <a:t>.</a:t>
            </a:r>
          </a:p>
          <a:p>
            <a:pPr marL="703580" indent="-342265" algn="just">
              <a:buFont typeface="Wingdings"/>
              <a:buChar char=""/>
              <a:tabLst>
                <a:tab pos="703580" algn="l"/>
              </a:tabLst>
            </a:pPr>
            <a:r>
              <a:rPr lang="en-US" sz="2000" dirty="0">
                <a:latin typeface="Times New Roman" panose="02020603050405020304" pitchFamily="18" charset="0"/>
                <a:cs typeface="Times New Roman" panose="02020603050405020304" pitchFamily="18" charset="0"/>
              </a:rPr>
              <a:t>The processed sequences and extracted features were then used to </a:t>
            </a:r>
            <a:r>
              <a:rPr lang="en-US" sz="2000" b="1" dirty="0">
                <a:latin typeface="Times New Roman" panose="02020603050405020304" pitchFamily="18" charset="0"/>
                <a:cs typeface="Times New Roman" panose="02020603050405020304" pitchFamily="18" charset="0"/>
              </a:rPr>
              <a:t>train the deep learning model for violence classification</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7690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6575" y="1121958"/>
            <a:ext cx="8314462" cy="4444807"/>
          </a:xfrm>
          <a:prstGeom prst="rect">
            <a:avLst/>
          </a:prstGeom>
        </p:spPr>
        <p:txBody>
          <a:bodyPr vert="horz" wrap="square" lIns="0" tIns="12700" rIns="0" bIns="0" rtlCol="0">
            <a:spAutoFit/>
          </a:bodyPr>
          <a:lstStyle/>
          <a:p>
            <a:pPr marL="12700">
              <a:lnSpc>
                <a:spcPct val="100000"/>
              </a:lnSpc>
              <a:spcBef>
                <a:spcPts val="100"/>
              </a:spcBef>
            </a:pPr>
            <a:r>
              <a:rPr sz="2100" b="1" dirty="0">
                <a:solidFill>
                  <a:srgbClr val="C00000"/>
                </a:solidFill>
                <a:latin typeface="Arial"/>
                <a:cs typeface="Arial"/>
              </a:rPr>
              <a:t>Model</a:t>
            </a:r>
            <a:r>
              <a:rPr sz="2100" b="1" spc="-15" dirty="0">
                <a:solidFill>
                  <a:srgbClr val="C00000"/>
                </a:solidFill>
                <a:latin typeface="Arial"/>
                <a:cs typeface="Arial"/>
              </a:rPr>
              <a:t> </a:t>
            </a:r>
            <a:r>
              <a:rPr sz="2100" b="1" spc="-10" dirty="0">
                <a:solidFill>
                  <a:srgbClr val="C00000"/>
                </a:solidFill>
                <a:latin typeface="Arial"/>
                <a:cs typeface="Arial"/>
              </a:rPr>
              <a:t>Architecture</a:t>
            </a:r>
            <a:endParaRPr lang="en-IN" sz="2100" b="1" spc="-10" dirty="0">
              <a:solidFill>
                <a:srgbClr val="C00000"/>
              </a:solidFill>
            </a:endParaRPr>
          </a:p>
          <a:p>
            <a:pPr marL="12700">
              <a:spcBef>
                <a:spcPts val="100"/>
              </a:spcBef>
            </a:pPr>
            <a:r>
              <a:rPr lang="en-US" sz="2000" dirty="0">
                <a:latin typeface="Times New Roman" panose="02020603050405020304" pitchFamily="18" charset="0"/>
                <a:cs typeface="Times New Roman" panose="02020603050405020304" pitchFamily="18" charset="0"/>
              </a:rPr>
              <a:t>The proposed system uses a </a:t>
            </a:r>
            <a:r>
              <a:rPr lang="en-US" sz="2000" b="1" dirty="0">
                <a:latin typeface="Times New Roman" panose="02020603050405020304" pitchFamily="18" charset="0"/>
                <a:cs typeface="Times New Roman" panose="02020603050405020304" pitchFamily="18" charset="0"/>
              </a:rPr>
              <a:t>CNN–LSTM deep learning architecture</a:t>
            </a:r>
            <a:r>
              <a:rPr lang="en-US" sz="2000" dirty="0">
                <a:latin typeface="Times New Roman" panose="02020603050405020304" pitchFamily="18" charset="0"/>
                <a:cs typeface="Times New Roman" panose="02020603050405020304" pitchFamily="18" charset="0"/>
              </a:rPr>
              <a:t> to detect violent activities from CCTV video streams.</a:t>
            </a:r>
            <a:br>
              <a:rPr lang="en-IN" sz="2100" b="1" spc="-10" dirty="0">
                <a:solidFill>
                  <a:srgbClr val="C00000"/>
                </a:solidFill>
                <a:latin typeface="Calibri" panose="020F0502020204030204" pitchFamily="34" charset="0"/>
                <a:ea typeface="Calibri" panose="020F0502020204030204" pitchFamily="34" charset="0"/>
                <a:cs typeface="Calibri" panose="020F0502020204030204" pitchFamily="34" charset="0"/>
              </a:rPr>
            </a:br>
            <a:r>
              <a:rPr lang="en-US" sz="2000" b="1" spc="-1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Input</a:t>
            </a:r>
            <a:r>
              <a:rPr lang="en-US" sz="2000" spc="-1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Video clips from the dataset are converted into sequences of frames and provided as input to the model</a:t>
            </a:r>
            <a:r>
              <a:rPr lang="en-US" sz="2100" spc="-1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marL="12700">
              <a:spcBef>
                <a:spcPts val="100"/>
              </a:spcBef>
            </a:pPr>
            <a:r>
              <a:rPr lang="en-IN" sz="2000" b="1" dirty="0">
                <a:latin typeface="Times New Roman" panose="02020603050405020304" pitchFamily="18" charset="0"/>
                <a:cs typeface="Times New Roman" panose="02020603050405020304" pitchFamily="18" charset="0"/>
              </a:rPr>
              <a:t>CNN Layer (Feature Extraction):</a:t>
            </a:r>
            <a:r>
              <a:rPr lang="en-US" sz="2000" dirty="0">
                <a:latin typeface="Times New Roman" panose="02020603050405020304" pitchFamily="18" charset="0"/>
                <a:cs typeface="Times New Roman" panose="02020603050405020304" pitchFamily="18" charset="0"/>
              </a:rPr>
              <a:t>Convolutional Neural Networks extract spatial features from each frame such as human posture, body movement, and interactions between individuals.</a:t>
            </a:r>
          </a:p>
          <a:p>
            <a:pPr marL="12700">
              <a:spcBef>
                <a:spcPts val="100"/>
              </a:spcBef>
            </a:pPr>
            <a:r>
              <a:rPr lang="en-IN" sz="2000" b="1" dirty="0">
                <a:latin typeface="Times New Roman" panose="02020603050405020304" pitchFamily="18" charset="0"/>
                <a:cs typeface="Times New Roman" panose="02020603050405020304" pitchFamily="18" charset="0"/>
              </a:rPr>
              <a:t>LSTM Layer (Temporal Analysis</a:t>
            </a:r>
            <a:r>
              <a:rPr lang="en-US" sz="2000" dirty="0">
                <a:latin typeface="Times New Roman" panose="02020603050405020304" pitchFamily="18" charset="0"/>
                <a:cs typeface="Times New Roman" panose="02020603050405020304" pitchFamily="18" charset="0"/>
              </a:rPr>
              <a:t>The LSTM network processes sequences of frames to capture motion patterns and temporal dependencies across time.</a:t>
            </a:r>
          </a:p>
          <a:p>
            <a:pPr marL="12700">
              <a:spcBef>
                <a:spcPts val="100"/>
              </a:spcBef>
            </a:pPr>
            <a:r>
              <a:rPr lang="en-IN" sz="2000" b="1" dirty="0">
                <a:latin typeface="Times New Roman" panose="02020603050405020304" pitchFamily="18" charset="0"/>
                <a:cs typeface="Times New Roman" panose="02020603050405020304" pitchFamily="18" charset="0"/>
              </a:rPr>
              <a:t>Fully Connected Layer &amp; Output:</a:t>
            </a:r>
            <a:r>
              <a:rPr lang="en-US" sz="2000" dirty="0">
                <a:latin typeface="Times New Roman" panose="02020603050405020304" pitchFamily="18" charset="0"/>
                <a:cs typeface="Times New Roman" panose="02020603050405020304" pitchFamily="18" charset="0"/>
              </a:rPr>
              <a:t>The learned features are passed through a dense layer with </a:t>
            </a:r>
            <a:r>
              <a:rPr lang="en-US" sz="2000"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activation to classify the activity as </a:t>
            </a:r>
            <a:r>
              <a:rPr lang="en-US" sz="2000" b="1" dirty="0">
                <a:latin typeface="Times New Roman" panose="02020603050405020304" pitchFamily="18" charset="0"/>
                <a:cs typeface="Times New Roman" panose="02020603050405020304" pitchFamily="18" charset="0"/>
              </a:rPr>
              <a:t>Violence</a:t>
            </a:r>
            <a:r>
              <a:rPr lang="en-US" sz="2000" dirty="0">
                <a:latin typeface="Times New Roman" panose="02020603050405020304" pitchFamily="18" charset="0"/>
                <a:cs typeface="Times New Roman" panose="02020603050405020304" pitchFamily="18" charset="0"/>
              </a:rPr>
              <a:t> or </a:t>
            </a:r>
          </a:p>
          <a:p>
            <a:pPr marL="12700">
              <a:spcBef>
                <a:spcPts val="100"/>
              </a:spcBef>
            </a:pPr>
            <a:r>
              <a:rPr lang="en-US" sz="2000" b="1" dirty="0">
                <a:latin typeface="Times New Roman" panose="02020603050405020304" pitchFamily="18" charset="0"/>
                <a:cs typeface="Times New Roman" panose="02020603050405020304" pitchFamily="18" charset="0"/>
              </a:rPr>
              <a:t>Non-Violence</a:t>
            </a:r>
            <a:r>
              <a:rPr lang="en-US" sz="2000" dirty="0">
                <a:latin typeface="Times New Roman" panose="02020603050405020304" pitchFamily="18" charset="0"/>
                <a:cs typeface="Times New Roman" panose="02020603050405020304" pitchFamily="18" charset="0"/>
              </a:rPr>
              <a:t>.</a:t>
            </a:r>
            <a:endParaRPr lang="en-US" sz="2000" spc="-1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12700">
              <a:lnSpc>
                <a:spcPct val="100000"/>
              </a:lnSpc>
              <a:spcBef>
                <a:spcPts val="100"/>
              </a:spcBef>
            </a:pPr>
            <a:endParaRPr sz="2100" dirty="0">
              <a:latin typeface="Arial"/>
              <a:cs typeface="Arial"/>
            </a:endParaRPr>
          </a:p>
        </p:txBody>
      </p:sp>
      <p:sp>
        <p:nvSpPr>
          <p:cNvPr id="4" name="object 4"/>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p:cNvSpPr txBox="1">
            <a:spLocks noGrp="1"/>
          </p:cNvSpPr>
          <p:nvPr>
            <p:ph type="sldNum" sz="quarter" idx="7"/>
          </p:nvPr>
        </p:nvSpPr>
        <p:spPr>
          <a:xfrm>
            <a:off x="8409305" y="6472554"/>
            <a:ext cx="361069"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19</a:t>
            </a:fld>
            <a:endParaRPr spc="-25" dirty="0"/>
          </a:p>
        </p:txBody>
      </p:sp>
      <p:sp>
        <p:nvSpPr>
          <p:cNvPr id="3" name="object 3"/>
          <p:cNvSpPr txBox="1">
            <a:spLocks noGrp="1"/>
          </p:cNvSpPr>
          <p:nvPr>
            <p:ph type="title"/>
          </p:nvPr>
        </p:nvSpPr>
        <p:spPr>
          <a:prstGeom prst="rect">
            <a:avLst/>
          </a:prstGeom>
        </p:spPr>
        <p:txBody>
          <a:bodyPr vert="horz" wrap="square" lIns="0" tIns="16510" rIns="0" bIns="0" rtlCol="0">
            <a:spAutoFit/>
          </a:bodyPr>
          <a:lstStyle/>
          <a:p>
            <a:pPr marL="99695">
              <a:lnSpc>
                <a:spcPct val="100000"/>
              </a:lnSpc>
              <a:spcBef>
                <a:spcPts val="130"/>
              </a:spcBef>
            </a:pPr>
            <a:r>
              <a:rPr sz="2600" spc="-10" dirty="0"/>
              <a:t>Approach</a:t>
            </a:r>
            <a:endParaRPr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6575" y="1171479"/>
            <a:ext cx="7728584" cy="5632952"/>
          </a:xfrm>
          <a:prstGeom prst="rect">
            <a:avLst/>
          </a:prstGeom>
        </p:spPr>
        <p:txBody>
          <a:bodyPr vert="horz" wrap="square" lIns="0" tIns="15875" rIns="0" bIns="0" rtlCol="0">
            <a:spAutoFit/>
          </a:bodyPr>
          <a:lstStyle/>
          <a:p>
            <a:pPr marL="12700">
              <a:lnSpc>
                <a:spcPct val="100000"/>
              </a:lnSpc>
              <a:spcBef>
                <a:spcPts val="125"/>
              </a:spcBef>
            </a:pPr>
            <a:r>
              <a:rPr sz="2300" b="1" dirty="0">
                <a:solidFill>
                  <a:srgbClr val="C00000"/>
                </a:solidFill>
                <a:latin typeface="Arial"/>
                <a:cs typeface="Arial"/>
              </a:rPr>
              <a:t>Models &amp;</a:t>
            </a:r>
            <a:r>
              <a:rPr sz="2300" b="1" spc="-10" dirty="0">
                <a:solidFill>
                  <a:srgbClr val="C00000"/>
                </a:solidFill>
                <a:latin typeface="Arial"/>
                <a:cs typeface="Arial"/>
              </a:rPr>
              <a:t> Baselines</a:t>
            </a:r>
            <a:endParaRPr sz="2300" dirty="0">
              <a:latin typeface="Arial"/>
              <a:cs typeface="Arial"/>
            </a:endParaRPr>
          </a:p>
          <a:p>
            <a:pPr marL="1077595" indent="-342900">
              <a:lnSpc>
                <a:spcPts val="2735"/>
              </a:lnSpc>
              <a:spcBef>
                <a:spcPts val="2445"/>
              </a:spcBef>
              <a:buFont typeface="Wingdings"/>
              <a:buChar char=""/>
              <a:tabLst>
                <a:tab pos="1077595" algn="l"/>
              </a:tabLst>
            </a:pPr>
            <a:r>
              <a:rPr sz="2100" b="1" dirty="0">
                <a:latin typeface="Calibri" panose="020F0502020204030204" pitchFamily="34" charset="0"/>
                <a:ea typeface="Calibri" panose="020F0502020204030204" pitchFamily="34" charset="0"/>
                <a:cs typeface="Calibri" panose="020F0502020204030204" pitchFamily="34" charset="0"/>
              </a:rPr>
              <a:t>Baseline</a:t>
            </a:r>
            <a:r>
              <a:rPr sz="2100" b="1" spc="-55" dirty="0">
                <a:latin typeface="Calibri" panose="020F0502020204030204" pitchFamily="34" charset="0"/>
                <a:ea typeface="Calibri" panose="020F0502020204030204" pitchFamily="34" charset="0"/>
                <a:cs typeface="Calibri" panose="020F0502020204030204" pitchFamily="34" charset="0"/>
              </a:rPr>
              <a:t> </a:t>
            </a:r>
            <a:r>
              <a:rPr sz="2100" b="1" dirty="0">
                <a:latin typeface="Calibri" panose="020F0502020204030204" pitchFamily="34" charset="0"/>
                <a:ea typeface="Calibri" panose="020F0502020204030204" pitchFamily="34" charset="0"/>
                <a:cs typeface="Calibri" panose="020F0502020204030204" pitchFamily="34" charset="0"/>
              </a:rPr>
              <a:t>Model:</a:t>
            </a:r>
            <a:r>
              <a:rPr sz="2100" b="1" spc="-55" dirty="0">
                <a:latin typeface="Calibri" panose="020F0502020204030204" pitchFamily="34" charset="0"/>
                <a:ea typeface="Calibri" panose="020F0502020204030204" pitchFamily="34" charset="0"/>
                <a:cs typeface="Calibri" panose="020F0502020204030204" pitchFamily="34" charset="0"/>
              </a:rPr>
              <a:t> </a:t>
            </a:r>
            <a:r>
              <a:rPr sz="2100" dirty="0">
                <a:latin typeface="Calibri" panose="020F0502020204030204" pitchFamily="34" charset="0"/>
                <a:ea typeface="Calibri" panose="020F0502020204030204" pitchFamily="34" charset="0"/>
                <a:cs typeface="Calibri" panose="020F0502020204030204" pitchFamily="34" charset="0"/>
              </a:rPr>
              <a:t>CNN</a:t>
            </a:r>
            <a:r>
              <a:rPr sz="2100" spc="-5" dirty="0">
                <a:latin typeface="Calibri" panose="020F0502020204030204" pitchFamily="34" charset="0"/>
                <a:ea typeface="Calibri" panose="020F0502020204030204" pitchFamily="34" charset="0"/>
                <a:cs typeface="Calibri" panose="020F0502020204030204" pitchFamily="34" charset="0"/>
              </a:rPr>
              <a:t> </a:t>
            </a:r>
            <a:r>
              <a:rPr lang="en-IN" sz="2100" spc="-5" dirty="0">
                <a:latin typeface="Calibri" panose="020F0502020204030204" pitchFamily="34" charset="0"/>
                <a:ea typeface="Calibri" panose="020F0502020204030204" pitchFamily="34" charset="0"/>
                <a:cs typeface="Calibri" panose="020F0502020204030204" pitchFamily="34" charset="0"/>
              </a:rPr>
              <a:t>based video frame feature extractor</a:t>
            </a:r>
            <a:endParaRPr sz="2100" dirty="0">
              <a:latin typeface="Calibri" panose="020F0502020204030204" pitchFamily="34" charset="0"/>
              <a:ea typeface="Calibri" panose="020F0502020204030204" pitchFamily="34" charset="0"/>
              <a:cs typeface="Calibri" panose="020F0502020204030204" pitchFamily="34" charset="0"/>
            </a:endParaRPr>
          </a:p>
          <a:p>
            <a:pPr marL="1077595" indent="-342900">
              <a:lnSpc>
                <a:spcPts val="2735"/>
              </a:lnSpc>
              <a:buFont typeface="Wingdings"/>
              <a:buChar char=""/>
              <a:tabLst>
                <a:tab pos="1077595" algn="l"/>
              </a:tabLst>
            </a:pPr>
            <a:r>
              <a:rPr sz="2100" b="1" dirty="0">
                <a:latin typeface="Calibri" panose="020F0502020204030204" pitchFamily="34" charset="0"/>
                <a:ea typeface="Calibri" panose="020F0502020204030204" pitchFamily="34" charset="0"/>
                <a:cs typeface="Calibri" panose="020F0502020204030204" pitchFamily="34" charset="0"/>
              </a:rPr>
              <a:t>Improved</a:t>
            </a:r>
            <a:r>
              <a:rPr sz="2100" b="1" spc="-40" dirty="0">
                <a:latin typeface="Calibri" panose="020F0502020204030204" pitchFamily="34" charset="0"/>
                <a:ea typeface="Calibri" panose="020F0502020204030204" pitchFamily="34" charset="0"/>
                <a:cs typeface="Calibri" panose="020F0502020204030204" pitchFamily="34" charset="0"/>
              </a:rPr>
              <a:t> </a:t>
            </a:r>
            <a:r>
              <a:rPr sz="2100" b="1" dirty="0">
                <a:latin typeface="Calibri" panose="020F0502020204030204" pitchFamily="34" charset="0"/>
                <a:ea typeface="Calibri" panose="020F0502020204030204" pitchFamily="34" charset="0"/>
                <a:cs typeface="Calibri" panose="020F0502020204030204" pitchFamily="34" charset="0"/>
              </a:rPr>
              <a:t>Model:</a:t>
            </a:r>
            <a:r>
              <a:rPr sz="2100" b="1" spc="-50" dirty="0">
                <a:latin typeface="Calibri" panose="020F0502020204030204" pitchFamily="34" charset="0"/>
                <a:ea typeface="Calibri" panose="020F0502020204030204" pitchFamily="34" charset="0"/>
                <a:cs typeface="Calibri" panose="020F0502020204030204" pitchFamily="34" charset="0"/>
              </a:rPr>
              <a:t> </a:t>
            </a:r>
            <a:r>
              <a:rPr sz="2100" dirty="0">
                <a:latin typeface="Calibri" panose="020F0502020204030204" pitchFamily="34" charset="0"/>
                <a:ea typeface="Calibri" panose="020F0502020204030204" pitchFamily="34" charset="0"/>
                <a:cs typeface="Calibri" panose="020F0502020204030204" pitchFamily="34" charset="0"/>
              </a:rPr>
              <a:t>CNN +</a:t>
            </a:r>
            <a:r>
              <a:rPr sz="2100" spc="-50" dirty="0">
                <a:latin typeface="Calibri" panose="020F0502020204030204" pitchFamily="34" charset="0"/>
                <a:ea typeface="Calibri" panose="020F0502020204030204" pitchFamily="34" charset="0"/>
                <a:cs typeface="Calibri" panose="020F0502020204030204" pitchFamily="34" charset="0"/>
              </a:rPr>
              <a:t> </a:t>
            </a:r>
            <a:r>
              <a:rPr sz="2100" dirty="0">
                <a:latin typeface="Calibri" panose="020F0502020204030204" pitchFamily="34" charset="0"/>
                <a:ea typeface="Calibri" panose="020F0502020204030204" pitchFamily="34" charset="0"/>
                <a:cs typeface="Calibri" panose="020F0502020204030204" pitchFamily="34" charset="0"/>
              </a:rPr>
              <a:t>LSTM</a:t>
            </a:r>
            <a:r>
              <a:rPr sz="2100" spc="-30" dirty="0">
                <a:latin typeface="Calibri" panose="020F0502020204030204" pitchFamily="34" charset="0"/>
                <a:ea typeface="Calibri" panose="020F0502020204030204" pitchFamily="34" charset="0"/>
                <a:cs typeface="Calibri" panose="020F0502020204030204" pitchFamily="34" charset="0"/>
              </a:rPr>
              <a:t> </a:t>
            </a:r>
            <a:r>
              <a:rPr lang="en-IN" sz="2100" spc="-30" dirty="0">
                <a:latin typeface="Calibri" panose="020F0502020204030204" pitchFamily="34" charset="0"/>
                <a:ea typeface="Calibri" panose="020F0502020204030204" pitchFamily="34" charset="0"/>
                <a:cs typeface="Calibri" panose="020F0502020204030204" pitchFamily="34" charset="0"/>
              </a:rPr>
              <a:t>hybrid deep learning model</a:t>
            </a:r>
            <a:endParaRPr sz="2100" dirty="0">
              <a:latin typeface="Calibri" panose="020F0502020204030204" pitchFamily="34" charset="0"/>
              <a:ea typeface="Calibri" panose="020F0502020204030204" pitchFamily="34" charset="0"/>
              <a:cs typeface="Calibri" panose="020F0502020204030204" pitchFamily="34" charset="0"/>
            </a:endParaRPr>
          </a:p>
          <a:p>
            <a:pPr marL="1077595" indent="-342900">
              <a:lnSpc>
                <a:spcPct val="100000"/>
              </a:lnSpc>
              <a:spcBef>
                <a:spcPts val="20"/>
              </a:spcBef>
              <a:buFont typeface="Wingdings"/>
              <a:buChar char=""/>
              <a:tabLst>
                <a:tab pos="1077595" algn="l"/>
              </a:tabLst>
            </a:pPr>
            <a:r>
              <a:rPr sz="2100" b="1" dirty="0">
                <a:latin typeface="Calibri" panose="020F0502020204030204" pitchFamily="34" charset="0"/>
                <a:ea typeface="Calibri" panose="020F0502020204030204" pitchFamily="34" charset="0"/>
                <a:cs typeface="Calibri" panose="020F0502020204030204" pitchFamily="34" charset="0"/>
              </a:rPr>
              <a:t>Why</a:t>
            </a:r>
            <a:r>
              <a:rPr sz="2100" b="1" spc="-30" dirty="0">
                <a:latin typeface="Calibri" panose="020F0502020204030204" pitchFamily="34" charset="0"/>
                <a:ea typeface="Calibri" panose="020F0502020204030204" pitchFamily="34" charset="0"/>
                <a:cs typeface="Calibri" panose="020F0502020204030204" pitchFamily="34" charset="0"/>
              </a:rPr>
              <a:t> </a:t>
            </a:r>
            <a:r>
              <a:rPr lang="en-IN" sz="2100" b="1" spc="-10" dirty="0">
                <a:latin typeface="Calibri" panose="020F0502020204030204" pitchFamily="34" charset="0"/>
                <a:ea typeface="Calibri" panose="020F0502020204030204" pitchFamily="34" charset="0"/>
                <a:cs typeface="Calibri" panose="020F0502020204030204" pitchFamily="34" charset="0"/>
              </a:rPr>
              <a:t>CNN+LSTM</a:t>
            </a:r>
            <a:r>
              <a:rPr sz="2100" b="1" spc="-10" dirty="0">
                <a:latin typeface="Calibri" panose="020F0502020204030204" pitchFamily="34" charset="0"/>
                <a:ea typeface="Calibri" panose="020F0502020204030204" pitchFamily="34" charset="0"/>
                <a:cs typeface="Calibri" panose="020F0502020204030204" pitchFamily="34" charset="0"/>
              </a:rPr>
              <a:t>?</a:t>
            </a:r>
            <a:endParaRPr lang="en-US" sz="2100" dirty="0">
              <a:latin typeface="Calibri" panose="020F0502020204030204" pitchFamily="34" charset="0"/>
              <a:ea typeface="Calibri" panose="020F0502020204030204" pitchFamily="34" charset="0"/>
              <a:cs typeface="Calibri" panose="020F0502020204030204" pitchFamily="34" charset="0"/>
            </a:endParaRPr>
          </a:p>
          <a:p>
            <a:pPr marL="734695" lvl="2">
              <a:spcBef>
                <a:spcPts val="20"/>
              </a:spcBef>
              <a:tabLst>
                <a:tab pos="1077595" algn="l"/>
              </a:tabLst>
            </a:pPr>
            <a:r>
              <a:rPr lang="en-US" sz="2100" dirty="0">
                <a:latin typeface="Calibri" panose="020F0502020204030204" pitchFamily="34" charset="0"/>
                <a:ea typeface="Calibri" panose="020F0502020204030204" pitchFamily="34" charset="0"/>
                <a:cs typeface="Calibri" panose="020F0502020204030204" pitchFamily="34" charset="0"/>
              </a:rPr>
              <a:t>        CNN extracts spatial features such as human posture, body     movement, and interactions from video frames.</a:t>
            </a:r>
            <a:endParaRPr lang="en-IN" sz="2100" dirty="0">
              <a:latin typeface="Calibri" panose="020F0502020204030204" pitchFamily="34" charset="0"/>
              <a:ea typeface="Calibri" panose="020F0502020204030204" pitchFamily="34" charset="0"/>
              <a:cs typeface="Calibri" panose="020F0502020204030204" pitchFamily="34" charset="0"/>
            </a:endParaRPr>
          </a:p>
          <a:p>
            <a:pPr marL="734695" lvl="2">
              <a:spcBef>
                <a:spcPts val="20"/>
              </a:spcBef>
              <a:tabLst>
                <a:tab pos="1077595" algn="l"/>
              </a:tabLst>
            </a:pPr>
            <a:r>
              <a:rPr lang="en-IN" sz="2100" dirty="0">
                <a:latin typeface="Calibri" panose="020F0502020204030204" pitchFamily="34" charset="0"/>
                <a:ea typeface="Calibri" panose="020F0502020204030204" pitchFamily="34" charset="0"/>
                <a:cs typeface="Calibri" panose="020F0502020204030204" pitchFamily="34" charset="0"/>
              </a:rPr>
              <a:t> LSTM </a:t>
            </a:r>
            <a:r>
              <a:rPr lang="en-US" sz="2100" dirty="0">
                <a:latin typeface="Calibri" panose="020F0502020204030204" pitchFamily="34" charset="0"/>
                <a:ea typeface="Calibri" panose="020F0502020204030204" pitchFamily="34" charset="0"/>
                <a:cs typeface="Calibri" panose="020F0502020204030204" pitchFamily="34" charset="0"/>
              </a:rPr>
              <a:t>captures temporal motion patterns and sequential dependencies across multiple frames.</a:t>
            </a:r>
          </a:p>
          <a:p>
            <a:pPr marL="734695" lvl="2">
              <a:spcBef>
                <a:spcPts val="20"/>
              </a:spcBef>
              <a:tabLst>
                <a:tab pos="1077595" algn="l"/>
              </a:tabLst>
            </a:pPr>
            <a:r>
              <a:rPr lang="en-IN" sz="2100" b="1" dirty="0">
                <a:latin typeface="Calibri" panose="020F0502020204030204" pitchFamily="34" charset="0"/>
                <a:ea typeface="Calibri" panose="020F0502020204030204" pitchFamily="34" charset="0"/>
                <a:cs typeface="Calibri" panose="020F0502020204030204" pitchFamily="34" charset="0"/>
              </a:rPr>
              <a:t>For Video Violence Detection: </a:t>
            </a:r>
          </a:p>
          <a:p>
            <a:r>
              <a:rPr lang="en-IN" sz="2000" b="1" dirty="0">
                <a:latin typeface="Calibri" panose="020F0502020204030204" pitchFamily="34" charset="0"/>
                <a:ea typeface="Calibri" panose="020F0502020204030204" pitchFamily="34" charset="0"/>
                <a:cs typeface="Calibri" panose="020F0502020204030204" pitchFamily="34" charset="0"/>
              </a:rPr>
              <a:t>	   Model:</a:t>
            </a:r>
            <a:r>
              <a:rPr lang="en-IN" sz="2000" dirty="0">
                <a:latin typeface="Calibri" panose="020F0502020204030204" pitchFamily="34" charset="0"/>
                <a:ea typeface="Calibri" panose="020F0502020204030204" pitchFamily="34" charset="0"/>
                <a:cs typeface="Calibri" panose="020F0502020204030204" pitchFamily="34" charset="0"/>
              </a:rPr>
              <a:t> </a:t>
            </a:r>
            <a:r>
              <a:rPr lang="en-US" sz="2100" dirty="0">
                <a:latin typeface="Calibri" panose="020F0502020204030204" pitchFamily="34" charset="0"/>
                <a:ea typeface="Calibri" panose="020F0502020204030204" pitchFamily="34" charset="0"/>
                <a:cs typeface="Calibri" panose="020F0502020204030204" pitchFamily="34" charset="0"/>
              </a:rPr>
              <a:t>CNN–LSTM Deep Learning Architecture</a:t>
            </a:r>
            <a:endParaRPr lang="en-IN" sz="2100" b="1" dirty="0">
              <a:latin typeface="Calibri" panose="020F0502020204030204" pitchFamily="34" charset="0"/>
              <a:ea typeface="Calibri" panose="020F0502020204030204" pitchFamily="34" charset="0"/>
              <a:cs typeface="Calibri" panose="020F0502020204030204" pitchFamily="34" charset="0"/>
            </a:endParaRPr>
          </a:p>
          <a:p>
            <a:r>
              <a:rPr lang="en-IN" sz="2000" b="1" dirty="0">
                <a:latin typeface="Calibri" panose="020F0502020204030204" pitchFamily="34" charset="0"/>
                <a:ea typeface="Calibri" panose="020F0502020204030204" pitchFamily="34" charset="0"/>
                <a:cs typeface="Calibri" panose="020F0502020204030204" pitchFamily="34" charset="0"/>
              </a:rPr>
              <a:t>               </a:t>
            </a:r>
            <a:r>
              <a:rPr lang="en-US" sz="2100" b="1" dirty="0">
                <a:latin typeface="Calibri" panose="020F0502020204030204" pitchFamily="34" charset="0"/>
                <a:ea typeface="Calibri" panose="020F0502020204030204" pitchFamily="34" charset="0"/>
                <a:cs typeface="Calibri" panose="020F0502020204030204" pitchFamily="34" charset="0"/>
              </a:rPr>
              <a:t>Evaluation Metrics Used:</a:t>
            </a:r>
          </a:p>
          <a:p>
            <a:r>
              <a:rPr lang="en-US" sz="2100" b="1" dirty="0">
                <a:latin typeface="Calibri" panose="020F0502020204030204" pitchFamily="34" charset="0"/>
                <a:ea typeface="Calibri" panose="020F0502020204030204" pitchFamily="34" charset="0"/>
                <a:cs typeface="Calibri" panose="020F0502020204030204" pitchFamily="34" charset="0"/>
              </a:rPr>
              <a:t>                  </a:t>
            </a:r>
            <a:r>
              <a:rPr lang="en-US" sz="2100" dirty="0">
                <a:latin typeface="Calibri" panose="020F0502020204030204" pitchFamily="34" charset="0"/>
                <a:ea typeface="Calibri" panose="020F0502020204030204" pitchFamily="34" charset="0"/>
                <a:cs typeface="Calibri" panose="020F0502020204030204" pitchFamily="34" charset="0"/>
              </a:rPr>
              <a:t>Accuracy, </a:t>
            </a:r>
            <a:r>
              <a:rPr lang="en-IN" sz="2100" dirty="0">
                <a:latin typeface="Calibri" panose="020F0502020204030204" pitchFamily="34" charset="0"/>
                <a:ea typeface="Calibri" panose="020F0502020204030204" pitchFamily="34" charset="0"/>
                <a:cs typeface="Calibri" panose="020F0502020204030204" pitchFamily="34" charset="0"/>
              </a:rPr>
              <a:t>Precision, Recall, F1-Score, Confusion Matrix</a:t>
            </a:r>
          </a:p>
          <a:p>
            <a:endParaRPr lang="en-US" sz="2100" dirty="0">
              <a:latin typeface="Calibri" panose="020F0502020204030204" pitchFamily="34" charset="0"/>
              <a:ea typeface="Calibri" panose="020F0502020204030204" pitchFamily="34" charset="0"/>
              <a:cs typeface="Calibri" panose="020F0502020204030204" pitchFamily="34" charset="0"/>
            </a:endParaRPr>
          </a:p>
          <a:p>
            <a:r>
              <a:rPr lang="en-US" sz="2100" dirty="0">
                <a:latin typeface="Calibri" panose="020F0502020204030204" pitchFamily="34" charset="0"/>
                <a:ea typeface="Calibri" panose="020F0502020204030204" pitchFamily="34" charset="0"/>
                <a:cs typeface="Calibri" panose="020F0502020204030204" pitchFamily="34" charset="0"/>
              </a:rPr>
              <a:t>	</a:t>
            </a:r>
            <a:endParaRPr lang="en-IN"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pPr marL="734695" lvl="2">
              <a:spcBef>
                <a:spcPts val="20"/>
              </a:spcBef>
              <a:tabLst>
                <a:tab pos="1077595" algn="l"/>
              </a:tabLst>
            </a:pPr>
            <a:endParaRPr lang="en-IN" sz="2300" dirty="0">
              <a:latin typeface="Arial MT"/>
              <a:cs typeface="Arial MT"/>
            </a:endParaRPr>
          </a:p>
        </p:txBody>
      </p:sp>
      <p:sp>
        <p:nvSpPr>
          <p:cNvPr id="4" name="object 4"/>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p:cNvSpPr txBox="1">
            <a:spLocks noGrp="1"/>
          </p:cNvSpPr>
          <p:nvPr>
            <p:ph type="sldNum" sz="quarter" idx="7"/>
          </p:nvPr>
        </p:nvSpPr>
        <p:spPr>
          <a:xfrm>
            <a:off x="8409305" y="6472554"/>
            <a:ext cx="351237"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20</a:t>
            </a:fld>
            <a:endParaRPr spc="-25" dirty="0"/>
          </a:p>
        </p:txBody>
      </p:sp>
      <p:sp>
        <p:nvSpPr>
          <p:cNvPr id="3" name="object 3"/>
          <p:cNvSpPr txBox="1">
            <a:spLocks noGrp="1"/>
          </p:cNvSpPr>
          <p:nvPr>
            <p:ph type="title"/>
          </p:nvPr>
        </p:nvSpPr>
        <p:spPr>
          <a:xfrm>
            <a:off x="432128" y="171544"/>
            <a:ext cx="7919703" cy="457176"/>
          </a:xfrm>
          <a:prstGeom prst="rect">
            <a:avLst/>
          </a:prstGeom>
        </p:spPr>
        <p:txBody>
          <a:bodyPr vert="horz" wrap="square" lIns="0" tIns="13335" rIns="0" bIns="0" rtlCol="0">
            <a:spAutoFit/>
          </a:bodyPr>
          <a:lstStyle/>
          <a:p>
            <a:pPr marL="153670">
              <a:spcBef>
                <a:spcPts val="105"/>
              </a:spcBef>
            </a:pPr>
            <a:r>
              <a:rPr lang="en-IN" sz="2800" spc="-10" dirty="0"/>
              <a:t>Approach</a:t>
            </a:r>
            <a:endParaRPr sz="2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407D2-0E4E-DBB3-08F7-1DB15E930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61024-29AE-AC3C-7FC7-658B6C45827D}"/>
              </a:ext>
            </a:extLst>
          </p:cNvPr>
          <p:cNvSpPr>
            <a:spLocks noGrp="1"/>
          </p:cNvSpPr>
          <p:nvPr>
            <p:ph type="title"/>
          </p:nvPr>
        </p:nvSpPr>
        <p:spPr>
          <a:xfrm>
            <a:off x="461760" y="0"/>
            <a:ext cx="7894304" cy="1341124"/>
          </a:xfrm>
        </p:spPr>
        <p:txBody>
          <a:bodyPr>
            <a:normAutofit/>
          </a:bodyPr>
          <a:lstStyle/>
          <a:p>
            <a:r>
              <a:rPr lang="en-US" dirty="0">
                <a:latin typeface="Times New Roman"/>
                <a:cs typeface="Times New Roman"/>
              </a:rPr>
              <a:t>Objective-wise results</a:t>
            </a:r>
          </a:p>
          <a:p>
            <a:endParaRPr lang="en-US" dirty="0"/>
          </a:p>
        </p:txBody>
      </p:sp>
      <p:sp>
        <p:nvSpPr>
          <p:cNvPr id="3" name="Text Placeholder 2">
            <a:extLst>
              <a:ext uri="{FF2B5EF4-FFF2-40B4-BE49-F238E27FC236}">
                <a16:creationId xmlns:a16="http://schemas.microsoft.com/office/drawing/2014/main" id="{45775956-C051-98BA-A8AE-C60AF4AA9E1E}"/>
              </a:ext>
            </a:extLst>
          </p:cNvPr>
          <p:cNvSpPr>
            <a:spLocks noGrp="1"/>
          </p:cNvSpPr>
          <p:nvPr>
            <p:ph type="body" idx="1"/>
          </p:nvPr>
        </p:nvSpPr>
        <p:spPr>
          <a:xfrm>
            <a:off x="456873" y="1341124"/>
            <a:ext cx="8225367" cy="4622373"/>
          </a:xfrm>
        </p:spPr>
        <p:txBody>
          <a:bodyPr>
            <a:normAutofit fontScale="92500" lnSpcReduction="10000"/>
          </a:bodyPr>
          <a:lstStyle/>
          <a:p>
            <a:pPr marL="114300" indent="0">
              <a:buNone/>
            </a:pPr>
            <a:r>
              <a:rPr lang="en-US" b="1" dirty="0">
                <a:latin typeface="Times New Roman" panose="02020603050405020304" pitchFamily="18" charset="0"/>
                <a:cs typeface="Times New Roman" panose="02020603050405020304" pitchFamily="18" charset="0"/>
              </a:rPr>
              <a:t>Smart CCTV Violence Detection System Analysis</a:t>
            </a:r>
            <a:r>
              <a:rPr lang="en-US" b="1" dirty="0">
                <a:latin typeface="Times New Roman"/>
                <a:cs typeface="Times New Roman"/>
              </a:rPr>
              <a:t>:</a:t>
            </a:r>
            <a:endParaRPr lang="en-US" dirty="0">
              <a:latin typeface="Times New Roman"/>
              <a:cs typeface="Times New Roman"/>
            </a:endParaRPr>
          </a:p>
          <a:p>
            <a:pPr marL="114300" indent="0">
              <a:buNone/>
            </a:pPr>
            <a:endParaRPr lang="en-US" sz="800" b="1" dirty="0">
              <a:latin typeface="Times New Roman"/>
              <a:cs typeface="Times New Roman"/>
            </a:endParaRPr>
          </a:p>
          <a:p>
            <a:pPr marL="114300" indent="0">
              <a:buNone/>
            </a:pPr>
            <a:r>
              <a:rPr lang="en-US" sz="1800" b="1" dirty="0">
                <a:latin typeface="Times New Roman"/>
                <a:cs typeface="Times New Roman"/>
              </a:rPr>
              <a:t>Objective</a:t>
            </a:r>
            <a:r>
              <a:rPr lang="en-US" sz="1800" dirty="0">
                <a:latin typeface="Times New Roman"/>
                <a:cs typeface="Times New Roman"/>
              </a:rPr>
              <a:t> : </a:t>
            </a:r>
            <a:r>
              <a:rPr lang="en-US" sz="1800" dirty="0">
                <a:latin typeface="Times New Roman" panose="02020603050405020304" pitchFamily="18" charset="0"/>
                <a:cs typeface="Times New Roman" panose="02020603050405020304" pitchFamily="18" charset="0"/>
              </a:rPr>
              <a:t>To automatically detect violent activities in CCTV surveillance videos using deep learning techniques and improve security monitoring.</a:t>
            </a:r>
          </a:p>
          <a:p>
            <a:pPr marL="114300" indent="0">
              <a:buNone/>
            </a:pPr>
            <a:r>
              <a:rPr lang="en-US" sz="1800" b="1" dirty="0">
                <a:latin typeface="Times New Roman"/>
                <a:cs typeface="Times New Roman"/>
              </a:rPr>
              <a:t>Intermediate Results</a:t>
            </a:r>
            <a:r>
              <a:rPr lang="en-US" sz="1800" dirty="0">
                <a:latin typeface="Times New Roman"/>
                <a:cs typeface="Times New Roman"/>
              </a:rPr>
              <a:t> :</a:t>
            </a:r>
          </a:p>
          <a:p>
            <a:r>
              <a:rPr lang="en-US" sz="1800" dirty="0">
                <a:latin typeface="Times New Roman" panose="02020603050405020304" pitchFamily="18" charset="0"/>
                <a:cs typeface="Times New Roman" panose="02020603050405020304" pitchFamily="18" charset="0"/>
              </a:rPr>
              <a:t>CCTV surveillance videos successfully collected from the RWF-2000 dataset.</a:t>
            </a:r>
          </a:p>
          <a:p>
            <a:r>
              <a:rPr lang="en-US" sz="1800" dirty="0">
                <a:latin typeface="Times New Roman" panose="02020603050405020304" pitchFamily="18" charset="0"/>
                <a:cs typeface="Times New Roman" panose="02020603050405020304" pitchFamily="18" charset="0"/>
              </a:rPr>
              <a:t>Video clips converted into frames and preprocessed for analysis.ML models trained and evaluated for classification.</a:t>
            </a:r>
          </a:p>
          <a:p>
            <a:r>
              <a:rPr lang="en-US" sz="1800" dirty="0">
                <a:latin typeface="Times New Roman" panose="02020603050405020304" pitchFamily="18" charset="0"/>
                <a:cs typeface="Times New Roman" panose="02020603050405020304" pitchFamily="18" charset="0"/>
              </a:rPr>
              <a:t>Important spatial features such as human posture and interaction patterns extracted from video frames.</a:t>
            </a:r>
          </a:p>
          <a:p>
            <a:r>
              <a:rPr lang="en-US" sz="1800" dirty="0">
                <a:latin typeface="Times New Roman" panose="02020603050405020304" pitchFamily="18" charset="0"/>
                <a:cs typeface="Times New Roman" panose="02020603050405020304" pitchFamily="18" charset="0"/>
              </a:rPr>
              <a:t>Frame sequences processed using a CNN–LSTM model to learn motion patterns associated with violent activities.</a:t>
            </a:r>
          </a:p>
          <a:p>
            <a:r>
              <a:rPr lang="en-US" sz="1800" dirty="0"/>
              <a:t>Random Forest classifier trained to detect abnormal drawing patterns</a:t>
            </a:r>
            <a:endParaRPr lang="en-US" sz="1800" dirty="0">
              <a:latin typeface="Times New Roman"/>
              <a:cs typeface="Times New Roman"/>
            </a:endParaRPr>
          </a:p>
          <a:p>
            <a:endParaRPr lang="en-US" sz="600" dirty="0">
              <a:latin typeface="Times New Roman"/>
              <a:cs typeface="Times New Roman"/>
            </a:endParaRPr>
          </a:p>
          <a:p>
            <a:pPr marL="114300" indent="0">
              <a:buNone/>
            </a:pPr>
            <a:r>
              <a:rPr lang="en-US" sz="1800" dirty="0">
                <a:latin typeface="Times New Roman"/>
                <a:cs typeface="Times New Roman"/>
              </a:rPr>
              <a:t> </a:t>
            </a:r>
            <a:r>
              <a:rPr lang="en-US" sz="1800" b="1" dirty="0">
                <a:latin typeface="Times New Roman"/>
                <a:cs typeface="Times New Roman"/>
              </a:rPr>
              <a:t>Result Achieved</a:t>
            </a:r>
            <a:r>
              <a:rPr lang="en-US" sz="1800" dirty="0">
                <a:latin typeface="Times New Roman"/>
                <a:cs typeface="Times New Roman"/>
              </a:rPr>
              <a:t> : </a:t>
            </a:r>
            <a:r>
              <a:rPr lang="en-US" sz="1900" dirty="0">
                <a:latin typeface="Times New Roman" panose="02020603050405020304" pitchFamily="18" charset="0"/>
                <a:cs typeface="Times New Roman" panose="02020603050405020304" pitchFamily="18" charset="0"/>
              </a:rPr>
              <a:t>The system successfully detected violent and non-violent activities from surveillance videos, enabling automated monitoring and faster identification of security threats.</a:t>
            </a:r>
            <a:endParaRPr lang="en-US" sz="1800" dirty="0">
              <a:latin typeface="Times New Roman"/>
              <a:cs typeface="Times New Roman"/>
            </a:endParaRPr>
          </a:p>
          <a:p>
            <a:endParaRPr lang="en-US" dirty="0">
              <a:latin typeface="Times New Roman"/>
              <a:cs typeface="Times New Roman"/>
            </a:endParaRPr>
          </a:p>
        </p:txBody>
      </p:sp>
      <p:sp>
        <p:nvSpPr>
          <p:cNvPr id="4" name="Slide Number Placeholder 3">
            <a:extLst>
              <a:ext uri="{FF2B5EF4-FFF2-40B4-BE49-F238E27FC236}">
                <a16:creationId xmlns:a16="http://schemas.microsoft.com/office/drawing/2014/main" id="{F1D185C1-DE35-3B23-9AB9-905F85FC746C}"/>
              </a:ext>
            </a:extLst>
          </p:cNvPr>
          <p:cNvSpPr>
            <a:spLocks noGrp="1"/>
          </p:cNvSpPr>
          <p:nvPr>
            <p:ph type="sldNum" idx="12"/>
          </p:nvPr>
        </p:nvSpPr>
        <p:spPr>
          <a:xfrm>
            <a:off x="7918110" y="6180045"/>
            <a:ext cx="874440" cy="633677"/>
          </a:xfrm>
        </p:spPr>
        <p:txBody>
          <a:bodyPr/>
          <a:lstStyle/>
          <a:p>
            <a:fld id="{00000000-1234-1234-1234-123412341234}" type="slidenum">
              <a:rPr lang="en"/>
              <a:pPr/>
              <a:t>21</a:t>
            </a:fld>
            <a:endParaRPr lang="en" dirty="0"/>
          </a:p>
        </p:txBody>
      </p:sp>
      <p:sp>
        <p:nvSpPr>
          <p:cNvPr id="5" name="Footer Placeholder 4">
            <a:extLst>
              <a:ext uri="{FF2B5EF4-FFF2-40B4-BE49-F238E27FC236}">
                <a16:creationId xmlns:a16="http://schemas.microsoft.com/office/drawing/2014/main" id="{7BA905E2-A701-3B89-A0E1-94E4AB6665A8}"/>
              </a:ext>
            </a:extLst>
          </p:cNvPr>
          <p:cNvSpPr>
            <a:spLocks noGrp="1"/>
          </p:cNvSpPr>
          <p:nvPr>
            <p:ph type="ftr" idx="11"/>
          </p:nvPr>
        </p:nvSpPr>
        <p:spPr>
          <a:xfrm>
            <a:off x="-214630" y="6292645"/>
            <a:ext cx="8569960" cy="412954"/>
          </a:xfrm>
        </p:spPr>
        <p:txBody>
          <a:bodyPr/>
          <a:lstStyle/>
          <a:p>
            <a:r>
              <a:rPr lang="en-US" dirty="0"/>
              <a:t>14/03/2026                                                SVECW | Department of Artificial Intelligence| Project Review-4</a:t>
            </a:r>
          </a:p>
        </p:txBody>
      </p:sp>
    </p:spTree>
    <p:extLst>
      <p:ext uri="{BB962C8B-B14F-4D97-AF65-F5344CB8AC3E}">
        <p14:creationId xmlns:p14="http://schemas.microsoft.com/office/powerpoint/2010/main" val="2993637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35785-AA62-362E-D62A-C5C75D188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7BA75-8D11-FE3A-9821-CD148FDD625C}"/>
              </a:ext>
            </a:extLst>
          </p:cNvPr>
          <p:cNvSpPr>
            <a:spLocks noGrp="1"/>
          </p:cNvSpPr>
          <p:nvPr>
            <p:ph type="title"/>
          </p:nvPr>
        </p:nvSpPr>
        <p:spPr>
          <a:xfrm>
            <a:off x="461760" y="0"/>
            <a:ext cx="7894304" cy="1341124"/>
          </a:xfrm>
        </p:spPr>
        <p:txBody>
          <a:bodyPr>
            <a:normAutofit/>
          </a:bodyPr>
          <a:lstStyle/>
          <a:p>
            <a:r>
              <a:rPr lang="en-US" dirty="0">
                <a:latin typeface="Times New Roman"/>
                <a:cs typeface="Times New Roman"/>
              </a:rPr>
              <a:t>Objective-wise results</a:t>
            </a:r>
          </a:p>
          <a:p>
            <a:endParaRPr lang="en-US" dirty="0"/>
          </a:p>
        </p:txBody>
      </p:sp>
      <p:sp>
        <p:nvSpPr>
          <p:cNvPr id="3" name="Text Placeholder 2">
            <a:extLst>
              <a:ext uri="{FF2B5EF4-FFF2-40B4-BE49-F238E27FC236}">
                <a16:creationId xmlns:a16="http://schemas.microsoft.com/office/drawing/2014/main" id="{BA6D3EF0-5CFE-F554-B406-EA304218ABFA}"/>
              </a:ext>
            </a:extLst>
          </p:cNvPr>
          <p:cNvSpPr>
            <a:spLocks noGrp="1"/>
          </p:cNvSpPr>
          <p:nvPr>
            <p:ph type="body" idx="1"/>
          </p:nvPr>
        </p:nvSpPr>
        <p:spPr>
          <a:xfrm>
            <a:off x="378215" y="1338181"/>
            <a:ext cx="8225367" cy="4622373"/>
          </a:xfrm>
        </p:spPr>
        <p:txBody>
          <a:bodyPr>
            <a:normAutofit/>
          </a:bodyPr>
          <a:lstStyle/>
          <a:p>
            <a:pPr marL="114300" indent="0">
              <a:buNone/>
            </a:pPr>
            <a:r>
              <a:rPr lang="en-IN" b="1" dirty="0">
                <a:latin typeface="Times New Roman" panose="02020603050405020304" pitchFamily="18" charset="0"/>
                <a:cs typeface="Times New Roman" panose="02020603050405020304" pitchFamily="18" charset="0"/>
              </a:rPr>
              <a:t>Automated Video Surveillance Analysis</a:t>
            </a:r>
            <a:r>
              <a:rPr lang="en-US" b="1" dirty="0">
                <a:latin typeface="Times New Roman"/>
                <a:cs typeface="Times New Roman"/>
              </a:rPr>
              <a:t>:</a:t>
            </a:r>
            <a:endParaRPr lang="en-US" dirty="0">
              <a:latin typeface="Times New Roman"/>
              <a:cs typeface="Times New Roman"/>
            </a:endParaRPr>
          </a:p>
          <a:p>
            <a:pPr marL="114300" indent="0">
              <a:buNone/>
            </a:pPr>
            <a:endParaRPr lang="en-US" sz="800" b="1" dirty="0">
              <a:latin typeface="Times New Roman"/>
              <a:cs typeface="Times New Roman"/>
            </a:endParaRPr>
          </a:p>
          <a:p>
            <a:pPr marL="114300" indent="0">
              <a:buNone/>
            </a:pPr>
            <a:r>
              <a:rPr lang="en-US" sz="1800" b="1" dirty="0">
                <a:latin typeface="Times New Roman"/>
                <a:cs typeface="Times New Roman"/>
              </a:rPr>
              <a:t>Objective</a:t>
            </a:r>
            <a:r>
              <a:rPr lang="en-US" sz="1800" dirty="0">
                <a:latin typeface="Times New Roman"/>
                <a:cs typeface="Times New Roman"/>
              </a:rPr>
              <a:t> : </a:t>
            </a:r>
            <a:r>
              <a:rPr lang="en-US" sz="1800" dirty="0">
                <a:latin typeface="Times New Roman" panose="02020603050405020304" pitchFamily="18" charset="0"/>
                <a:cs typeface="Times New Roman" panose="02020603050405020304" pitchFamily="18" charset="0"/>
              </a:rPr>
              <a:t>To analyze human activities in real-time CCTV footage using deep learning models for accurate violence detection.</a:t>
            </a:r>
          </a:p>
          <a:p>
            <a:pPr marL="114300" indent="0">
              <a:buNone/>
            </a:pPr>
            <a:r>
              <a:rPr lang="en-US" sz="1800" b="1" dirty="0">
                <a:latin typeface="Times New Roman"/>
                <a:cs typeface="Times New Roman"/>
              </a:rPr>
              <a:t>Intermediate Results</a:t>
            </a:r>
            <a:r>
              <a:rPr lang="en-US" sz="1800" dirty="0">
                <a:latin typeface="Times New Roman"/>
                <a:cs typeface="Times New Roman"/>
              </a:rPr>
              <a:t> :</a:t>
            </a:r>
          </a:p>
          <a:p>
            <a:r>
              <a:rPr lang="en-US" sz="1800" dirty="0">
                <a:latin typeface="Times New Roman" panose="02020603050405020304" pitchFamily="18" charset="0"/>
                <a:cs typeface="Times New Roman" panose="02020603050405020304" pitchFamily="18" charset="0"/>
              </a:rPr>
              <a:t>Video frames extracted and normalized for consistent model input.</a:t>
            </a:r>
          </a:p>
          <a:p>
            <a:r>
              <a:rPr lang="en-US" sz="1800" dirty="0">
                <a:latin typeface="Times New Roman" panose="02020603050405020304" pitchFamily="18" charset="0"/>
                <a:cs typeface="Times New Roman" panose="02020603050405020304" pitchFamily="18" charset="0"/>
              </a:rPr>
              <a:t>Frame sequences created to capture temporal motion patterns.</a:t>
            </a:r>
          </a:p>
          <a:p>
            <a:r>
              <a:rPr lang="en-US" sz="1800" dirty="0">
                <a:latin typeface="Times New Roman" panose="02020603050405020304" pitchFamily="18" charset="0"/>
                <a:cs typeface="Times New Roman" panose="02020603050405020304" pitchFamily="18" charset="0"/>
              </a:rPr>
              <a:t>CNN model used to extract visual features from frames.</a:t>
            </a:r>
          </a:p>
          <a:p>
            <a:r>
              <a:rPr lang="en-US" sz="1800" dirty="0">
                <a:latin typeface="Times New Roman" panose="02020603050405020304" pitchFamily="18" charset="0"/>
                <a:cs typeface="Times New Roman" panose="02020603050405020304" pitchFamily="18" charset="0"/>
              </a:rPr>
              <a:t>LSTM network trained to recognize sequential movement patterns across frames.</a:t>
            </a:r>
          </a:p>
          <a:p>
            <a:r>
              <a:rPr lang="en-US" sz="1800" dirty="0">
                <a:latin typeface="Times New Roman" panose="02020603050405020304" pitchFamily="18" charset="0"/>
                <a:cs typeface="Times New Roman" panose="02020603050405020304" pitchFamily="18" charset="0"/>
              </a:rPr>
              <a:t>Deep learning model trained and evaluated for violence classification.</a:t>
            </a:r>
          </a:p>
          <a:p>
            <a:pPr marL="114300" indent="0">
              <a:buNone/>
            </a:pPr>
            <a:r>
              <a:rPr lang="en-US" sz="1800" dirty="0">
                <a:latin typeface="Times New Roman"/>
                <a:cs typeface="Times New Roman"/>
              </a:rPr>
              <a:t> </a:t>
            </a:r>
            <a:r>
              <a:rPr lang="en-US" sz="1800" b="1" dirty="0">
                <a:latin typeface="Times New Roman"/>
                <a:cs typeface="Times New Roman"/>
              </a:rPr>
              <a:t>Result Achieved</a:t>
            </a:r>
            <a:r>
              <a:rPr lang="en-US" sz="1800" dirty="0">
                <a:latin typeface="Times New Roman"/>
                <a:cs typeface="Times New Roman"/>
              </a:rPr>
              <a:t> : </a:t>
            </a:r>
            <a:r>
              <a:rPr lang="en-US" sz="1800" dirty="0">
                <a:latin typeface="Times New Roman" panose="02020603050405020304" pitchFamily="18" charset="0"/>
                <a:cs typeface="Times New Roman" panose="02020603050405020304" pitchFamily="18" charset="0"/>
              </a:rPr>
              <a:t>The proposed system achieved reliable performance in identifying violent activities in surveillance videos, demonstrating the potential for real-time automated security monitoring.</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BC93358-4CED-39DD-5FC4-50D43E62438F}"/>
              </a:ext>
            </a:extLst>
          </p:cNvPr>
          <p:cNvSpPr>
            <a:spLocks noGrp="1"/>
          </p:cNvSpPr>
          <p:nvPr>
            <p:ph type="sldNum" idx="12"/>
          </p:nvPr>
        </p:nvSpPr>
        <p:spPr>
          <a:xfrm>
            <a:off x="7807800" y="6034799"/>
            <a:ext cx="874440" cy="633677"/>
          </a:xfrm>
        </p:spPr>
        <p:txBody>
          <a:bodyPr/>
          <a:lstStyle/>
          <a:p>
            <a:fld id="{00000000-1234-1234-1234-123412341234}" type="slidenum">
              <a:rPr lang="en"/>
              <a:pPr/>
              <a:t>22</a:t>
            </a:fld>
            <a:endParaRPr lang="en" dirty="0"/>
          </a:p>
        </p:txBody>
      </p:sp>
      <p:sp>
        <p:nvSpPr>
          <p:cNvPr id="5" name="Footer Placeholder 4">
            <a:extLst>
              <a:ext uri="{FF2B5EF4-FFF2-40B4-BE49-F238E27FC236}">
                <a16:creationId xmlns:a16="http://schemas.microsoft.com/office/drawing/2014/main" id="{CF525851-361F-2FDE-25AD-5A07A36728BB}"/>
              </a:ext>
            </a:extLst>
          </p:cNvPr>
          <p:cNvSpPr>
            <a:spLocks noGrp="1"/>
          </p:cNvSpPr>
          <p:nvPr>
            <p:ph type="ftr" idx="11"/>
          </p:nvPr>
        </p:nvSpPr>
        <p:spPr>
          <a:xfrm>
            <a:off x="-214630" y="5997677"/>
            <a:ext cx="8569960" cy="707922"/>
          </a:xfrm>
        </p:spPr>
        <p:txBody>
          <a:bodyPr/>
          <a:lstStyle/>
          <a:p>
            <a:r>
              <a:rPr lang="en-US" dirty="0"/>
              <a:t>14/03/2026                                                SVECW | Department of Artificial Intelligence| Project Review-4</a:t>
            </a:r>
          </a:p>
        </p:txBody>
      </p:sp>
    </p:spTree>
    <p:extLst>
      <p:ext uri="{BB962C8B-B14F-4D97-AF65-F5344CB8AC3E}">
        <p14:creationId xmlns:p14="http://schemas.microsoft.com/office/powerpoint/2010/main" val="2459269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14D4D-F757-8A37-672D-18F8266D1AD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D7CCDEE-038A-3C68-EA67-29CEE864FEA6}"/>
              </a:ext>
            </a:extLst>
          </p:cNvPr>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a:extLst>
              <a:ext uri="{FF2B5EF4-FFF2-40B4-BE49-F238E27FC236}">
                <a16:creationId xmlns:a16="http://schemas.microsoft.com/office/drawing/2014/main" id="{3B576C4F-0B38-4AB9-B53A-C6F091DB2501}"/>
              </a:ext>
            </a:extLst>
          </p:cNvPr>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a:extLst>
              <a:ext uri="{FF2B5EF4-FFF2-40B4-BE49-F238E27FC236}">
                <a16:creationId xmlns:a16="http://schemas.microsoft.com/office/drawing/2014/main" id="{4CEF779A-9AE9-E3CD-7338-691322F1EBEE}"/>
              </a:ext>
            </a:extLst>
          </p:cNvPr>
          <p:cNvSpPr txBox="1">
            <a:spLocks noGrp="1"/>
          </p:cNvSpPr>
          <p:nvPr>
            <p:ph type="sldNum" sz="quarter" idx="7"/>
          </p:nvPr>
        </p:nvSpPr>
        <p:spPr>
          <a:xfrm>
            <a:off x="8409305" y="6472554"/>
            <a:ext cx="351237"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23</a:t>
            </a:fld>
            <a:endParaRPr spc="-25" dirty="0"/>
          </a:p>
        </p:txBody>
      </p:sp>
      <p:sp>
        <p:nvSpPr>
          <p:cNvPr id="3" name="object 3">
            <a:extLst>
              <a:ext uri="{FF2B5EF4-FFF2-40B4-BE49-F238E27FC236}">
                <a16:creationId xmlns:a16="http://schemas.microsoft.com/office/drawing/2014/main" id="{0542159D-6509-7037-071B-C70BD9F20ED8}"/>
              </a:ext>
            </a:extLst>
          </p:cNvPr>
          <p:cNvSpPr txBox="1">
            <a:spLocks noGrp="1"/>
          </p:cNvSpPr>
          <p:nvPr>
            <p:ph type="title"/>
          </p:nvPr>
        </p:nvSpPr>
        <p:spPr>
          <a:xfrm>
            <a:off x="361107" y="200780"/>
            <a:ext cx="7919703" cy="441788"/>
          </a:xfrm>
          <a:prstGeom prst="rect">
            <a:avLst/>
          </a:prstGeom>
        </p:spPr>
        <p:txBody>
          <a:bodyPr vert="horz" wrap="square" lIns="0" tIns="13335" rIns="0" bIns="0" rtlCol="0">
            <a:spAutoFit/>
          </a:bodyPr>
          <a:lstStyle/>
          <a:p>
            <a:pPr marL="153670">
              <a:lnSpc>
                <a:spcPct val="100000"/>
              </a:lnSpc>
              <a:spcBef>
                <a:spcPts val="105"/>
              </a:spcBef>
            </a:pPr>
            <a:r>
              <a:rPr lang="en-IN" sz="2700" dirty="0"/>
              <a:t>Results Analysis and Comparisons</a:t>
            </a:r>
            <a:endParaRPr sz="2700" dirty="0"/>
          </a:p>
        </p:txBody>
      </p:sp>
      <p:pic>
        <p:nvPicPr>
          <p:cNvPr id="7" name="Picture 6">
            <a:extLst>
              <a:ext uri="{FF2B5EF4-FFF2-40B4-BE49-F238E27FC236}">
                <a16:creationId xmlns:a16="http://schemas.microsoft.com/office/drawing/2014/main" id="{177E1BEA-DEB9-75F4-DEBC-415808DE6DC3}"/>
              </a:ext>
            </a:extLst>
          </p:cNvPr>
          <p:cNvPicPr>
            <a:picLocks noChangeAspect="1"/>
          </p:cNvPicPr>
          <p:nvPr/>
        </p:nvPicPr>
        <p:blipFill>
          <a:blip r:embed="rId2"/>
          <a:stretch>
            <a:fillRect/>
          </a:stretch>
        </p:blipFill>
        <p:spPr>
          <a:xfrm>
            <a:off x="146685" y="1209040"/>
            <a:ext cx="8771890" cy="4860925"/>
          </a:xfrm>
          <a:prstGeom prst="rect">
            <a:avLst/>
          </a:prstGeom>
        </p:spPr>
      </p:pic>
    </p:spTree>
    <p:extLst>
      <p:ext uri="{BB962C8B-B14F-4D97-AF65-F5344CB8AC3E}">
        <p14:creationId xmlns:p14="http://schemas.microsoft.com/office/powerpoint/2010/main" val="3377470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C313-375B-3896-FCA8-BAAEDE52C48A}"/>
              </a:ext>
            </a:extLst>
          </p:cNvPr>
          <p:cNvSpPr>
            <a:spLocks noGrp="1"/>
          </p:cNvSpPr>
          <p:nvPr>
            <p:ph type="title"/>
          </p:nvPr>
        </p:nvSpPr>
        <p:spPr/>
        <p:txBody>
          <a:bodyPr>
            <a:normAutofit/>
          </a:bodyPr>
          <a:lstStyle/>
          <a:p>
            <a:r>
              <a:rPr lang="en-US" dirty="0">
                <a:latin typeface="Times New Roman"/>
                <a:cs typeface="Times New Roman"/>
              </a:rPr>
              <a:t>Quantitative Result Analysis</a:t>
            </a:r>
          </a:p>
        </p:txBody>
      </p:sp>
      <p:sp>
        <p:nvSpPr>
          <p:cNvPr id="3" name="Text Placeholder 2">
            <a:extLst>
              <a:ext uri="{FF2B5EF4-FFF2-40B4-BE49-F238E27FC236}">
                <a16:creationId xmlns:a16="http://schemas.microsoft.com/office/drawing/2014/main" id="{95DD38BA-76FB-08AF-2A29-3E821463BAE2}"/>
              </a:ext>
            </a:extLst>
          </p:cNvPr>
          <p:cNvSpPr>
            <a:spLocks noGrp="1"/>
          </p:cNvSpPr>
          <p:nvPr>
            <p:ph type="body" idx="1"/>
          </p:nvPr>
        </p:nvSpPr>
        <p:spPr>
          <a:xfrm>
            <a:off x="4441000" y="2908860"/>
            <a:ext cx="131000" cy="275303"/>
          </a:xfrm>
        </p:spPr>
        <p:txBody>
          <a:bodyPr>
            <a:normAutofit fontScale="55000" lnSpcReduction="20000"/>
          </a:bodyPr>
          <a:lstStyle/>
          <a:p>
            <a:pPr marL="114300" indent="0">
              <a:buNone/>
            </a:pPr>
            <a:endParaRPr lang="en-US"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D6E98C7-4A6C-098B-A346-DB6D9AF4A8E3}"/>
              </a:ext>
            </a:extLst>
          </p:cNvPr>
          <p:cNvSpPr>
            <a:spLocks noGrp="1"/>
          </p:cNvSpPr>
          <p:nvPr>
            <p:ph type="sldNum" idx="12"/>
          </p:nvPr>
        </p:nvSpPr>
        <p:spPr>
          <a:xfrm>
            <a:off x="7898077" y="6309677"/>
            <a:ext cx="874440" cy="365125"/>
          </a:xfrm>
        </p:spPr>
        <p:txBody>
          <a:bodyPr/>
          <a:lstStyle/>
          <a:p>
            <a:fld id="{00000000-1234-1234-1234-123412341234}" type="slidenum">
              <a:rPr lang="en"/>
              <a:pPr/>
              <a:t>24</a:t>
            </a:fld>
            <a:endParaRPr lang="en"/>
          </a:p>
        </p:txBody>
      </p:sp>
      <p:sp>
        <p:nvSpPr>
          <p:cNvPr id="5" name="Footer Placeholder 4">
            <a:extLst>
              <a:ext uri="{FF2B5EF4-FFF2-40B4-BE49-F238E27FC236}">
                <a16:creationId xmlns:a16="http://schemas.microsoft.com/office/drawing/2014/main" id="{4F649795-B828-969C-6CF4-64B7134EE7ED}"/>
              </a:ext>
            </a:extLst>
          </p:cNvPr>
          <p:cNvSpPr>
            <a:spLocks noGrp="1"/>
          </p:cNvSpPr>
          <p:nvPr>
            <p:ph type="ftr" idx="11"/>
          </p:nvPr>
        </p:nvSpPr>
        <p:spPr>
          <a:xfrm>
            <a:off x="-460164" y="5998464"/>
            <a:ext cx="8426028" cy="987552"/>
          </a:xfrm>
        </p:spPr>
        <p:txBody>
          <a:bodyPr/>
          <a:lstStyle/>
          <a:p>
            <a:r>
              <a:rPr lang="en-US" dirty="0"/>
              <a:t>14/03/2026                                   SVECW | Department of Artificial Intelligence| Project Review-4</a:t>
            </a:r>
          </a:p>
        </p:txBody>
      </p:sp>
      <p:pic>
        <p:nvPicPr>
          <p:cNvPr id="8" name="Picture 7">
            <a:extLst>
              <a:ext uri="{FF2B5EF4-FFF2-40B4-BE49-F238E27FC236}">
                <a16:creationId xmlns:a16="http://schemas.microsoft.com/office/drawing/2014/main" id="{50A36205-C25F-F7AD-4A85-C660F6F5746B}"/>
              </a:ext>
            </a:extLst>
          </p:cNvPr>
          <p:cNvPicPr>
            <a:picLocks noChangeAspect="1"/>
          </p:cNvPicPr>
          <p:nvPr/>
        </p:nvPicPr>
        <p:blipFill>
          <a:blip r:embed="rId2"/>
          <a:stretch>
            <a:fillRect/>
          </a:stretch>
        </p:blipFill>
        <p:spPr>
          <a:xfrm>
            <a:off x="914400" y="1194628"/>
            <a:ext cx="7315200" cy="4876800"/>
          </a:xfrm>
          <a:prstGeom prst="rect">
            <a:avLst/>
          </a:prstGeom>
        </p:spPr>
      </p:pic>
    </p:spTree>
    <p:extLst>
      <p:ext uri="{BB962C8B-B14F-4D97-AF65-F5344CB8AC3E}">
        <p14:creationId xmlns:p14="http://schemas.microsoft.com/office/powerpoint/2010/main" val="595047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4576-7CFC-51A4-80F4-07B41477FA6C}"/>
              </a:ext>
            </a:extLst>
          </p:cNvPr>
          <p:cNvSpPr>
            <a:spLocks noGrp="1"/>
          </p:cNvSpPr>
          <p:nvPr>
            <p:ph type="title"/>
          </p:nvPr>
        </p:nvSpPr>
        <p:spPr/>
        <p:txBody>
          <a:bodyPr>
            <a:normAutofit/>
          </a:bodyPr>
          <a:lstStyle/>
          <a:p>
            <a:r>
              <a:rPr lang="en-US">
                <a:latin typeface="Times New Roman"/>
                <a:cs typeface="Times New Roman"/>
              </a:rPr>
              <a:t>Demonstration</a:t>
            </a:r>
          </a:p>
        </p:txBody>
      </p:sp>
      <p:sp>
        <p:nvSpPr>
          <p:cNvPr id="3" name="Text Placeholder 2">
            <a:extLst>
              <a:ext uri="{FF2B5EF4-FFF2-40B4-BE49-F238E27FC236}">
                <a16:creationId xmlns:a16="http://schemas.microsoft.com/office/drawing/2014/main" id="{85DD7D74-56B0-C7C4-BFE8-BC80E49E9CE7}"/>
              </a:ext>
            </a:extLst>
          </p:cNvPr>
          <p:cNvSpPr>
            <a:spLocks noGrp="1"/>
          </p:cNvSpPr>
          <p:nvPr>
            <p:ph type="body" idx="1"/>
          </p:nvPr>
        </p:nvSpPr>
        <p:spPr>
          <a:xfrm>
            <a:off x="475129" y="1037227"/>
            <a:ext cx="8229600" cy="5156309"/>
          </a:xfrm>
        </p:spPr>
        <p:txBody>
          <a:bodyPr>
            <a:normAutofit lnSpcReduction="10000"/>
          </a:bodyPr>
          <a:lstStyle/>
          <a:p>
            <a:pPr marL="114300" indent="0">
              <a:buNone/>
            </a:pPr>
            <a:r>
              <a:rPr lang="en-US" b="1" dirty="0">
                <a:latin typeface="Times New Roman"/>
                <a:cs typeface="Times New Roman"/>
              </a:rPr>
              <a:t>Demonstration Procedure :</a:t>
            </a:r>
          </a:p>
          <a:p>
            <a:r>
              <a:rPr lang="en-US" dirty="0">
                <a:latin typeface="Times New Roman" panose="02020603050405020304" pitchFamily="18" charset="0"/>
                <a:cs typeface="Times New Roman" panose="02020603050405020304" pitchFamily="18" charset="0"/>
              </a:rPr>
              <a:t>Upload a CCTV video clip or provide a surveillance video stream to the system.</a:t>
            </a:r>
          </a:p>
          <a:p>
            <a:r>
              <a:rPr lang="en-US" dirty="0">
                <a:latin typeface="Times New Roman" panose="02020603050405020304" pitchFamily="18" charset="0"/>
                <a:cs typeface="Times New Roman" panose="02020603050405020304" pitchFamily="18" charset="0"/>
              </a:rPr>
              <a:t>The system preprocesses the input video by extracting frames and resizing them for consistent analysis.</a:t>
            </a:r>
          </a:p>
          <a:p>
            <a:r>
              <a:rPr lang="en-US" dirty="0">
                <a:latin typeface="Times New Roman" panose="02020603050405020304" pitchFamily="18" charset="0"/>
                <a:cs typeface="Times New Roman" panose="02020603050405020304" pitchFamily="18" charset="0"/>
              </a:rPr>
              <a:t>Important visual features such as human posture, body movement, and interactions between individuals are extracted from the frames.</a:t>
            </a:r>
          </a:p>
          <a:p>
            <a:r>
              <a:rPr lang="en-US" dirty="0">
                <a:latin typeface="Times New Roman" panose="02020603050405020304" pitchFamily="18" charset="0"/>
                <a:cs typeface="Times New Roman" panose="02020603050405020304" pitchFamily="18" charset="0"/>
              </a:rPr>
              <a:t>The extracted frame sequences are passed to the trained </a:t>
            </a:r>
            <a:r>
              <a:rPr lang="en-US" b="1" dirty="0">
                <a:latin typeface="Times New Roman" panose="02020603050405020304" pitchFamily="18" charset="0"/>
                <a:cs typeface="Times New Roman" panose="02020603050405020304" pitchFamily="18" charset="0"/>
              </a:rPr>
              <a:t>CNN–LSTM deep learning model</a:t>
            </a:r>
            <a:r>
              <a:rPr lang="en-US" dirty="0">
                <a:latin typeface="Times New Roman" panose="02020603050405020304" pitchFamily="18" charset="0"/>
                <a:cs typeface="Times New Roman" panose="02020603050405020304" pitchFamily="18" charset="0"/>
              </a:rPr>
              <a:t> for violence detection.</a:t>
            </a:r>
          </a:p>
          <a:p>
            <a:pPr marL="114300" indent="0">
              <a:buNone/>
            </a:pPr>
            <a:r>
              <a:rPr lang="en-US" b="1" dirty="0">
                <a:latin typeface="Times New Roman"/>
                <a:cs typeface="Times New Roman"/>
              </a:rPr>
              <a:t>Automated Processing :</a:t>
            </a:r>
          </a:p>
          <a:p>
            <a:pPr marL="285750" indent="-285750"/>
            <a:r>
              <a:rPr lang="en-US" sz="2000" dirty="0">
                <a:latin typeface="Times New Roman" panose="02020603050405020304" pitchFamily="18" charset="0"/>
                <a:cs typeface="Times New Roman" panose="02020603050405020304" pitchFamily="18" charset="0"/>
              </a:rPr>
              <a:t>Video clips are converted into frame sequences for analysis.</a:t>
            </a:r>
          </a:p>
          <a:p>
            <a:pPr marL="285750" indent="-285750"/>
            <a:r>
              <a:rPr lang="en-US" sz="2000" dirty="0">
                <a:latin typeface="Times New Roman" panose="02020603050405020304" pitchFamily="18" charset="0"/>
                <a:cs typeface="Times New Roman" panose="02020603050405020304" pitchFamily="18" charset="0"/>
              </a:rPr>
              <a:t>Deep learning models automatically extract spatial and temporal features from the frames.</a:t>
            </a:r>
          </a:p>
          <a:p>
            <a:pPr marL="285750" indent="-285750"/>
            <a:r>
              <a:rPr lang="en-US" sz="2000" dirty="0">
                <a:latin typeface="Times New Roman" panose="02020603050405020304" pitchFamily="18" charset="0"/>
                <a:cs typeface="Times New Roman" panose="02020603050405020304" pitchFamily="18" charset="0"/>
              </a:rPr>
              <a:t>The trained model analyzes these features and classifies the activity as </a:t>
            </a:r>
            <a:r>
              <a:rPr lang="en-US" sz="2000" b="1" dirty="0">
                <a:latin typeface="Times New Roman" panose="02020603050405020304" pitchFamily="18" charset="0"/>
                <a:cs typeface="Times New Roman" panose="02020603050405020304" pitchFamily="18" charset="0"/>
              </a:rPr>
              <a:t>Violence or Non-Violence</a:t>
            </a:r>
            <a:r>
              <a:rPr lang="en-US" sz="20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D12813B4-933E-B6EE-B78A-7C150DA9D588}"/>
              </a:ext>
            </a:extLst>
          </p:cNvPr>
          <p:cNvSpPr>
            <a:spLocks noGrp="1"/>
          </p:cNvSpPr>
          <p:nvPr>
            <p:ph type="sldNum" idx="12"/>
          </p:nvPr>
        </p:nvSpPr>
        <p:spPr/>
        <p:txBody>
          <a:bodyPr/>
          <a:lstStyle/>
          <a:p>
            <a:fld id="{00000000-1234-1234-1234-123412341234}" type="slidenum">
              <a:rPr lang="en"/>
              <a:pPr/>
              <a:t>25</a:t>
            </a:fld>
            <a:endParaRPr lang="en"/>
          </a:p>
        </p:txBody>
      </p:sp>
      <p:sp>
        <p:nvSpPr>
          <p:cNvPr id="5" name="Footer Placeholder 4">
            <a:extLst>
              <a:ext uri="{FF2B5EF4-FFF2-40B4-BE49-F238E27FC236}">
                <a16:creationId xmlns:a16="http://schemas.microsoft.com/office/drawing/2014/main" id="{336521E0-CC8D-BFBF-4F3F-E2414C0BC9AF}"/>
              </a:ext>
            </a:extLst>
          </p:cNvPr>
          <p:cNvSpPr>
            <a:spLocks noGrp="1"/>
          </p:cNvSpPr>
          <p:nvPr>
            <p:ph type="ftr" idx="11"/>
          </p:nvPr>
        </p:nvSpPr>
        <p:spPr>
          <a:xfrm>
            <a:off x="-1014730" y="5820773"/>
            <a:ext cx="9446260" cy="1421275"/>
          </a:xfrm>
        </p:spPr>
        <p:txBody>
          <a:bodyPr/>
          <a:lstStyle/>
          <a:p>
            <a:r>
              <a:rPr lang="en-US" dirty="0"/>
              <a:t>14/03/2026                                          SVECW | Department of Artificial Intelligence| Project Review-4</a:t>
            </a:r>
          </a:p>
        </p:txBody>
      </p:sp>
    </p:spTree>
    <p:extLst>
      <p:ext uri="{BB962C8B-B14F-4D97-AF65-F5344CB8AC3E}">
        <p14:creationId xmlns:p14="http://schemas.microsoft.com/office/powerpoint/2010/main" val="960769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1536B-2B4F-D4A7-89A4-5BE83A70F60F}"/>
              </a:ext>
            </a:extLst>
          </p:cNvPr>
          <p:cNvSpPr>
            <a:spLocks noGrp="1"/>
          </p:cNvSpPr>
          <p:nvPr>
            <p:ph type="title"/>
          </p:nvPr>
        </p:nvSpPr>
        <p:spPr/>
        <p:txBody>
          <a:bodyPr>
            <a:normAutofit/>
          </a:bodyPr>
          <a:lstStyle/>
          <a:p>
            <a:r>
              <a:rPr lang="en-US">
                <a:latin typeface="Times New Roman"/>
                <a:cs typeface="Times New Roman"/>
              </a:rPr>
              <a:t>Demonstration</a:t>
            </a:r>
          </a:p>
        </p:txBody>
      </p:sp>
      <p:sp>
        <p:nvSpPr>
          <p:cNvPr id="3" name="Text Placeholder 2">
            <a:extLst>
              <a:ext uri="{FF2B5EF4-FFF2-40B4-BE49-F238E27FC236}">
                <a16:creationId xmlns:a16="http://schemas.microsoft.com/office/drawing/2014/main" id="{A5B7EAA6-7FDC-CA8F-08A9-B882C10A7B37}"/>
              </a:ext>
            </a:extLst>
          </p:cNvPr>
          <p:cNvSpPr>
            <a:spLocks noGrp="1"/>
          </p:cNvSpPr>
          <p:nvPr>
            <p:ph type="body" idx="1"/>
          </p:nvPr>
        </p:nvSpPr>
        <p:spPr/>
        <p:txBody>
          <a:bodyPr/>
          <a:lstStyle/>
          <a:p>
            <a:pPr>
              <a:buNone/>
            </a:pPr>
            <a:r>
              <a:rPr lang="en-US" b="1" dirty="0">
                <a:latin typeface="Times New Roman"/>
                <a:cs typeface="Times New Roman"/>
              </a:rPr>
              <a:t>Output &amp; Validation</a:t>
            </a:r>
          </a:p>
          <a:p>
            <a:pPr marL="285750" indent="-285750"/>
            <a:r>
              <a:rPr lang="en-US" dirty="0"/>
              <a:t>Th</a:t>
            </a:r>
            <a:r>
              <a:rPr lang="en-US" dirty="0">
                <a:latin typeface="Times New Roman" panose="02020603050405020304" pitchFamily="18" charset="0"/>
                <a:cs typeface="Times New Roman" panose="02020603050405020304" pitchFamily="18" charset="0"/>
              </a:rPr>
              <a:t>e system generates an automatic prediction result indicating </a:t>
            </a:r>
            <a:r>
              <a:rPr lang="en-US" b="1" dirty="0">
                <a:latin typeface="Times New Roman" panose="02020603050405020304" pitchFamily="18" charset="0"/>
                <a:cs typeface="Times New Roman" panose="02020603050405020304" pitchFamily="18" charset="0"/>
              </a:rPr>
              <a:t>Violent Activity or Normal Activity</a:t>
            </a:r>
            <a:r>
              <a:rPr lang="en-US" dirty="0">
                <a:latin typeface="Times New Roman" panose="02020603050405020304" pitchFamily="18" charset="0"/>
                <a:cs typeface="Times New Roman" panose="02020603050405020304" pitchFamily="18" charset="0"/>
              </a:rPr>
              <a:t>.</a:t>
            </a:r>
          </a:p>
          <a:p>
            <a:pPr marL="285750" indent="-285750"/>
            <a:r>
              <a:rPr lang="en-US" dirty="0">
                <a:latin typeface="Times New Roman" panose="02020603050405020304" pitchFamily="18" charset="0"/>
                <a:cs typeface="Times New Roman" panose="02020603050405020304" pitchFamily="18" charset="0"/>
              </a:rPr>
              <a:t>The prediction confidence score and classification probability are displayed on the output screen.</a:t>
            </a:r>
          </a:p>
          <a:p>
            <a:pPr marL="285750" indent="-285750"/>
            <a:r>
              <a:rPr lang="en-US" sz="2000" dirty="0">
                <a:latin typeface="Times New Roman" panose="02020603050405020304" pitchFamily="18" charset="0"/>
                <a:cs typeface="Times New Roman" panose="02020603050405020304" pitchFamily="18" charset="0"/>
              </a:rPr>
              <a:t>The analyzed video frames and detection results are stored for further monitoring and evaluation.</a:t>
            </a:r>
          </a:p>
          <a:p>
            <a:pPr marL="0" indent="0">
              <a:buNone/>
            </a:pPr>
            <a:r>
              <a:rPr lang="en-US" dirty="0">
                <a:latin typeface="Times New Roman"/>
                <a:cs typeface="Times New Roman"/>
              </a:rPr>
              <a:t>  </a:t>
            </a:r>
            <a:r>
              <a:rPr lang="en-US" b="1" dirty="0">
                <a:latin typeface="Times New Roman"/>
                <a:cs typeface="Times New Roman"/>
              </a:rPr>
              <a:t>Key Validation Points</a:t>
            </a:r>
          </a:p>
          <a:p>
            <a:pPr marL="285750" indent="-285750"/>
            <a:r>
              <a:rPr lang="en-US" dirty="0">
                <a:latin typeface="Times New Roman" panose="02020603050405020304" pitchFamily="18" charset="0"/>
                <a:cs typeface="Times New Roman" panose="02020603050405020304" pitchFamily="18" charset="0"/>
              </a:rPr>
              <a:t>The system works on new unseen surveillance video clips.</a:t>
            </a:r>
          </a:p>
          <a:p>
            <a:pPr marL="285750" indent="-285750"/>
            <a:r>
              <a:rPr lang="en-US" dirty="0">
                <a:latin typeface="Times New Roman" panose="02020603050405020304" pitchFamily="18" charset="0"/>
                <a:cs typeface="Times New Roman" panose="02020603050405020304" pitchFamily="18" charset="0"/>
              </a:rPr>
              <a:t>Violence detection is performed automatically without manual monitoring.</a:t>
            </a:r>
          </a:p>
          <a:p>
            <a:pPr marL="285750" indent="-285750"/>
            <a:r>
              <a:rPr lang="en-US" dirty="0">
                <a:latin typeface="Times New Roman" panose="02020603050405020304" pitchFamily="18" charset="0"/>
                <a:cs typeface="Times New Roman" panose="02020603050405020304" pitchFamily="18" charset="0"/>
              </a:rPr>
              <a:t>Demonstrates the capability of </a:t>
            </a:r>
            <a:r>
              <a:rPr lang="en-US" b="1" dirty="0">
                <a:latin typeface="Times New Roman" panose="02020603050405020304" pitchFamily="18" charset="0"/>
                <a:cs typeface="Times New Roman" panose="02020603050405020304" pitchFamily="18" charset="0"/>
              </a:rPr>
              <a:t>real-time CCTV surveillance monitoring using AI-based violence detection</a:t>
            </a:r>
            <a:r>
              <a:rPr lang="en-US" dirty="0"/>
              <a:t>.</a:t>
            </a:r>
          </a:p>
        </p:txBody>
      </p:sp>
      <p:sp>
        <p:nvSpPr>
          <p:cNvPr id="4" name="Slide Number Placeholder 3">
            <a:extLst>
              <a:ext uri="{FF2B5EF4-FFF2-40B4-BE49-F238E27FC236}">
                <a16:creationId xmlns:a16="http://schemas.microsoft.com/office/drawing/2014/main" id="{F22ADCA9-0E67-C045-35EC-6ABB17A2A8D4}"/>
              </a:ext>
            </a:extLst>
          </p:cNvPr>
          <p:cNvSpPr>
            <a:spLocks noGrp="1"/>
          </p:cNvSpPr>
          <p:nvPr>
            <p:ph type="sldNum" idx="12"/>
          </p:nvPr>
        </p:nvSpPr>
        <p:spPr/>
        <p:txBody>
          <a:bodyPr/>
          <a:lstStyle/>
          <a:p>
            <a:fld id="{00000000-1234-1234-1234-123412341234}" type="slidenum">
              <a:rPr lang="en"/>
              <a:pPr/>
              <a:t>26</a:t>
            </a:fld>
            <a:endParaRPr lang="en"/>
          </a:p>
        </p:txBody>
      </p:sp>
      <p:sp>
        <p:nvSpPr>
          <p:cNvPr id="5" name="Footer Placeholder 4">
            <a:extLst>
              <a:ext uri="{FF2B5EF4-FFF2-40B4-BE49-F238E27FC236}">
                <a16:creationId xmlns:a16="http://schemas.microsoft.com/office/drawing/2014/main" id="{340944B7-A581-6D48-3755-16F230715276}"/>
              </a:ext>
            </a:extLst>
          </p:cNvPr>
          <p:cNvSpPr>
            <a:spLocks noGrp="1"/>
          </p:cNvSpPr>
          <p:nvPr>
            <p:ph type="ftr" idx="11"/>
          </p:nvPr>
        </p:nvSpPr>
        <p:spPr>
          <a:xfrm>
            <a:off x="-1073263" y="6382084"/>
            <a:ext cx="9425094" cy="269611"/>
          </a:xfrm>
        </p:spPr>
        <p:txBody>
          <a:bodyPr/>
          <a:lstStyle/>
          <a:p>
            <a:r>
              <a:rPr lang="en-US" dirty="0"/>
              <a:t>14/03/2026                                      SVECW | Department of Artificial Intelligence| Project Review-3</a:t>
            </a:r>
          </a:p>
        </p:txBody>
      </p:sp>
    </p:spTree>
    <p:extLst>
      <p:ext uri="{BB962C8B-B14F-4D97-AF65-F5344CB8AC3E}">
        <p14:creationId xmlns:p14="http://schemas.microsoft.com/office/powerpoint/2010/main" val="858030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A6002-40AB-C411-A230-29710DB8BEF2}"/>
              </a:ext>
            </a:extLst>
          </p:cNvPr>
          <p:cNvSpPr>
            <a:spLocks noGrp="1"/>
          </p:cNvSpPr>
          <p:nvPr>
            <p:ph type="title"/>
          </p:nvPr>
        </p:nvSpPr>
        <p:spPr/>
        <p:txBody>
          <a:bodyPr>
            <a:normAutofit/>
          </a:bodyPr>
          <a:lstStyle/>
          <a:p>
            <a:r>
              <a:rPr lang="en-US">
                <a:latin typeface="Times New Roman"/>
                <a:cs typeface="Times New Roman"/>
              </a:rPr>
              <a:t>Research Article Progress </a:t>
            </a:r>
          </a:p>
        </p:txBody>
      </p:sp>
      <p:sp>
        <p:nvSpPr>
          <p:cNvPr id="3" name="Text Placeholder 2">
            <a:extLst>
              <a:ext uri="{FF2B5EF4-FFF2-40B4-BE49-F238E27FC236}">
                <a16:creationId xmlns:a16="http://schemas.microsoft.com/office/drawing/2014/main" id="{A5B20EA4-1853-B7F7-E39B-F7B1EE56450F}"/>
              </a:ext>
            </a:extLst>
          </p:cNvPr>
          <p:cNvSpPr>
            <a:spLocks noGrp="1"/>
          </p:cNvSpPr>
          <p:nvPr>
            <p:ph type="body" idx="1"/>
          </p:nvPr>
        </p:nvSpPr>
        <p:spPr/>
        <p:txBody>
          <a:bodyPr>
            <a:normAutofit fontScale="92500" lnSpcReduction="20000"/>
          </a:bodyPr>
          <a:lstStyle/>
          <a:p>
            <a:pPr marL="114300" indent="0">
              <a:buNone/>
            </a:pPr>
            <a:r>
              <a:rPr lang="en-US" b="1" dirty="0">
                <a:latin typeface="Times New Roman"/>
                <a:cs typeface="Times New Roman"/>
              </a:rPr>
              <a:t>Work Completed :</a:t>
            </a:r>
          </a:p>
          <a:p>
            <a:r>
              <a:rPr lang="en-US" dirty="0">
                <a:latin typeface="Times New Roman"/>
                <a:cs typeface="Times New Roman"/>
              </a:rPr>
              <a:t>Problem statement and literature survey finalized</a:t>
            </a:r>
          </a:p>
          <a:p>
            <a:r>
              <a:rPr lang="en-US" dirty="0">
                <a:latin typeface="Times New Roman" panose="02020603050405020304" pitchFamily="18" charset="0"/>
                <a:cs typeface="Times New Roman" panose="02020603050405020304" pitchFamily="18" charset="0"/>
              </a:rPr>
              <a:t>Video dataset preprocessing and frame extraction implemented using the </a:t>
            </a:r>
            <a:r>
              <a:rPr lang="en-US" b="1" dirty="0">
                <a:latin typeface="Times New Roman" panose="02020603050405020304" pitchFamily="18" charset="0"/>
                <a:cs typeface="Times New Roman" panose="02020603050405020304" pitchFamily="18" charset="0"/>
              </a:rPr>
              <a:t>RWF-2000 surveillance dataset</a:t>
            </a:r>
            <a:r>
              <a:rPr lang="en-US" dirty="0"/>
              <a:t>.</a:t>
            </a:r>
          </a:p>
          <a:p>
            <a:r>
              <a:rPr lang="en-US" dirty="0">
                <a:latin typeface="Times New Roman" panose="02020603050405020304" pitchFamily="18" charset="0"/>
                <a:cs typeface="Times New Roman" panose="02020603050405020304" pitchFamily="18" charset="0"/>
              </a:rPr>
              <a:t>Deep learning model developed using </a:t>
            </a:r>
            <a:r>
              <a:rPr lang="en-US" b="1" dirty="0">
                <a:latin typeface="Times New Roman" panose="02020603050405020304" pitchFamily="18" charset="0"/>
                <a:cs typeface="Times New Roman" panose="02020603050405020304" pitchFamily="18" charset="0"/>
              </a:rPr>
              <a:t>CNN–LSTM architecture</a:t>
            </a:r>
            <a:r>
              <a:rPr lang="en-US" dirty="0">
                <a:latin typeface="Times New Roman" panose="02020603050405020304" pitchFamily="18" charset="0"/>
                <a:cs typeface="Times New Roman" panose="02020603050405020304" pitchFamily="18" charset="0"/>
              </a:rPr>
              <a:t> for recognizing violent and non-violent activities in CCTV footage.</a:t>
            </a:r>
          </a:p>
          <a:p>
            <a:r>
              <a:rPr lang="en-US" dirty="0">
                <a:latin typeface="Times New Roman" panose="02020603050405020304" pitchFamily="18" charset="0"/>
                <a:cs typeface="Times New Roman" panose="02020603050405020304" pitchFamily="18" charset="0"/>
              </a:rPr>
              <a:t>Model training, testing, and performance evaluation completed using metrics such as </a:t>
            </a:r>
            <a:r>
              <a:rPr lang="en-US" b="1" dirty="0">
                <a:latin typeface="Times New Roman" panose="02020603050405020304" pitchFamily="18" charset="0"/>
                <a:cs typeface="Times New Roman" panose="02020603050405020304" pitchFamily="18" charset="0"/>
              </a:rPr>
              <a:t>Accuracy, Precision, Recall, and F1-Score</a:t>
            </a:r>
            <a:r>
              <a:rPr lang="en-US" dirty="0">
                <a:latin typeface="Times New Roman" panose="02020603050405020304" pitchFamily="18" charset="0"/>
                <a:cs typeface="Times New Roman" panose="02020603050405020304" pitchFamily="18" charset="0"/>
              </a:rPr>
              <a:t>.</a:t>
            </a:r>
          </a:p>
          <a:p>
            <a:pPr marL="114300" indent="0">
              <a:buNone/>
            </a:pPr>
            <a:r>
              <a:rPr lang="en-US" b="1" dirty="0">
                <a:latin typeface="Times New Roman"/>
                <a:cs typeface="Times New Roman"/>
              </a:rPr>
              <a:t>Work Pending :</a:t>
            </a:r>
          </a:p>
          <a:p>
            <a:r>
              <a:rPr lang="en-US" dirty="0">
                <a:latin typeface="Times New Roman" panose="02020603050405020304" pitchFamily="18" charset="0"/>
                <a:cs typeface="Times New Roman" panose="02020603050405020304" pitchFamily="18" charset="0"/>
              </a:rPr>
              <a:t>Detailed result comparison with baseline models and preparation of performance graphs.</a:t>
            </a:r>
          </a:p>
          <a:p>
            <a:r>
              <a:rPr lang="en-US" dirty="0">
                <a:latin typeface="Times New Roman" panose="02020603050405020304" pitchFamily="18" charset="0"/>
                <a:cs typeface="Times New Roman" panose="02020603050405020304" pitchFamily="18" charset="0"/>
              </a:rPr>
              <a:t>Improvement of result analysis and discussion section in the research paper.</a:t>
            </a:r>
          </a:p>
          <a:p>
            <a:r>
              <a:rPr lang="en-US" dirty="0">
                <a:latin typeface="Times New Roman" panose="02020603050405020304" pitchFamily="18" charset="0"/>
                <a:cs typeface="Times New Roman" panose="02020603050405020304" pitchFamily="18" charset="0"/>
              </a:rPr>
              <a:t>Formatting and editing of the research paper according to</a:t>
            </a:r>
            <a:r>
              <a:rPr lang="en-US" b="1" dirty="0">
                <a:latin typeface="Times New Roman" panose="02020603050405020304" pitchFamily="18" charset="0"/>
                <a:cs typeface="Times New Roman" panose="02020603050405020304" pitchFamily="18" charset="0"/>
              </a:rPr>
              <a:t> conference/journal guidelines</a:t>
            </a:r>
            <a:r>
              <a:rPr lang="en-US" dirty="0">
                <a:latin typeface="Times New Roman" panose="02020603050405020304" pitchFamily="18" charset="0"/>
                <a:cs typeface="Times New Roman" panose="02020603050405020304" pitchFamily="18" charset="0"/>
              </a:rPr>
              <a:t>.</a:t>
            </a:r>
          </a:p>
          <a:p>
            <a:pPr marL="114300" indent="0">
              <a:buNone/>
            </a:pPr>
            <a:r>
              <a:rPr lang="en-US" b="1" dirty="0">
                <a:latin typeface="Times New Roman"/>
                <a:cs typeface="Times New Roman"/>
              </a:rPr>
              <a:t>Current Status :</a:t>
            </a:r>
          </a:p>
          <a:p>
            <a:r>
              <a:rPr lang="en-US" dirty="0">
                <a:latin typeface="Times New Roman" panose="02020603050405020304" pitchFamily="18" charset="0"/>
                <a:cs typeface="Times New Roman" panose="02020603050405020304" pitchFamily="18" charset="0"/>
              </a:rPr>
              <a:t>Approximately </a:t>
            </a:r>
            <a:r>
              <a:rPr lang="en-US" b="1" dirty="0">
                <a:latin typeface="Times New Roman" panose="02020603050405020304" pitchFamily="18" charset="0"/>
                <a:cs typeface="Times New Roman" panose="02020603050405020304" pitchFamily="18" charset="0"/>
              </a:rPr>
              <a:t>90% of the research work completed</a:t>
            </a:r>
            <a:r>
              <a:rPr lang="en-US" dirty="0">
                <a:latin typeface="Times New Roman" panose="02020603050405020304" pitchFamily="18" charset="0"/>
                <a:cs typeface="Times New Roman" panose="02020603050405020304" pitchFamily="18" charset="0"/>
              </a:rPr>
              <a:t> and the paper is ready for final review before submission.</a:t>
            </a:r>
          </a:p>
        </p:txBody>
      </p:sp>
      <p:sp>
        <p:nvSpPr>
          <p:cNvPr id="4" name="Slide Number Placeholder 3">
            <a:extLst>
              <a:ext uri="{FF2B5EF4-FFF2-40B4-BE49-F238E27FC236}">
                <a16:creationId xmlns:a16="http://schemas.microsoft.com/office/drawing/2014/main" id="{AA3A80F2-23C3-D138-0E6C-66805247A2DD}"/>
              </a:ext>
            </a:extLst>
          </p:cNvPr>
          <p:cNvSpPr>
            <a:spLocks noGrp="1"/>
          </p:cNvSpPr>
          <p:nvPr>
            <p:ph type="sldNum" idx="12"/>
          </p:nvPr>
        </p:nvSpPr>
        <p:spPr>
          <a:xfrm>
            <a:off x="7914611" y="6166950"/>
            <a:ext cx="874440" cy="365125"/>
          </a:xfrm>
        </p:spPr>
        <p:txBody>
          <a:bodyPr/>
          <a:lstStyle/>
          <a:p>
            <a:fld id="{00000000-1234-1234-1234-123412341234}" type="slidenum">
              <a:rPr lang="en"/>
              <a:pPr/>
              <a:t>27</a:t>
            </a:fld>
            <a:endParaRPr lang="en" dirty="0"/>
          </a:p>
        </p:txBody>
      </p:sp>
      <p:sp>
        <p:nvSpPr>
          <p:cNvPr id="5" name="Footer Placeholder 4">
            <a:extLst>
              <a:ext uri="{FF2B5EF4-FFF2-40B4-BE49-F238E27FC236}">
                <a16:creationId xmlns:a16="http://schemas.microsoft.com/office/drawing/2014/main" id="{E65F80A3-0AF5-BCBF-D552-F033CDE1FEF2}"/>
              </a:ext>
            </a:extLst>
          </p:cNvPr>
          <p:cNvSpPr>
            <a:spLocks noGrp="1"/>
          </p:cNvSpPr>
          <p:nvPr>
            <p:ph type="ftr" idx="11"/>
          </p:nvPr>
        </p:nvSpPr>
        <p:spPr>
          <a:xfrm>
            <a:off x="-1267206" y="5627667"/>
            <a:ext cx="9751060" cy="1443693"/>
          </a:xfrm>
        </p:spPr>
        <p:txBody>
          <a:bodyPr/>
          <a:lstStyle/>
          <a:p>
            <a:r>
              <a:rPr lang="en-US" dirty="0"/>
              <a:t>14/03/2026                                      SVECW | Department of Artificial Intelligence| Project Review-4</a:t>
            </a:r>
          </a:p>
        </p:txBody>
      </p:sp>
    </p:spTree>
    <p:extLst>
      <p:ext uri="{BB962C8B-B14F-4D97-AF65-F5344CB8AC3E}">
        <p14:creationId xmlns:p14="http://schemas.microsoft.com/office/powerpoint/2010/main" val="962166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5"/>
          <p:cNvSpPr txBox="1">
            <a:spLocks noGrp="1"/>
          </p:cNvSpPr>
          <p:nvPr>
            <p:ph type="body" idx="1"/>
          </p:nvPr>
        </p:nvSpPr>
        <p:spPr>
          <a:xfrm>
            <a:off x="475129" y="1037227"/>
            <a:ext cx="8229600" cy="5199600"/>
          </a:xfrm>
          <a:prstGeom prst="rect">
            <a:avLst/>
          </a:prstGeom>
          <a:noFill/>
          <a:ln>
            <a:noFill/>
          </a:ln>
        </p:spPr>
        <p:txBody>
          <a:bodyPr spcFirstLastPara="1" wrap="square" lIns="91425" tIns="45700" rIns="91425" bIns="45700" anchor="t" anchorCtr="0">
            <a:noAutofit/>
          </a:bodyPr>
          <a:lstStyle/>
          <a:p>
            <a:pPr marL="0" lvl="0" indent="0">
              <a:spcBef>
                <a:spcPts val="0"/>
              </a:spcBef>
              <a:buSzPts val="2400"/>
              <a:buNone/>
            </a:pPr>
            <a:r>
              <a:rPr lang="en-US" sz="2400" b="1" dirty="0">
                <a:latin typeface="Times New Roman" panose="02020603050405020304"/>
                <a:ea typeface="Times New Roman" panose="02020603050405020304"/>
                <a:cs typeface="Times New Roman" panose="02020603050405020304"/>
                <a:sym typeface="Times New Roman" panose="02020603050405020304"/>
              </a:rPr>
              <a:t>Tools and Libraries Used:</a:t>
            </a:r>
            <a:endParaRPr lang="en-US" sz="1900" b="1" dirty="0"/>
          </a:p>
          <a:p>
            <a:pPr marL="342900" lvl="0">
              <a:buFont typeface="Arial" panose="020B0604020202020204"/>
              <a:buChar char="•"/>
            </a:pPr>
            <a:r>
              <a:rPr lang="en-US" sz="2000" b="1" dirty="0">
                <a:latin typeface="Times New Roman" panose="02020603050405020304"/>
                <a:ea typeface="Times New Roman" panose="02020603050405020304"/>
                <a:cs typeface="Times New Roman" panose="02020603050405020304"/>
                <a:sym typeface="Times New Roman" panose="02020603050405020304"/>
              </a:rPr>
              <a:t>OpenCV:</a:t>
            </a:r>
            <a:r>
              <a:rPr lang="en-US" sz="2000" dirty="0">
                <a:latin typeface="Times New Roman" panose="02020603050405020304"/>
                <a:ea typeface="Times New Roman" panose="02020603050405020304"/>
                <a:cs typeface="Times New Roman" panose="02020603050405020304"/>
                <a:sym typeface="Times New Roman" panose="02020603050405020304"/>
              </a:rPr>
              <a:t> Stream capture and preprocessing.</a:t>
            </a:r>
            <a:endParaRPr lang="en-US" sz="2000" dirty="0"/>
          </a:p>
          <a:p>
            <a:pPr marL="342900" lvl="0">
              <a:buFont typeface="Arial" panose="020B0604020202020204"/>
              <a:buChar char="•"/>
            </a:pPr>
            <a:r>
              <a:rPr lang="en-US" sz="2000" b="1" dirty="0" err="1">
                <a:latin typeface="Times New Roman" panose="02020603050405020304"/>
                <a:ea typeface="Times New Roman" panose="02020603050405020304"/>
                <a:cs typeface="Times New Roman" panose="02020603050405020304"/>
                <a:sym typeface="Times New Roman" panose="02020603050405020304"/>
              </a:rPr>
              <a:t>PyTorch</a:t>
            </a:r>
            <a:r>
              <a:rPr lang="en-US" sz="2000" b="1" dirty="0">
                <a:latin typeface="Times New Roman" panose="02020603050405020304"/>
                <a:ea typeface="Times New Roman" panose="02020603050405020304"/>
                <a:cs typeface="Times New Roman" panose="02020603050405020304"/>
                <a:sym typeface="Times New Roman" panose="02020603050405020304"/>
              </a:rPr>
              <a:t> / TensorFlow:</a:t>
            </a:r>
            <a:r>
              <a:rPr lang="en-US" sz="2000" dirty="0">
                <a:latin typeface="Times New Roman" panose="02020603050405020304"/>
                <a:ea typeface="Times New Roman" panose="02020603050405020304"/>
                <a:cs typeface="Times New Roman" panose="02020603050405020304"/>
                <a:sym typeface="Times New Roman" panose="02020603050405020304"/>
              </a:rPr>
              <a:t> Deep learning model training and inference.</a:t>
            </a:r>
            <a:endParaRPr lang="en-US" sz="2000" dirty="0"/>
          </a:p>
          <a:p>
            <a:pPr marL="342900" lvl="0">
              <a:buFont typeface="Arial" panose="020B0604020202020204"/>
              <a:buChar char="•"/>
            </a:pPr>
            <a:r>
              <a:rPr lang="en-US" sz="2000" b="1" dirty="0" err="1">
                <a:latin typeface="Times New Roman" panose="02020603050405020304"/>
                <a:ea typeface="Times New Roman" panose="02020603050405020304"/>
                <a:cs typeface="Times New Roman" panose="02020603050405020304"/>
                <a:sym typeface="Times New Roman" panose="02020603050405020304"/>
              </a:rPr>
              <a:t>Ultralytics</a:t>
            </a:r>
            <a:r>
              <a:rPr lang="en-US" sz="2000" b="1" dirty="0">
                <a:latin typeface="Times New Roman" panose="02020603050405020304"/>
                <a:ea typeface="Times New Roman" panose="02020603050405020304"/>
                <a:cs typeface="Times New Roman" panose="02020603050405020304"/>
                <a:sym typeface="Times New Roman" panose="02020603050405020304"/>
              </a:rPr>
              <a:t> YOLO:</a:t>
            </a:r>
            <a:r>
              <a:rPr lang="en-US" sz="2000" dirty="0">
                <a:latin typeface="Times New Roman" panose="02020603050405020304"/>
                <a:ea typeface="Times New Roman" panose="02020603050405020304"/>
                <a:cs typeface="Times New Roman" panose="02020603050405020304"/>
                <a:sym typeface="Times New Roman" panose="02020603050405020304"/>
              </a:rPr>
              <a:t> Person detection.</a:t>
            </a:r>
            <a:endParaRPr lang="en-US" sz="2000" dirty="0"/>
          </a:p>
          <a:p>
            <a:pPr marL="342900" lvl="0">
              <a:buFont typeface="Arial" panose="020B0604020202020204"/>
              <a:buChar char="•"/>
            </a:pPr>
            <a:r>
              <a:rPr lang="en-US" sz="2000" b="1" dirty="0"/>
              <a:t>Flask / </a:t>
            </a:r>
            <a:r>
              <a:rPr lang="en-US" sz="2000" b="1" dirty="0" err="1"/>
              <a:t>Streamlit</a:t>
            </a:r>
            <a:r>
              <a:rPr lang="en-US" sz="20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t>
            </a:r>
            <a:r>
              <a:rPr 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 Monitoring dashboard.</a:t>
            </a:r>
            <a:endParaRPr lang="en-US" sz="2000" dirty="0">
              <a:latin typeface="Times New Roman" panose="02020603050405020304" pitchFamily="18" charset="0"/>
              <a:cs typeface="Times New Roman" panose="02020603050405020304" pitchFamily="18" charset="0"/>
            </a:endParaRPr>
          </a:p>
          <a:p>
            <a:pPr marL="342900" lvl="0">
              <a:buFont typeface="Arial" panose="020B0604020202020204"/>
              <a:buChar char="•"/>
            </a:pPr>
            <a:r>
              <a:rPr lang="en-US" sz="2000" b="1" dirty="0">
                <a:latin typeface="Times New Roman" panose="02020603050405020304"/>
                <a:ea typeface="Times New Roman" panose="02020603050405020304"/>
                <a:cs typeface="Times New Roman" panose="02020603050405020304"/>
                <a:sym typeface="Times New Roman" panose="02020603050405020304"/>
              </a:rPr>
              <a:t>NumPy / Pandas:</a:t>
            </a:r>
            <a:r>
              <a:rPr lang="en-US" sz="2000" dirty="0">
                <a:latin typeface="Times New Roman" panose="02020603050405020304"/>
                <a:ea typeface="Times New Roman" panose="02020603050405020304"/>
                <a:cs typeface="Times New Roman" panose="02020603050405020304"/>
                <a:sym typeface="Times New Roman" panose="02020603050405020304"/>
              </a:rPr>
              <a:t> Data handling.</a:t>
            </a:r>
            <a:endParaRPr lang="en-US" sz="2000" dirty="0"/>
          </a:p>
          <a:p>
            <a:pPr marL="342900" lvl="0">
              <a:buFont typeface="Arial" panose="020B0604020202020204"/>
              <a:buChar char="•"/>
            </a:pPr>
            <a:r>
              <a:rPr lang="en-US" sz="2000" b="1" dirty="0" err="1">
                <a:latin typeface="Times New Roman" panose="02020603050405020304"/>
                <a:ea typeface="Times New Roman" panose="02020603050405020304"/>
                <a:cs typeface="Times New Roman" panose="02020603050405020304"/>
                <a:sym typeface="Times New Roman" panose="02020603050405020304"/>
              </a:rPr>
              <a:t>FFmpeg</a:t>
            </a:r>
            <a:r>
              <a:rPr lang="en-US" sz="2000" b="1" dirty="0">
                <a:latin typeface="Times New Roman" panose="02020603050405020304"/>
                <a:ea typeface="Times New Roman" panose="02020603050405020304"/>
                <a:cs typeface="Times New Roman" panose="02020603050405020304"/>
                <a:sym typeface="Times New Roman" panose="02020603050405020304"/>
              </a:rPr>
              <a:t>:</a:t>
            </a:r>
            <a:r>
              <a:rPr lang="en-US" sz="2000" dirty="0">
                <a:latin typeface="Times New Roman" panose="02020603050405020304"/>
                <a:ea typeface="Times New Roman" panose="02020603050405020304"/>
                <a:cs typeface="Times New Roman" panose="02020603050405020304"/>
                <a:sym typeface="Times New Roman" panose="02020603050405020304"/>
              </a:rPr>
              <a:t> Video processing.</a:t>
            </a:r>
            <a:endParaRPr lang="en-US" sz="2000" dirty="0"/>
          </a:p>
          <a:p>
            <a:pPr marL="342900" lvl="0">
              <a:buFont typeface="Arial" panose="020B0604020202020204"/>
              <a:buChar char="•"/>
            </a:pPr>
            <a:r>
              <a:rPr lang="en-US" sz="2000" b="1" dirty="0">
                <a:latin typeface="Times New Roman" panose="02020603050405020304"/>
                <a:ea typeface="Times New Roman" panose="02020603050405020304"/>
                <a:cs typeface="Times New Roman" panose="02020603050405020304"/>
                <a:sym typeface="Times New Roman" panose="02020603050405020304"/>
              </a:rPr>
              <a:t>SQLite / Firebase:</a:t>
            </a:r>
            <a:r>
              <a:rPr lang="en-US" sz="2000" dirty="0">
                <a:latin typeface="Times New Roman" panose="02020603050405020304"/>
                <a:ea typeface="Times New Roman" panose="02020603050405020304"/>
                <a:cs typeface="Times New Roman" panose="02020603050405020304"/>
                <a:sym typeface="Times New Roman" panose="02020603050405020304"/>
              </a:rPr>
              <a:t> Alert storage and metadata.</a:t>
            </a:r>
          </a:p>
          <a:p>
            <a:pPr marL="114300" indent="0">
              <a:buNone/>
            </a:pPr>
            <a:r>
              <a:rPr lang="en-US" sz="2000" b="1" dirty="0">
                <a:latin typeface="Times New Roman" panose="02020603050405020304" pitchFamily="18" charset="0"/>
                <a:cs typeface="Times New Roman" panose="02020603050405020304" pitchFamily="18" charset="0"/>
              </a:rPr>
              <a:t>Software: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Python, </a:t>
            </a:r>
            <a:r>
              <a:rPr lang="en-US" sz="2000" dirty="0" err="1">
                <a:latin typeface="Times New Roman" panose="02020603050405020304" pitchFamily="18" charset="0"/>
                <a:cs typeface="Times New Roman" panose="02020603050405020304" pitchFamily="18" charset="0"/>
              </a:rPr>
              <a:t>PyTorch</a:t>
            </a:r>
            <a:r>
              <a:rPr lang="en-US" sz="2000" dirty="0">
                <a:latin typeface="Times New Roman" panose="02020603050405020304" pitchFamily="18" charset="0"/>
                <a:cs typeface="Times New Roman" panose="02020603050405020304" pitchFamily="18" charset="0"/>
              </a:rPr>
              <a:t>/TensorFlow, OpenCV, </a:t>
            </a:r>
            <a:r>
              <a:rPr lang="en-US" sz="2000" dirty="0" err="1">
                <a:latin typeface="Times New Roman" panose="02020603050405020304" pitchFamily="18" charset="0"/>
                <a:cs typeface="Times New Roman" panose="02020603050405020304" pitchFamily="18" charset="0"/>
              </a:rPr>
              <a:t>Ultralytics</a:t>
            </a:r>
            <a:r>
              <a:rPr lang="en-US" sz="2000" dirty="0">
                <a:latin typeface="Times New Roman" panose="02020603050405020304" pitchFamily="18" charset="0"/>
                <a:cs typeface="Times New Roman" panose="02020603050405020304" pitchFamily="18" charset="0"/>
              </a:rPr>
              <a:t> YOLO, Flask/</a:t>
            </a:r>
            <a:r>
              <a:rPr lang="en-US" sz="2000" dirty="0" err="1">
                <a:latin typeface="Times New Roman" panose="02020603050405020304" pitchFamily="18" charset="0"/>
                <a:cs typeface="Times New Roman" panose="02020603050405020304" pitchFamily="18" charset="0"/>
              </a:rPr>
              <a:t>Streamlit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FFmpeg</a:t>
            </a:r>
            <a:r>
              <a:rPr lang="en-US" sz="2000" dirty="0">
                <a:latin typeface="Times New Roman" panose="02020603050405020304" pitchFamily="18" charset="0"/>
                <a:cs typeface="Times New Roman" panose="02020603050405020304" pitchFamily="18" charset="0"/>
              </a:rPr>
              <a:t>, Docker (optional)</a:t>
            </a:r>
          </a:p>
          <a:p>
            <a:pPr marL="114300" indent="0">
              <a:buNone/>
            </a:pPr>
            <a:r>
              <a:rPr lang="en-US" sz="2000" b="1" dirty="0">
                <a:latin typeface="Times New Roman" panose="02020603050405020304" pitchFamily="18" charset="0"/>
                <a:cs typeface="Times New Roman" panose="02020603050405020304" pitchFamily="18" charset="0"/>
              </a:rPr>
              <a:t>Hardware: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GPU (for model training), CPU or Edge Device (Jetson Nano / Intel NUC), CCTV cameras, High-speed network</a:t>
            </a:r>
          </a:p>
          <a:p>
            <a:pPr marL="0" lvl="0" indent="0">
              <a:spcBef>
                <a:spcPts val="440"/>
              </a:spcBef>
              <a:buSzPts val="2200"/>
              <a:buNone/>
            </a:pPr>
            <a:endParaRPr lang="en-US" sz="2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p15"/>
          <p:cNvSpPr txBox="1">
            <a:spLocks noGrp="1"/>
          </p:cNvSpPr>
          <p:nvPr>
            <p:ph type="sldNum" idx="12"/>
          </p:nvPr>
        </p:nvSpPr>
        <p:spPr>
          <a:xfrm>
            <a:off x="7812360" y="6356350"/>
            <a:ext cx="8745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
        <p:nvSpPr>
          <p:cNvPr id="179" name="Google Shape;179;p15"/>
          <p:cNvSpPr txBox="1">
            <a:spLocks noGrp="1"/>
          </p:cNvSpPr>
          <p:nvPr>
            <p:ph type="ftr" idx="11"/>
          </p:nvPr>
        </p:nvSpPr>
        <p:spPr>
          <a:xfrm>
            <a:off x="2371936" y="6360554"/>
            <a:ext cx="4400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t>SVECW | Department of Artificial Intelligence| Project Review-4</a:t>
            </a:r>
            <a:endParaRPr dirty="0"/>
          </a:p>
        </p:txBody>
      </p:sp>
      <p:sp>
        <p:nvSpPr>
          <p:cNvPr id="180" name="Google Shape;180;p15"/>
          <p:cNvSpPr txBox="1"/>
          <p:nvPr/>
        </p:nvSpPr>
        <p:spPr>
          <a:xfrm>
            <a:off x="304103" y="144214"/>
            <a:ext cx="6828900" cy="554100"/>
          </a:xfrm>
          <a:prstGeom prst="rect">
            <a:avLst/>
          </a:prstGeom>
          <a:noFill/>
          <a:ln>
            <a:noFill/>
          </a:ln>
        </p:spPr>
        <p:txBody>
          <a:bodyPr spcFirstLastPara="1" wrap="square" lIns="91425" tIns="91425" rIns="91425" bIns="91425" anchor="t" anchorCtr="0">
            <a:spAutoFit/>
          </a:bodyPr>
          <a:lstStyle/>
          <a:p>
            <a:pPr marL="171450" lvl="0" indent="0" algn="l" rtl="0">
              <a:spcBef>
                <a:spcPts val="0"/>
              </a:spcBef>
              <a:spcAft>
                <a:spcPts val="0"/>
              </a:spcAft>
              <a:buNone/>
            </a:pPr>
            <a:r>
              <a:rPr lang="en-US" sz="2400" b="1" dirty="0">
                <a:solidFill>
                  <a:srgbClr val="C00000"/>
                </a:solidFill>
                <a:latin typeface="Calibri"/>
                <a:ea typeface="Calibri"/>
                <a:cs typeface="Calibri"/>
                <a:sym typeface="Calibri"/>
              </a:rPr>
              <a:t>Software and Hardware Required</a:t>
            </a:r>
            <a:endParaRPr sz="2400" b="1" dirty="0">
              <a:solidFill>
                <a:srgbClr val="C00000"/>
              </a:solidFill>
              <a:latin typeface="Calibri"/>
              <a:ea typeface="Calibri"/>
              <a:cs typeface="Calibri"/>
              <a:sym typeface="Calibri"/>
            </a:endParaRPr>
          </a:p>
        </p:txBody>
      </p:sp>
      <p:sp>
        <p:nvSpPr>
          <p:cNvPr id="2" name="Date Placeholder 1">
            <a:extLst>
              <a:ext uri="{FF2B5EF4-FFF2-40B4-BE49-F238E27FC236}">
                <a16:creationId xmlns:a16="http://schemas.microsoft.com/office/drawing/2014/main" id="{7FA850BD-CBB8-3C57-A72D-976BE62C257C}"/>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2128" y="1609115"/>
            <a:ext cx="8275668" cy="3093796"/>
          </a:xfrm>
          <a:prstGeom prst="rect">
            <a:avLst/>
          </a:prstGeom>
        </p:spPr>
        <p:txBody>
          <a:bodyPr vert="horz" wrap="square" lIns="0" tIns="15875" rIns="0" bIns="0" rtlCol="0">
            <a:spAutoFit/>
          </a:bodyPr>
          <a:lstStyle/>
          <a:p>
            <a:pPr marL="571500" indent="-457200">
              <a:buClrTx/>
              <a:buFont typeface="+mj-lt"/>
              <a:buAutoNum type="arabicPeriod"/>
            </a:pPr>
            <a:r>
              <a:rPr lang="en-IN" altLang="en-US" sz="2000" b="1" dirty="0" err="1">
                <a:latin typeface="Times New Roman" panose="02020603050405020304" pitchFamily="18" charset="0"/>
                <a:cs typeface="Times New Roman" panose="02020603050405020304" pitchFamily="18" charset="0"/>
              </a:rPr>
              <a:t>V.Tulasi</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Prepared the RWF-2000 dataset by performing frame extraction, sequence creation, and basic preprocessing to ensure consistent input for model training.</a:t>
            </a:r>
          </a:p>
          <a:p>
            <a:pPr marL="571500" indent="-457200">
              <a:buClrTx/>
              <a:buFont typeface="+mj-lt"/>
              <a:buAutoNum type="arabicPeriod"/>
            </a:pPr>
            <a:r>
              <a:rPr lang="en-IN" altLang="en-US" sz="2000" b="1" dirty="0" err="1">
                <a:latin typeface="Times New Roman" panose="02020603050405020304" pitchFamily="18" charset="0"/>
                <a:cs typeface="Times New Roman" panose="02020603050405020304" pitchFamily="18" charset="0"/>
              </a:rPr>
              <a:t>R.Yamini</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Designed and implemented the CNN–LSTM architecture, integrating spatial feature extraction with temporal modeling for violence detection.</a:t>
            </a:r>
          </a:p>
          <a:p>
            <a:pPr marL="571500" indent="-457200">
              <a:buClrTx/>
              <a:buFont typeface="+mj-lt"/>
              <a:buAutoNum type="arabicPeriod"/>
            </a:pPr>
            <a:r>
              <a:rPr lang="en-IN" altLang="en-US" sz="2000" b="1" dirty="0" err="1">
                <a:latin typeface="Times New Roman" panose="02020603050405020304" pitchFamily="18" charset="0"/>
                <a:cs typeface="Times New Roman" panose="02020603050405020304" pitchFamily="18" charset="0"/>
              </a:rPr>
              <a:t>V.Yasaswi</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Trained the model and evaluated its performance using metrics such as accuracy and ROC-AUC, and analyzed training behavior.</a:t>
            </a:r>
          </a:p>
          <a:p>
            <a:pPr marL="571500" indent="-457200">
              <a:buClrTx/>
              <a:buFont typeface="+mj-lt"/>
              <a:buAutoNum type="arabicPeriod"/>
            </a:pPr>
            <a:r>
              <a:rPr lang="en-IN" altLang="en-US" sz="2000" b="1" dirty="0" err="1">
                <a:latin typeface="Times New Roman" panose="02020603050405020304" pitchFamily="18" charset="0"/>
                <a:cs typeface="Times New Roman" panose="02020603050405020304" pitchFamily="18" charset="0"/>
              </a:rPr>
              <a:t>S.Tejaswini</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Integrated the trained model with the inference pipeline and conducted qualitative evaluation on unseen surveillance videos.</a:t>
            </a:r>
          </a:p>
        </p:txBody>
      </p:sp>
      <p:sp>
        <p:nvSpPr>
          <p:cNvPr id="4" name="object 4"/>
          <p:cNvSpPr txBox="1">
            <a:spLocks noGrp="1"/>
          </p:cNvSpPr>
          <p:nvPr>
            <p:ph type="dt" sz="half" idx="6"/>
          </p:nvPr>
        </p:nvSpPr>
        <p:spPr>
          <a:xfrm>
            <a:off x="536575" y="6472554"/>
            <a:ext cx="768985" cy="184666"/>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r>
              <a:rPr lang="en-US" dirty="0"/>
              <a:t>14/03/2026</a:t>
            </a:r>
            <a:endParaRPr lang="en-IN" dirty="0"/>
          </a:p>
        </p:txBody>
      </p:sp>
      <p:sp>
        <p:nvSpPr>
          <p:cNvPr id="5" name="object 5"/>
          <p:cNvSpPr txBox="1">
            <a:spLocks noGrp="1"/>
          </p:cNvSpPr>
          <p:nvPr>
            <p:ph type="ftr" sz="quarter" idx="5"/>
          </p:nvPr>
        </p:nvSpPr>
        <p:spPr>
          <a:xfrm>
            <a:off x="2583179" y="6476444"/>
            <a:ext cx="426021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2700">
              <a:lnSpc>
                <a:spcPts val="1240"/>
              </a:lnSpc>
            </a:pPr>
            <a:r>
              <a:rPr lang="en-US" dirty="0"/>
              <a:t>SVECW |</a:t>
            </a:r>
            <a:r>
              <a:rPr lang="en-US" spc="-5" dirty="0"/>
              <a:t> </a:t>
            </a:r>
            <a:r>
              <a:rPr lang="en-US" spc="-10" dirty="0"/>
              <a:t>Department</a:t>
            </a:r>
            <a:r>
              <a:rPr lang="en-US" spc="-5" dirty="0"/>
              <a:t> </a:t>
            </a:r>
            <a:r>
              <a:rPr lang="en-US" dirty="0"/>
              <a:t>of</a:t>
            </a:r>
            <a:r>
              <a:rPr lang="en-US" spc="-40" dirty="0"/>
              <a:t> </a:t>
            </a:r>
            <a:r>
              <a:rPr lang="en-US" dirty="0"/>
              <a:t>Artificial</a:t>
            </a:r>
            <a:r>
              <a:rPr lang="en-US" spc="-25" dirty="0"/>
              <a:t> </a:t>
            </a:r>
            <a:r>
              <a:rPr lang="en-US" dirty="0"/>
              <a:t>Intelligence</a:t>
            </a:r>
            <a:r>
              <a:rPr lang="en-US" spc="-45" dirty="0"/>
              <a:t> </a:t>
            </a:r>
            <a:r>
              <a:rPr lang="en-US" dirty="0"/>
              <a:t>|</a:t>
            </a:r>
            <a:r>
              <a:rPr lang="en-US" spc="-5" dirty="0"/>
              <a:t> </a:t>
            </a:r>
            <a:r>
              <a:rPr lang="en-US" dirty="0"/>
              <a:t>Project</a:t>
            </a:r>
            <a:r>
              <a:rPr lang="en-US" spc="-5" dirty="0"/>
              <a:t> </a:t>
            </a:r>
            <a:r>
              <a:rPr lang="en-US" dirty="0"/>
              <a:t>Review-4</a:t>
            </a:r>
            <a:endParaRPr spc="-50" dirty="0"/>
          </a:p>
        </p:txBody>
      </p:sp>
      <p:sp>
        <p:nvSpPr>
          <p:cNvPr id="6" name="object 6"/>
          <p:cNvSpPr txBox="1">
            <a:spLocks noGrp="1"/>
          </p:cNvSpPr>
          <p:nvPr>
            <p:ph type="sldNum" sz="quarter" idx="7"/>
          </p:nvPr>
        </p:nvSpPr>
        <p:spPr>
          <a:xfrm>
            <a:off x="8440092" y="6472554"/>
            <a:ext cx="334665" cy="156068"/>
          </a:xfrm>
          <a:prstGeom prst="rect">
            <a:avLst/>
          </a:prstGeom>
        </p:spPr>
        <p:txBody>
          <a:bodyPr vert="horz" wrap="square" lIns="0" tIns="0" rIns="0" bIns="0" rtlCol="0">
            <a:spAutoFit/>
          </a:bodyPr>
          <a:lstStyle>
            <a:defPPr>
              <a:defRPr kern="0"/>
            </a:defPPr>
            <a:lvl1pPr>
              <a:defRPr sz="1200" b="0" i="0">
                <a:solidFill>
                  <a:srgbClr val="878787"/>
                </a:solidFill>
                <a:latin typeface="Calibri"/>
                <a:cs typeface="Calibri"/>
              </a:defRPr>
            </a:lvl1pPr>
          </a:lstStyle>
          <a:p>
            <a:pPr marL="115570">
              <a:lnSpc>
                <a:spcPts val="1240"/>
              </a:lnSpc>
            </a:pPr>
            <a:fld id="{81D60167-4931-47E6-BA6A-407CBD079E47}" type="slidenum">
              <a:rPr lang="en-IN" spc="-50" smtClean="0"/>
              <a:pPr marL="115570">
                <a:lnSpc>
                  <a:spcPts val="1240"/>
                </a:lnSpc>
              </a:pPr>
              <a:t>29</a:t>
            </a:fld>
            <a:endParaRPr spc="-25" dirty="0"/>
          </a:p>
        </p:txBody>
      </p:sp>
      <p:sp>
        <p:nvSpPr>
          <p:cNvPr id="3" name="object 3"/>
          <p:cNvSpPr txBox="1">
            <a:spLocks noGrp="1"/>
          </p:cNvSpPr>
          <p:nvPr>
            <p:ph type="title"/>
          </p:nvPr>
        </p:nvSpPr>
        <p:spPr>
          <a:prstGeom prst="rect">
            <a:avLst/>
          </a:prstGeom>
        </p:spPr>
        <p:txBody>
          <a:bodyPr vert="horz" wrap="square" lIns="0" tIns="58166" rIns="0" bIns="0" rtlCol="0">
            <a:spAutoFit/>
          </a:bodyPr>
          <a:lstStyle/>
          <a:p>
            <a:pPr marL="77470">
              <a:lnSpc>
                <a:spcPct val="100000"/>
              </a:lnSpc>
              <a:spcBef>
                <a:spcPts val="125"/>
              </a:spcBef>
            </a:pPr>
            <a:r>
              <a:rPr sz="2450" spc="-10" dirty="0">
                <a:latin typeface="Arial"/>
                <a:cs typeface="Arial"/>
              </a:rPr>
              <a:t>Contributions</a:t>
            </a:r>
            <a:endParaRPr sz="245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C711-6D98-0B9E-CCCD-41CA63716989}"/>
              </a:ext>
            </a:extLst>
          </p:cNvPr>
          <p:cNvSpPr>
            <a:spLocks noGrp="1"/>
          </p:cNvSpPr>
          <p:nvPr>
            <p:ph type="title"/>
          </p:nvPr>
        </p:nvSpPr>
        <p:spPr>
          <a:xfrm>
            <a:off x="461761" y="0"/>
            <a:ext cx="7890071" cy="1341126"/>
          </a:xfrm>
        </p:spPr>
        <p:txBody>
          <a:bodyPr>
            <a:normAutofit/>
          </a:bodyPr>
          <a:lstStyle/>
          <a:p>
            <a:r>
              <a:rPr lang="en-US" dirty="0">
                <a:latin typeface="Times New Roman"/>
                <a:cs typeface="Times New Roman"/>
              </a:rPr>
              <a:t>Model Building Environment</a:t>
            </a:r>
          </a:p>
          <a:p>
            <a:endParaRPr lang="en-US" dirty="0">
              <a:latin typeface="Times New Roman"/>
              <a:cs typeface="Times New Roman"/>
            </a:endParaRPr>
          </a:p>
        </p:txBody>
      </p:sp>
      <p:sp>
        <p:nvSpPr>
          <p:cNvPr id="3" name="Text Placeholder 2">
            <a:extLst>
              <a:ext uri="{FF2B5EF4-FFF2-40B4-BE49-F238E27FC236}">
                <a16:creationId xmlns:a16="http://schemas.microsoft.com/office/drawing/2014/main" id="{46D750FA-D1D0-2DFC-4DDC-C7FD3379FF1A}"/>
              </a:ext>
            </a:extLst>
          </p:cNvPr>
          <p:cNvSpPr>
            <a:spLocks noGrp="1"/>
          </p:cNvSpPr>
          <p:nvPr>
            <p:ph type="body" idx="1"/>
          </p:nvPr>
        </p:nvSpPr>
        <p:spPr>
          <a:xfrm>
            <a:off x="461761" y="1104906"/>
            <a:ext cx="8229600" cy="4746281"/>
          </a:xfrm>
        </p:spPr>
        <p:txBody>
          <a:bodyPr>
            <a:normAutofit fontScale="92500" lnSpcReduction="20000"/>
          </a:bodyPr>
          <a:lstStyle/>
          <a:p>
            <a:pPr marL="114300" indent="0">
              <a:buNone/>
            </a:pPr>
            <a:r>
              <a:rPr lang="en-US" b="1" dirty="0"/>
              <a:t>Development Setup :</a:t>
            </a:r>
          </a:p>
          <a:p>
            <a:r>
              <a:rPr lang="en-US" dirty="0"/>
              <a:t>Desktop-based system</a:t>
            </a:r>
          </a:p>
          <a:p>
            <a:r>
              <a:rPr lang="en-US" dirty="0"/>
              <a:t>Python programming language</a:t>
            </a:r>
          </a:p>
          <a:p>
            <a:r>
              <a:rPr lang="en-US" dirty="0"/>
              <a:t>Visual Studio Code (IDE)</a:t>
            </a:r>
          </a:p>
          <a:p>
            <a:endParaRPr lang="en-US" sz="600" dirty="0"/>
          </a:p>
          <a:p>
            <a:pPr marL="114300" indent="0">
              <a:buNone/>
            </a:pPr>
            <a:r>
              <a:rPr lang="en-US" b="1" dirty="0"/>
              <a:t>Core Technologies :</a:t>
            </a:r>
          </a:p>
          <a:p>
            <a:r>
              <a:rPr lang="en-US" dirty="0"/>
              <a:t>Deep learning algorithms for </a:t>
            </a:r>
            <a:r>
              <a:rPr lang="en-US" b="1" dirty="0"/>
              <a:t>violence detection in surveillance videos</a:t>
            </a:r>
          </a:p>
          <a:p>
            <a:r>
              <a:rPr lang="en-US" dirty="0"/>
              <a:t>Computer vision techniques for </a:t>
            </a:r>
            <a:r>
              <a:rPr lang="en-US" b="1" dirty="0"/>
              <a:t>video frame processing and feature extraction</a:t>
            </a:r>
          </a:p>
          <a:p>
            <a:r>
              <a:rPr lang="en-US" dirty="0"/>
              <a:t>CNN–LSTM hybrid architecture for </a:t>
            </a:r>
            <a:r>
              <a:rPr lang="en-US" b="1" dirty="0"/>
              <a:t>spatial and temporal activity recognition</a:t>
            </a:r>
            <a:endParaRPr lang="en-US" sz="600" dirty="0"/>
          </a:p>
          <a:p>
            <a:pPr marL="114300" indent="0">
              <a:buNone/>
            </a:pPr>
            <a:r>
              <a:rPr lang="en-US" b="1" dirty="0"/>
              <a:t>System Requirements :</a:t>
            </a:r>
          </a:p>
          <a:p>
            <a:r>
              <a:rPr lang="en-US" dirty="0"/>
              <a:t>CPU-based execution (GPU optional for faster training)</a:t>
            </a:r>
          </a:p>
          <a:p>
            <a:r>
              <a:rPr lang="en-US" dirty="0"/>
              <a:t>Python libraries: NumPy, Pandas, Scikit-learn, TensorFlow/</a:t>
            </a:r>
            <a:r>
              <a:rPr lang="en-US" dirty="0" err="1"/>
              <a:t>Keras</a:t>
            </a:r>
            <a:r>
              <a:rPr lang="en-US" dirty="0"/>
              <a:t>, OpenCV, Matplotlib</a:t>
            </a:r>
          </a:p>
          <a:p>
            <a:r>
              <a:rPr lang="en-US" dirty="0"/>
              <a:t>Lightweight architecture suitable for </a:t>
            </a:r>
            <a:r>
              <a:rPr lang="en-IN" dirty="0"/>
              <a:t>real-time surveillance monitoring systems</a:t>
            </a:r>
            <a:endParaRPr lang="en-US" dirty="0"/>
          </a:p>
        </p:txBody>
      </p:sp>
      <p:sp>
        <p:nvSpPr>
          <p:cNvPr id="4" name="Slide Number Placeholder 3">
            <a:extLst>
              <a:ext uri="{FF2B5EF4-FFF2-40B4-BE49-F238E27FC236}">
                <a16:creationId xmlns:a16="http://schemas.microsoft.com/office/drawing/2014/main" id="{267A5E5A-AF50-A625-89ED-68369B5B1B5D}"/>
              </a:ext>
            </a:extLst>
          </p:cNvPr>
          <p:cNvSpPr>
            <a:spLocks noGrp="1"/>
          </p:cNvSpPr>
          <p:nvPr>
            <p:ph type="sldNum" idx="12"/>
          </p:nvPr>
        </p:nvSpPr>
        <p:spPr>
          <a:xfrm>
            <a:off x="7914612" y="6053920"/>
            <a:ext cx="874440" cy="365125"/>
          </a:xfrm>
        </p:spPr>
        <p:txBody>
          <a:bodyPr/>
          <a:lstStyle/>
          <a:p>
            <a:fld id="{00000000-1234-1234-1234-123412341234}" type="slidenum">
              <a:rPr lang="en"/>
              <a:pPr/>
              <a:t>30</a:t>
            </a:fld>
            <a:endParaRPr lang="en" dirty="0"/>
          </a:p>
        </p:txBody>
      </p:sp>
      <p:sp>
        <p:nvSpPr>
          <p:cNvPr id="5" name="Footer Placeholder 4">
            <a:extLst>
              <a:ext uri="{FF2B5EF4-FFF2-40B4-BE49-F238E27FC236}">
                <a16:creationId xmlns:a16="http://schemas.microsoft.com/office/drawing/2014/main" id="{8F0B7421-A853-5172-20BD-FA139EFED97D}"/>
              </a:ext>
            </a:extLst>
          </p:cNvPr>
          <p:cNvSpPr>
            <a:spLocks noGrp="1"/>
          </p:cNvSpPr>
          <p:nvPr>
            <p:ph type="ftr" idx="11"/>
          </p:nvPr>
        </p:nvSpPr>
        <p:spPr>
          <a:xfrm>
            <a:off x="-2005330" y="5614966"/>
            <a:ext cx="11397826" cy="1243034"/>
          </a:xfrm>
        </p:spPr>
        <p:txBody>
          <a:bodyPr/>
          <a:lstStyle/>
          <a:p>
            <a:r>
              <a:rPr lang="en-US" dirty="0"/>
              <a:t>14/03/2026                                          SVECW | Department of Artificial Intelligence| Project Review-4</a:t>
            </a:r>
          </a:p>
        </p:txBody>
      </p:sp>
    </p:spTree>
    <p:extLst>
      <p:ext uri="{BB962C8B-B14F-4D97-AF65-F5344CB8AC3E}">
        <p14:creationId xmlns:p14="http://schemas.microsoft.com/office/powerpoint/2010/main" val="229528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3C60-7720-65E1-6223-90222B5386A5}"/>
              </a:ext>
            </a:extLst>
          </p:cNvPr>
          <p:cNvSpPr>
            <a:spLocks noGrp="1"/>
          </p:cNvSpPr>
          <p:nvPr>
            <p:ph type="title"/>
          </p:nvPr>
        </p:nvSpPr>
        <p:spPr/>
        <p:txBody>
          <a:bodyPr>
            <a:normAutofit/>
          </a:bodyPr>
          <a:lstStyle/>
          <a:p>
            <a:r>
              <a:rPr lang="en-US">
                <a:latin typeface="Times New Roman"/>
                <a:cs typeface="Times New Roman"/>
              </a:rPr>
              <a:t>Application Deployment Tools</a:t>
            </a:r>
          </a:p>
        </p:txBody>
      </p:sp>
      <p:sp>
        <p:nvSpPr>
          <p:cNvPr id="3" name="Text Placeholder 2">
            <a:extLst>
              <a:ext uri="{FF2B5EF4-FFF2-40B4-BE49-F238E27FC236}">
                <a16:creationId xmlns:a16="http://schemas.microsoft.com/office/drawing/2014/main" id="{725CB7FE-18D6-0A15-2353-3DD561DCE260}"/>
              </a:ext>
            </a:extLst>
          </p:cNvPr>
          <p:cNvSpPr>
            <a:spLocks noGrp="1"/>
          </p:cNvSpPr>
          <p:nvPr>
            <p:ph type="body" idx="1"/>
          </p:nvPr>
        </p:nvSpPr>
        <p:spPr>
          <a:xfrm>
            <a:off x="457200" y="925426"/>
            <a:ext cx="8229600" cy="5199583"/>
          </a:xfrm>
        </p:spPr>
        <p:txBody>
          <a:bodyPr>
            <a:normAutofit fontScale="92500"/>
          </a:bodyPr>
          <a:lstStyle/>
          <a:p>
            <a:pPr marL="114300" indent="0">
              <a:buNone/>
            </a:pPr>
            <a:r>
              <a:rPr lang="en-US" b="1" dirty="0">
                <a:latin typeface="Times New Roman"/>
                <a:cs typeface="Times New Roman"/>
              </a:rPr>
              <a:t>Front-End :</a:t>
            </a:r>
          </a:p>
          <a:p>
            <a:r>
              <a:rPr lang="en-US" dirty="0">
                <a:latin typeface="Times New Roman"/>
                <a:cs typeface="Times New Roman"/>
              </a:rPr>
              <a:t>React framework for interactive UI</a:t>
            </a:r>
          </a:p>
          <a:p>
            <a:r>
              <a:rPr lang="en-US" dirty="0">
                <a:latin typeface="Times New Roman"/>
                <a:cs typeface="Times New Roman"/>
              </a:rPr>
              <a:t>Video Upload interface for </a:t>
            </a:r>
            <a:r>
              <a:rPr lang="en-IN" dirty="0">
                <a:latin typeface="Times New Roman" panose="02020603050405020304" pitchFamily="18" charset="0"/>
                <a:cs typeface="Times New Roman" panose="02020603050405020304" pitchFamily="18" charset="0"/>
              </a:rPr>
              <a:t>CCTV clips or surveillance video input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Dashboard for displaying violence detection results and alert notifications</a:t>
            </a:r>
          </a:p>
          <a:p>
            <a:pPr marL="114300" indent="0">
              <a:buNone/>
            </a:pPr>
            <a:r>
              <a:rPr lang="en-US" b="1" dirty="0">
                <a:latin typeface="Times New Roman"/>
                <a:cs typeface="Times New Roman"/>
              </a:rPr>
              <a:t>Back-End :</a:t>
            </a:r>
          </a:p>
          <a:p>
            <a:r>
              <a:rPr lang="en-US" dirty="0">
                <a:latin typeface="Times New Roman"/>
                <a:cs typeface="Times New Roman"/>
              </a:rPr>
              <a:t>Python modular structure:</a:t>
            </a:r>
          </a:p>
          <a:p>
            <a:pPr lvl="1"/>
            <a:r>
              <a:rPr lang="en-US" dirty="0">
                <a:latin typeface="Times New Roman"/>
                <a:cs typeface="Times New Roman"/>
              </a:rPr>
              <a:t>Video Preprocessing Module</a:t>
            </a:r>
          </a:p>
          <a:p>
            <a:pPr lvl="1"/>
            <a:r>
              <a:rPr lang="en-US" dirty="0">
                <a:latin typeface="Times New Roman" panose="02020603050405020304" pitchFamily="18" charset="0"/>
                <a:cs typeface="Times New Roman" panose="02020603050405020304" pitchFamily="18" charset="0"/>
              </a:rPr>
              <a:t>Frame Extraction &amp; Feature Processing Module</a:t>
            </a:r>
          </a:p>
          <a:p>
            <a:pPr lvl="1"/>
            <a:r>
              <a:rPr lang="en-US" dirty="0">
                <a:latin typeface="Times New Roman" panose="02020603050405020304" pitchFamily="18" charset="0"/>
                <a:cs typeface="Times New Roman" panose="02020603050405020304" pitchFamily="18" charset="0"/>
              </a:rPr>
              <a:t>Deep Learning Prediction Module (CNN–LSTM Model)</a:t>
            </a:r>
          </a:p>
          <a:p>
            <a:pPr lvl="1"/>
            <a:r>
              <a:rPr lang="en-IN" dirty="0">
                <a:latin typeface="Times New Roman" panose="02020603050405020304" pitchFamily="18" charset="0"/>
                <a:cs typeface="Times New Roman" panose="02020603050405020304" pitchFamily="18" charset="0"/>
              </a:rPr>
              <a:t>Alert Generation &amp; Result Visualization Module</a:t>
            </a:r>
            <a:endParaRPr lang="en-US" dirty="0">
              <a:latin typeface="Times New Roman" panose="02020603050405020304" pitchFamily="18" charset="0"/>
              <a:cs typeface="Times New Roman" panose="02020603050405020304" pitchFamily="18" charset="0"/>
            </a:endParaRPr>
          </a:p>
          <a:p>
            <a:pPr marL="114300" indent="0">
              <a:buNone/>
            </a:pPr>
            <a:r>
              <a:rPr lang="en-US" b="1" dirty="0">
                <a:latin typeface="Times New Roman"/>
                <a:cs typeface="Times New Roman"/>
              </a:rPr>
              <a:t>Deployment :</a:t>
            </a:r>
          </a:p>
          <a:p>
            <a:r>
              <a:rPr lang="en-US" dirty="0">
                <a:latin typeface="Times New Roman"/>
                <a:cs typeface="Times New Roman"/>
              </a:rPr>
              <a:t>Local deployment using React development server + Python backend</a:t>
            </a:r>
          </a:p>
          <a:p>
            <a:r>
              <a:rPr lang="en-US" dirty="0">
                <a:latin typeface="Times New Roman" panose="02020603050405020304" pitchFamily="18" charset="0"/>
                <a:cs typeface="Times New Roman" panose="02020603050405020304" pitchFamily="18" charset="0"/>
              </a:rPr>
              <a:t>Integration with CCTV camera streams for real-time monitoring</a:t>
            </a:r>
          </a:p>
          <a:p>
            <a:pPr marL="11430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4D2F553-D5CD-3036-8E6B-4C46D545E4B5}"/>
              </a:ext>
            </a:extLst>
          </p:cNvPr>
          <p:cNvSpPr>
            <a:spLocks noGrp="1"/>
          </p:cNvSpPr>
          <p:nvPr>
            <p:ph type="sldNum" idx="12"/>
          </p:nvPr>
        </p:nvSpPr>
        <p:spPr>
          <a:xfrm>
            <a:off x="7914611" y="6150779"/>
            <a:ext cx="874440" cy="365125"/>
          </a:xfrm>
        </p:spPr>
        <p:txBody>
          <a:bodyPr/>
          <a:lstStyle/>
          <a:p>
            <a:fld id="{00000000-1234-1234-1234-123412341234}" type="slidenum">
              <a:rPr lang="en"/>
              <a:pPr/>
              <a:t>31</a:t>
            </a:fld>
            <a:endParaRPr lang="en" dirty="0"/>
          </a:p>
        </p:txBody>
      </p:sp>
      <p:sp>
        <p:nvSpPr>
          <p:cNvPr id="5" name="Footer Placeholder 4">
            <a:extLst>
              <a:ext uri="{FF2B5EF4-FFF2-40B4-BE49-F238E27FC236}">
                <a16:creationId xmlns:a16="http://schemas.microsoft.com/office/drawing/2014/main" id="{7AED3E5D-A3E1-9725-ABD8-1D997F37EA28}"/>
              </a:ext>
            </a:extLst>
          </p:cNvPr>
          <p:cNvSpPr>
            <a:spLocks noGrp="1"/>
          </p:cNvSpPr>
          <p:nvPr>
            <p:ph type="ftr" idx="11"/>
          </p:nvPr>
        </p:nvSpPr>
        <p:spPr>
          <a:xfrm>
            <a:off x="-1907458" y="5631900"/>
            <a:ext cx="11277600" cy="1402884"/>
          </a:xfrm>
        </p:spPr>
        <p:txBody>
          <a:bodyPr/>
          <a:lstStyle/>
          <a:p>
            <a:r>
              <a:rPr lang="en-US" dirty="0"/>
              <a:t>14/03/2026                                             SVECW | Department of Artificial Intelligence| Project Review-4</a:t>
            </a:r>
          </a:p>
        </p:txBody>
      </p:sp>
    </p:spTree>
    <p:extLst>
      <p:ext uri="{BB962C8B-B14F-4D97-AF65-F5344CB8AC3E}">
        <p14:creationId xmlns:p14="http://schemas.microsoft.com/office/powerpoint/2010/main" val="18533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432128" y="155099"/>
            <a:ext cx="7919703" cy="49006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C00000"/>
              </a:buClr>
              <a:buSzPts val="2400"/>
              <a:buFont typeface="Calibri"/>
              <a:buNone/>
            </a:pPr>
            <a:r>
              <a:rPr lang="en-US">
                <a:latin typeface="Calibri" panose="020F0502020204030204" pitchFamily="34" charset="0"/>
                <a:ea typeface="Calibri" panose="020F0502020204030204" pitchFamily="34" charset="0"/>
                <a:cs typeface="Calibri" panose="020F0502020204030204" pitchFamily="34" charset="0"/>
              </a:rPr>
              <a:t>Timeline</a:t>
            </a:r>
            <a:endParaRPr>
              <a:latin typeface="Calibri" panose="020F0502020204030204" pitchFamily="34" charset="0"/>
              <a:ea typeface="Calibri" panose="020F0502020204030204" pitchFamily="34" charset="0"/>
              <a:cs typeface="Calibri" panose="020F0502020204030204" pitchFamily="34" charset="0"/>
            </a:endParaRPr>
          </a:p>
        </p:txBody>
      </p:sp>
      <p:sp>
        <p:nvSpPr>
          <p:cNvPr id="186" name="Google Shape;186;p30"/>
          <p:cNvSpPr txBox="1">
            <a:spLocks noGrp="1"/>
          </p:cNvSpPr>
          <p:nvPr>
            <p:ph type="body" idx="1"/>
          </p:nvPr>
        </p:nvSpPr>
        <p:spPr>
          <a:xfrm>
            <a:off x="475129" y="990601"/>
            <a:ext cx="8229600" cy="5246210"/>
          </a:xfrm>
          <a:prstGeom prst="rect">
            <a:avLst/>
          </a:prstGeom>
          <a:noFill/>
          <a:ln>
            <a:noFill/>
          </a:ln>
        </p:spPr>
        <p:txBody>
          <a:bodyPr spcFirstLastPara="1" wrap="square" lIns="91425" tIns="45700" rIns="91425" bIns="45700" anchor="t" anchorCtr="0">
            <a:normAutofit fontScale="92500" lnSpcReduction="10000"/>
          </a:bodyPr>
          <a:lstStyle/>
          <a:p>
            <a:pPr marL="0" lvl="0" indent="0">
              <a:spcBef>
                <a:spcPts val="0"/>
              </a:spcBef>
              <a:buSzPts val="2200"/>
              <a:buNone/>
            </a:pP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sym typeface="Times New Roman"/>
              </a:rPr>
              <a:t>December </a:t>
            </a:r>
          </a:p>
          <a:p>
            <a:pPr marL="0" lvl="0" indent="0">
              <a:spcBef>
                <a:spcPts val="0"/>
              </a:spcBef>
              <a:buSzPts val="2200"/>
              <a:buNone/>
            </a:pPr>
            <a:r>
              <a:rPr lang="en-US" dirty="0"/>
              <a:t>Project initiation and defining the project objectives for AI-based violence detection in surveillance videos. Study computer vision, action recognition techniques, and deep learning models used for video analysis. Selection of dataset (RWF-2000), development tools, and deep learning frameworks.</a:t>
            </a:r>
            <a:endParaRPr lang="en-IN" b="1" dirty="0">
              <a:solidFill>
                <a:srgbClr val="C00000"/>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0" lvl="0" indent="0">
              <a:spcBef>
                <a:spcPts val="0"/>
              </a:spcBef>
              <a:buSzPts val="2200"/>
              <a:buNone/>
            </a:pP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sym typeface="Times New Roman"/>
              </a:rPr>
              <a:t>January </a:t>
            </a:r>
          </a:p>
          <a:p>
            <a:pPr marL="0" indent="0">
              <a:spcBef>
                <a:spcPts val="0"/>
              </a:spcBef>
              <a:buSzPts val="2200"/>
              <a:buNone/>
            </a:pPr>
            <a:r>
              <a:rPr lang="en-US" dirty="0"/>
              <a:t>Design system architecture and workflow diagrams for the violence detection system. Development of video preprocessing pipeline including frame extraction and normalization. Preparation of dataset structure and initial feature extraction setup.</a:t>
            </a:r>
            <a:endParaRPr lang="en-IN" b="1" dirty="0">
              <a:solidFill>
                <a:srgbClr val="C00000"/>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0" lvl="0" indent="0">
              <a:spcBef>
                <a:spcPts val="0"/>
              </a:spcBef>
              <a:buSzPts val="2200"/>
              <a:buNone/>
            </a:pP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sym typeface="Times New Roman"/>
              </a:rPr>
              <a:t>February </a:t>
            </a:r>
          </a:p>
          <a:p>
            <a:pPr marL="0" indent="0">
              <a:spcBef>
                <a:spcPts val="0"/>
              </a:spcBef>
              <a:buSzPts val="2200"/>
              <a:buNone/>
            </a:pPr>
            <a:r>
              <a:rPr lang="en-US" dirty="0"/>
              <a:t>Implementation of the CNN–LSTM deep learning model for violence detection. Training and testing the model using the RWF-2000 dataset.</a:t>
            </a:r>
            <a:br>
              <a:rPr lang="en-US" dirty="0"/>
            </a:br>
            <a:r>
              <a:rPr lang="en-US" dirty="0"/>
              <a:t>Performance evaluation and model optimization to improve accuracy.</a:t>
            </a:r>
            <a:endParaRPr lang="en-IN" b="1" dirty="0">
              <a:solidFill>
                <a:srgbClr val="C00000"/>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0" lvl="0" indent="0">
              <a:spcBef>
                <a:spcPts val="0"/>
              </a:spcBef>
              <a:buSzPts val="2200"/>
              <a:buNone/>
            </a:pPr>
            <a:r>
              <a:rPr lang="en-IN" b="1" dirty="0">
                <a:solidFill>
                  <a:srgbClr val="C00000"/>
                </a:solidFill>
                <a:latin typeface="Calibri" panose="020F0502020204030204" pitchFamily="34" charset="0"/>
                <a:ea typeface="Calibri" panose="020F0502020204030204" pitchFamily="34" charset="0"/>
                <a:cs typeface="Calibri" panose="020F0502020204030204" pitchFamily="34" charset="0"/>
                <a:sym typeface="Times New Roman"/>
              </a:rPr>
              <a:t>March </a:t>
            </a:r>
          </a:p>
          <a:p>
            <a:pPr marL="0" lvl="0" indent="0">
              <a:spcBef>
                <a:spcPts val="0"/>
              </a:spcBef>
              <a:buSzPts val="2200"/>
              <a:buNone/>
            </a:pPr>
            <a:r>
              <a:rPr lang="en-US" dirty="0"/>
              <a:t>System integration and development of the video analysis interface. Testing the complete system with different surveillance video samples. Fixing bugs, improving performance, and finalizing the project implementation.</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88" name="Google Shape;188;p30"/>
          <p:cNvSpPr txBox="1">
            <a:spLocks noGrp="1"/>
          </p:cNvSpPr>
          <p:nvPr>
            <p:ph type="sldNum" idx="12"/>
          </p:nvPr>
        </p:nvSpPr>
        <p:spPr>
          <a:xfrm>
            <a:off x="7812360" y="6356350"/>
            <a:ext cx="87444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Calibri" panose="020F0502020204030204" pitchFamily="34" charset="0"/>
                <a:ea typeface="Calibri" panose="020F0502020204030204" pitchFamily="34" charset="0"/>
                <a:cs typeface="Calibri" panose="020F0502020204030204" pitchFamily="34" charset="0"/>
              </a:rPr>
              <a:t>32</a:t>
            </a:fld>
            <a:endParaRPr>
              <a:latin typeface="Calibri" panose="020F0502020204030204" pitchFamily="34" charset="0"/>
              <a:ea typeface="Calibri" panose="020F0502020204030204" pitchFamily="34" charset="0"/>
              <a:cs typeface="Calibri" panose="020F0502020204030204" pitchFamily="34" charset="0"/>
            </a:endParaRPr>
          </a:p>
        </p:txBody>
      </p:sp>
      <p:sp>
        <p:nvSpPr>
          <p:cNvPr id="189" name="Google Shape;189;p30"/>
          <p:cNvSpPr txBox="1">
            <a:spLocks noGrp="1"/>
          </p:cNvSpPr>
          <p:nvPr>
            <p:ph type="ftr" idx="11"/>
          </p:nvPr>
        </p:nvSpPr>
        <p:spPr>
          <a:xfrm>
            <a:off x="2371936" y="6360554"/>
            <a:ext cx="4400128"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dirty="0">
                <a:latin typeface="Calibri" panose="020F0502020204030204" pitchFamily="34" charset="0"/>
                <a:ea typeface="Calibri" panose="020F0502020204030204" pitchFamily="34" charset="0"/>
                <a:cs typeface="Calibri" panose="020F0502020204030204" pitchFamily="34" charset="0"/>
              </a:rPr>
              <a:t>SVECW | Department of Artificial Intelligence| Project Review-4</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 name="Date Placeholder 1">
            <a:extLst>
              <a:ext uri="{FF2B5EF4-FFF2-40B4-BE49-F238E27FC236}">
                <a16:creationId xmlns:a16="http://schemas.microsoft.com/office/drawing/2014/main" id="{1640C1D8-E9C8-0AF9-532A-CDE9C5BE5F59}"/>
              </a:ext>
            </a:extLst>
          </p:cNvPr>
          <p:cNvSpPr>
            <a:spLocks noGrp="1"/>
          </p:cNvSpPr>
          <p:nvPr>
            <p:ph type="dt" idx="10"/>
          </p:nvPr>
        </p:nvSpPr>
        <p:spPr/>
        <p:txBody>
          <a:bodyPr/>
          <a:lstStyle/>
          <a:p>
            <a:r>
              <a:rPr lang="en-US" dirty="0"/>
              <a:t>14/03/2026</a:t>
            </a:r>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AD85D-6A7B-CDF3-73EA-BAFA733D6EDA}"/>
              </a:ext>
            </a:extLst>
          </p:cNvPr>
          <p:cNvSpPr>
            <a:spLocks noGrp="1"/>
          </p:cNvSpPr>
          <p:nvPr>
            <p:ph type="title"/>
          </p:nvPr>
        </p:nvSpPr>
        <p:spPr>
          <a:xfrm>
            <a:off x="453295" y="-85344"/>
            <a:ext cx="7898537" cy="1426468"/>
          </a:xfrm>
        </p:spPr>
        <p:txBody>
          <a:bodyPr>
            <a:normAutofit/>
          </a:bodyPr>
          <a:lstStyle/>
          <a:p>
            <a:r>
              <a:rPr lang="en-US" dirty="0">
                <a:latin typeface="Times New Roman"/>
                <a:cs typeface="Times New Roman"/>
              </a:rPr>
              <a:t>References</a:t>
            </a:r>
          </a:p>
          <a:p>
            <a:endParaRPr lang="en-US" dirty="0">
              <a:latin typeface="Times New Roman"/>
              <a:cs typeface="Times New Roman"/>
            </a:endParaRPr>
          </a:p>
        </p:txBody>
      </p:sp>
      <p:sp>
        <p:nvSpPr>
          <p:cNvPr id="3" name="Text Placeholder 2">
            <a:extLst>
              <a:ext uri="{FF2B5EF4-FFF2-40B4-BE49-F238E27FC236}">
                <a16:creationId xmlns:a16="http://schemas.microsoft.com/office/drawing/2014/main" id="{D2BD4CA3-EFAC-269D-BAD0-A12D27585D45}"/>
              </a:ext>
            </a:extLst>
          </p:cNvPr>
          <p:cNvSpPr>
            <a:spLocks noGrp="1"/>
          </p:cNvSpPr>
          <p:nvPr>
            <p:ph type="body" idx="1"/>
          </p:nvPr>
        </p:nvSpPr>
        <p:spPr>
          <a:xfrm>
            <a:off x="453295" y="1155744"/>
            <a:ext cx="8229600" cy="4546511"/>
          </a:xfrm>
        </p:spPr>
        <p:txBody>
          <a:bodyPr spcFirstLastPara="1" wrap="square" lIns="91425" tIns="45700" rIns="91425" bIns="45700" anchor="t" anchorCtr="0">
            <a:noAutofit/>
          </a:bodyPr>
          <a:lstStyle/>
          <a:p>
            <a:pPr marL="342900" lvl="0">
              <a:spcBef>
                <a:spcPts val="0"/>
              </a:spcBef>
              <a:buSzPts val="2200"/>
            </a:pPr>
            <a:r>
              <a:rPr lang="en-US" u="sng" dirty="0">
                <a:solidFill>
                  <a:schemeClr val="hlink"/>
                </a:solidFill>
                <a:latin typeface="Times New Roman" panose="02020603050405020304" pitchFamily="18" charset="0"/>
                <a:cs typeface="Times New Roman" panose="02020603050405020304" pitchFamily="18" charset="0"/>
              </a:rPr>
              <a:t>https://www.mdpi.com/1424-8220/19/11/2472</a:t>
            </a:r>
            <a:endParaRPr lang="en-US" dirty="0">
              <a:latin typeface="Times New Roman" panose="02020603050405020304" pitchFamily="18" charset="0"/>
              <a:cs typeface="Times New Roman" panose="02020603050405020304" pitchFamily="18" charset="0"/>
            </a:endParaRPr>
          </a:p>
          <a:p>
            <a:pPr marL="342900" lvl="0">
              <a:spcBef>
                <a:spcPts val="440"/>
              </a:spcBef>
              <a:buSzPts val="2200"/>
            </a:pPr>
            <a:r>
              <a:rPr lang="en-US" u="sng" dirty="0">
                <a:solidFill>
                  <a:schemeClr val="hlink"/>
                </a:solidFill>
                <a:latin typeface="Times New Roman" panose="02020603050405020304" pitchFamily="18" charset="0"/>
                <a:cs typeface="Times New Roman" panose="02020603050405020304" pitchFamily="18" charset="0"/>
              </a:rPr>
              <a:t>https://arxiv.org/abs/2204.07443</a:t>
            </a:r>
            <a:endParaRPr lang="en-US" dirty="0">
              <a:latin typeface="Times New Roman" panose="02020603050405020304" pitchFamily="18" charset="0"/>
              <a:cs typeface="Times New Roman" panose="02020603050405020304" pitchFamily="18" charset="0"/>
            </a:endParaRPr>
          </a:p>
          <a:p>
            <a:pPr marL="342900" lvl="0">
              <a:spcBef>
                <a:spcPts val="440"/>
              </a:spcBef>
              <a:buSzPts val="2200"/>
            </a:pPr>
            <a:r>
              <a:rPr lang="en-US" u="sng" dirty="0">
                <a:solidFill>
                  <a:schemeClr val="hlink"/>
                </a:solidFill>
                <a:latin typeface="Times New Roman" panose="02020603050405020304" pitchFamily="18" charset="0"/>
                <a:cs typeface="Times New Roman" panose="02020603050405020304" pitchFamily="18" charset="0"/>
                <a:hlinkClick r:id="rId2"/>
              </a:rPr>
              <a:t>https://peerj.com/articles/cs-920</a:t>
            </a:r>
            <a:endParaRPr lang="en-US" u="sng" dirty="0">
              <a:solidFill>
                <a:schemeClr val="hlink"/>
              </a:solidFill>
              <a:latin typeface="Times New Roman" panose="02020603050405020304" pitchFamily="18" charset="0"/>
              <a:cs typeface="Times New Roman" panose="02020603050405020304" pitchFamily="18" charset="0"/>
            </a:endParaRPr>
          </a:p>
          <a:p>
            <a:pPr marL="342900" lvl="0">
              <a:spcBef>
                <a:spcPts val="440"/>
              </a:spcBef>
              <a:buSzPts val="2200"/>
            </a:pPr>
            <a:r>
              <a:rPr lang="en-US" dirty="0">
                <a:latin typeface="Times New Roman" panose="02020603050405020304" pitchFamily="18" charset="0"/>
                <a:cs typeface="Times New Roman" panose="02020603050405020304" pitchFamily="18" charset="0"/>
                <a:hlinkClick r:id="rId3"/>
              </a:rPr>
              <a:t>https://ieeexplore.ieee.org/document/10341243</a:t>
            </a:r>
            <a:endParaRPr lang="en-US" dirty="0">
              <a:latin typeface="Times New Roman" panose="02020603050405020304" pitchFamily="18" charset="0"/>
              <a:cs typeface="Times New Roman" panose="02020603050405020304" pitchFamily="18" charset="0"/>
            </a:endParaRPr>
          </a:p>
          <a:p>
            <a:pPr marL="342900" lvl="0">
              <a:spcBef>
                <a:spcPts val="440"/>
              </a:spcBef>
              <a:buSzPts val="2200"/>
            </a:pPr>
            <a:r>
              <a:rPr lang="en-US" dirty="0">
                <a:latin typeface="Times New Roman" panose="02020603050405020304" pitchFamily="18" charset="0"/>
                <a:cs typeface="Times New Roman" panose="02020603050405020304" pitchFamily="18" charset="0"/>
                <a:hlinkClick r:id="rId4"/>
              </a:rPr>
              <a:t>https://www.sciencedirect.com/science/article/pii/S1110866524000185</a:t>
            </a:r>
            <a:endParaRPr lang="en-US" dirty="0">
              <a:latin typeface="Times New Roman" panose="02020603050405020304" pitchFamily="18" charset="0"/>
              <a:cs typeface="Times New Roman" panose="02020603050405020304" pitchFamily="18" charset="0"/>
            </a:endParaRPr>
          </a:p>
          <a:p>
            <a:pPr marL="342900" lvl="0">
              <a:spcBef>
                <a:spcPts val="440"/>
              </a:spcBef>
              <a:buSzPts val="2200"/>
            </a:pPr>
            <a:r>
              <a:rPr lang="en-US" dirty="0">
                <a:latin typeface="Times New Roman" panose="02020603050405020304" pitchFamily="18" charset="0"/>
                <a:cs typeface="Times New Roman" panose="02020603050405020304" pitchFamily="18" charset="0"/>
                <a:hlinkClick r:id="rId5"/>
              </a:rPr>
              <a:t>https://par.nsf.gov/biblio/10392017</a:t>
            </a:r>
            <a:endParaRPr lang="en-US" dirty="0">
              <a:latin typeface="Times New Roman" panose="02020603050405020304" pitchFamily="18" charset="0"/>
              <a:cs typeface="Times New Roman" panose="02020603050405020304" pitchFamily="18" charset="0"/>
            </a:endParaRPr>
          </a:p>
          <a:p>
            <a:pPr marL="0" lvl="0" indent="0">
              <a:spcBef>
                <a:spcPts val="440"/>
              </a:spcBef>
              <a:buSzPts val="2200"/>
              <a:buNone/>
            </a:pPr>
            <a:endParaRPr lang="en-US" sz="1100" dirty="0"/>
          </a:p>
        </p:txBody>
      </p:sp>
      <p:sp>
        <p:nvSpPr>
          <p:cNvPr id="4" name="Slide Number Placeholder 3">
            <a:extLst>
              <a:ext uri="{FF2B5EF4-FFF2-40B4-BE49-F238E27FC236}">
                <a16:creationId xmlns:a16="http://schemas.microsoft.com/office/drawing/2014/main" id="{190A9D5F-3A70-2AD4-21A3-3BE966D79635}"/>
              </a:ext>
            </a:extLst>
          </p:cNvPr>
          <p:cNvSpPr>
            <a:spLocks noGrp="1"/>
          </p:cNvSpPr>
          <p:nvPr>
            <p:ph type="sldNum" idx="12"/>
          </p:nvPr>
        </p:nvSpPr>
        <p:spPr>
          <a:xfrm>
            <a:off x="7914612" y="6060270"/>
            <a:ext cx="874440" cy="365125"/>
          </a:xfrm>
        </p:spPr>
        <p:txBody>
          <a:bodyPr/>
          <a:lstStyle/>
          <a:p>
            <a:fld id="{00000000-1234-1234-1234-123412341234}" type="slidenum">
              <a:rPr lang="en"/>
              <a:pPr/>
              <a:t>33</a:t>
            </a:fld>
            <a:endParaRPr lang="en" dirty="0"/>
          </a:p>
        </p:txBody>
      </p:sp>
      <p:sp>
        <p:nvSpPr>
          <p:cNvPr id="5" name="Footer Placeholder 4">
            <a:extLst>
              <a:ext uri="{FF2B5EF4-FFF2-40B4-BE49-F238E27FC236}">
                <a16:creationId xmlns:a16="http://schemas.microsoft.com/office/drawing/2014/main" id="{640CB78D-2BDA-B394-8114-C10D5E97B9A8}"/>
              </a:ext>
            </a:extLst>
          </p:cNvPr>
          <p:cNvSpPr>
            <a:spLocks noGrp="1"/>
          </p:cNvSpPr>
          <p:nvPr>
            <p:ph type="ftr" idx="11"/>
          </p:nvPr>
        </p:nvSpPr>
        <p:spPr>
          <a:xfrm>
            <a:off x="-798831" y="5627667"/>
            <a:ext cx="8984829" cy="1230333"/>
          </a:xfrm>
        </p:spPr>
        <p:txBody>
          <a:bodyPr/>
          <a:lstStyle/>
          <a:p>
            <a:r>
              <a:rPr lang="en-US" dirty="0"/>
              <a:t>14/03/2026                                               SVECW | Department of Artificial Intelligence| Project Review-4</a:t>
            </a:r>
          </a:p>
        </p:txBody>
      </p:sp>
    </p:spTree>
    <p:extLst>
      <p:ext uri="{BB962C8B-B14F-4D97-AF65-F5344CB8AC3E}">
        <p14:creationId xmlns:p14="http://schemas.microsoft.com/office/powerpoint/2010/main" val="159495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2"/>
          <p:cNvSpPr txBox="1"/>
          <p:nvPr/>
        </p:nvSpPr>
        <p:spPr>
          <a:xfrm>
            <a:off x="2237034" y="2767200"/>
            <a:ext cx="5181600" cy="132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0" dirty="0">
                <a:solidFill>
                  <a:srgbClr val="C00000"/>
                </a:solidFill>
                <a:latin typeface="Calibri"/>
                <a:ea typeface="Calibri"/>
                <a:cs typeface="Calibri"/>
                <a:sym typeface="Calibri"/>
              </a:rPr>
              <a:t>Thank you.</a:t>
            </a:r>
            <a:endParaRPr dirty="0">
              <a:solidFill>
                <a:srgbClr val="C00000"/>
              </a:solidFill>
            </a:endParaRPr>
          </a:p>
        </p:txBody>
      </p:sp>
      <p:sp>
        <p:nvSpPr>
          <p:cNvPr id="147" name="Google Shape;147;p32"/>
          <p:cNvSpPr txBox="1">
            <a:spLocks noGrp="1"/>
          </p:cNvSpPr>
          <p:nvPr>
            <p:ph type="dt" idx="10"/>
          </p:nvPr>
        </p:nvSpPr>
        <p:spPr>
          <a:xfrm>
            <a:off x="457200" y="6356350"/>
            <a:ext cx="946500" cy="365100"/>
          </a:xfrm>
          <a:prstGeom prst="rect">
            <a:avLst/>
          </a:prstGeom>
          <a:noFill/>
          <a:ln>
            <a:noFill/>
          </a:ln>
        </p:spPr>
        <p:txBody>
          <a:bodyPr spcFirstLastPara="1" wrap="square" lIns="91425" tIns="45700" rIns="91425" bIns="45700" anchor="ctr" anchorCtr="0">
            <a:noAutofit/>
          </a:bodyPr>
          <a:lstStyle/>
          <a:p>
            <a:r>
              <a:rPr lang="en-US" dirty="0"/>
              <a:t>14/03/2026</a:t>
            </a:r>
            <a:endParaRPr lang="en-IN" dirty="0"/>
          </a:p>
        </p:txBody>
      </p:sp>
      <p:sp>
        <p:nvSpPr>
          <p:cNvPr id="148" name="Google Shape;148;p32"/>
          <p:cNvSpPr txBox="1">
            <a:spLocks noGrp="1"/>
          </p:cNvSpPr>
          <p:nvPr>
            <p:ph type="ftr" idx="11"/>
          </p:nvPr>
        </p:nvSpPr>
        <p:spPr>
          <a:xfrm>
            <a:off x="2627784" y="6381328"/>
            <a:ext cx="44001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SVECW | Department of Artificial Intelligence | Project Review-4</a:t>
            </a:r>
            <a:endParaRPr dirty="0"/>
          </a:p>
        </p:txBody>
      </p:sp>
      <p:sp>
        <p:nvSpPr>
          <p:cNvPr id="149" name="Google Shape;149;p32"/>
          <p:cNvSpPr txBox="1">
            <a:spLocks noGrp="1"/>
          </p:cNvSpPr>
          <p:nvPr>
            <p:ph type="sldNum" idx="12"/>
          </p:nvPr>
        </p:nvSpPr>
        <p:spPr>
          <a:xfrm>
            <a:off x="8172400" y="6356350"/>
            <a:ext cx="5145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34</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780</TotalTime>
  <Words>4109</Words>
  <Application>Microsoft Office PowerPoint</Application>
  <PresentationFormat>On-screen Show (4:3)</PresentationFormat>
  <Paragraphs>363</Paragraphs>
  <Slides>34</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Arial MT</vt:lpstr>
      <vt:lpstr>Calibri</vt:lpstr>
      <vt:lpstr>Noto Sans Symbols</vt:lpstr>
      <vt:lpstr>Times New Roman</vt:lpstr>
      <vt:lpstr>Wingdings</vt:lpstr>
      <vt:lpstr>Office Theme</vt:lpstr>
      <vt:lpstr>Smart CCTV Violence Detection System</vt:lpstr>
      <vt:lpstr>Motivation</vt:lpstr>
      <vt:lpstr>Objectives</vt:lpstr>
      <vt:lpstr>Background</vt:lpstr>
      <vt:lpstr>Background</vt:lpstr>
      <vt:lpstr>Literature Survey</vt:lpstr>
      <vt:lpstr>Literature Survey</vt:lpstr>
      <vt:lpstr>Literature Survey</vt:lpstr>
      <vt:lpstr>Problem Identification</vt:lpstr>
      <vt:lpstr>Proposed Solution</vt:lpstr>
      <vt:lpstr>Project Implementation Details</vt:lpstr>
      <vt:lpstr>Project Implementation Details</vt:lpstr>
      <vt:lpstr>Project Implementation Details</vt:lpstr>
      <vt:lpstr>Dataset Description</vt:lpstr>
      <vt:lpstr>Dataset Description</vt:lpstr>
      <vt:lpstr>Dataset Description</vt:lpstr>
      <vt:lpstr>Data Preparation</vt:lpstr>
      <vt:lpstr>Data Preparation</vt:lpstr>
      <vt:lpstr>Approach</vt:lpstr>
      <vt:lpstr>Approach</vt:lpstr>
      <vt:lpstr>Objective-wise results </vt:lpstr>
      <vt:lpstr>Objective-wise results </vt:lpstr>
      <vt:lpstr>Results Analysis and Comparisons</vt:lpstr>
      <vt:lpstr>Quantitative Result Analysis</vt:lpstr>
      <vt:lpstr>Demonstration</vt:lpstr>
      <vt:lpstr>Demonstration</vt:lpstr>
      <vt:lpstr>Research Article Progress </vt:lpstr>
      <vt:lpstr>PowerPoint Presentation</vt:lpstr>
      <vt:lpstr>Contributions</vt:lpstr>
      <vt:lpstr>Model Building Environment </vt:lpstr>
      <vt:lpstr>Application Deployment Tools</vt:lpstr>
      <vt:lpstr>Timeline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maha lakshmi davuluru</dc:creator>
  <cp:lastModifiedBy>Tejaswini Sajja</cp:lastModifiedBy>
  <cp:revision>30</cp:revision>
  <dcterms:created xsi:type="dcterms:W3CDTF">2020-06-22T15:01:00Z</dcterms:created>
  <dcterms:modified xsi:type="dcterms:W3CDTF">2026-03-13T01:13:26Z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A3E52DC9117B45018FC69419DB50D760_13</vt:lpwstr>
  </property>
  <property fmtid="{D5CDD505-2E9C-101B-9397-08002B2CF9AE}" pid="3" name="KSOProductBuildVer">
    <vt:lpwstr>1033-12.2.0.19805</vt:lpwstr>
  </property>
  <property fmtid="{D5CDD505-2E9C-101B-9397-08002B2CF9AE}" pid="4" name="MSIP_Label_10d6ee81-2126-4203-8511-ebee33cbf2ea_Enabled">
    <vt:lpwstr>true</vt:lpwstr>
  </property>
  <property fmtid="{D5CDD505-2E9C-101B-9397-08002B2CF9AE}" pid="5" name="MSIP_Label_10d6ee81-2126-4203-8511-ebee33cbf2ea_SetDate">
    <vt:lpwstr>2026-02-27T18:54:39Z</vt:lpwstr>
  </property>
  <property fmtid="{D5CDD505-2E9C-101B-9397-08002B2CF9AE}" pid="6" name="MSIP_Label_10d6ee81-2126-4203-8511-ebee33cbf2ea_Method">
    <vt:lpwstr>Standard</vt:lpwstr>
  </property>
  <property fmtid="{D5CDD505-2E9C-101B-9397-08002B2CF9AE}" pid="7" name="MSIP_Label_10d6ee81-2126-4203-8511-ebee33cbf2ea_Name">
    <vt:lpwstr>General</vt:lpwstr>
  </property>
  <property fmtid="{D5CDD505-2E9C-101B-9397-08002B2CF9AE}" pid="8" name="MSIP_Label_10d6ee81-2126-4203-8511-ebee33cbf2ea_SiteId">
    <vt:lpwstr>47049324-c498-4be5-acf7-0154448a1107</vt:lpwstr>
  </property>
  <property fmtid="{D5CDD505-2E9C-101B-9397-08002B2CF9AE}" pid="9" name="MSIP_Label_10d6ee81-2126-4203-8511-ebee33cbf2ea_ActionId">
    <vt:lpwstr>1a0c0b98-6ed0-4348-a994-fdcfcbf468e0</vt:lpwstr>
  </property>
  <property fmtid="{D5CDD505-2E9C-101B-9397-08002B2CF9AE}" pid="10" name="MSIP_Label_10d6ee81-2126-4203-8511-ebee33cbf2ea_ContentBits">
    <vt:lpwstr>0</vt:lpwstr>
  </property>
  <property fmtid="{D5CDD505-2E9C-101B-9397-08002B2CF9AE}" pid="11" name="MSIP_Label_10d6ee81-2126-4203-8511-ebee33cbf2ea_Tag">
    <vt:lpwstr>10, 3, 0, 1</vt:lpwstr>
  </property>
</Properties>
</file>